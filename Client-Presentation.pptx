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0264738db24130" /><Relationship Type="http://schemas.openxmlformats.org/officeDocument/2006/relationships/extended-properties" Target="/docProps/app.xml" Id="R6b1747b0b207489b" /><Relationship Type="http://schemas.openxmlformats.org/officeDocument/2006/relationships/officeDocument" Target="/ppt/presentation.xml" Id="Rb32fcded78f64d89" /></Relationships>
</file>

<file path=ppt/presentation.xml><?xml version="1.0" encoding="utf-8"?>
<p:presentation xmlns:p="http://schemas.openxmlformats.org/presentationml/2006/main">
  <p:sldMasterIdLst>
    <p:sldMasterId xmlns:r="http://schemas.openxmlformats.org/officeDocument/2006/relationships" id="2147483648" r:id="Rcc4f1ce0a70e40b8"/>
  </p:sldMasterIdLst>
  <p:notesMasterIdLst>
    <p:notesMasterId xmlns:r="http://schemas.openxmlformats.org/officeDocument/2006/relationships" r:id="R706a69c213cb4380"/>
  </p:notesMasterIdLst>
  <p:sldIdLst>
    <p:sldId xmlns:r="http://schemas.openxmlformats.org/officeDocument/2006/relationships" id="256" r:id="R1a9f629a7c764738"/>
    <p:sldId xmlns:r="http://schemas.openxmlformats.org/officeDocument/2006/relationships" id="257" r:id="Rbbadd9de7e064fec"/>
    <p:sldId xmlns:r="http://schemas.openxmlformats.org/officeDocument/2006/relationships" id="258" r:id="R1a2d86b330af4deb"/>
    <p:sldId xmlns:r="http://schemas.openxmlformats.org/officeDocument/2006/relationships" id="259" r:id="R1c4efec0497e4032"/>
    <p:sldId xmlns:r="http://schemas.openxmlformats.org/officeDocument/2006/relationships" id="260" r:id="R396c6caa8fd84bf5"/>
    <p:sldId xmlns:r="http://schemas.openxmlformats.org/officeDocument/2006/relationships" id="261" r:id="R517fff4b99ed4369"/>
    <p:sldId xmlns:r="http://schemas.openxmlformats.org/officeDocument/2006/relationships" id="262" r:id="R27dc75df5979477a"/>
    <p:sldId xmlns:r="http://schemas.openxmlformats.org/officeDocument/2006/relationships" id="263" r:id="Rc9dbf50c4bd849ac"/>
    <p:sldId xmlns:r="http://schemas.openxmlformats.org/officeDocument/2006/relationships" id="264" r:id="R19941a4ee3564e48"/>
    <p:sldId xmlns:r="http://schemas.openxmlformats.org/officeDocument/2006/relationships" id="265" r:id="R455539d2cfe34a71"/>
    <p:sldId xmlns:r="http://schemas.openxmlformats.org/officeDocument/2006/relationships" id="266" r:id="R240054924ba04299"/>
    <p:sldId xmlns:r="http://schemas.openxmlformats.org/officeDocument/2006/relationships" id="267" r:id="Rd213b535ced74b68"/>
    <p:sldId xmlns:r="http://schemas.openxmlformats.org/officeDocument/2006/relationships" id="268" r:id="R786ec74a5b6b4700"/>
    <p:sldId xmlns:r="http://schemas.openxmlformats.org/officeDocument/2006/relationships" id="269" r:id="R13e734d91e194394"/>
    <p:sldId xmlns:r="http://schemas.openxmlformats.org/officeDocument/2006/relationships" id="270" r:id="Rb1fc30c726524c37"/>
    <p:sldId xmlns:r="http://schemas.openxmlformats.org/officeDocument/2006/relationships" id="271" r:id="R90dee75b8a7b48f1"/>
    <p:sldId xmlns:r="http://schemas.openxmlformats.org/officeDocument/2006/relationships" id="272" r:id="R06bc8475194f4848"/>
    <p:sldId xmlns:r="http://schemas.openxmlformats.org/officeDocument/2006/relationships" id="273" r:id="R0c218bfdca5f4fc4"/>
    <p:sldId xmlns:r="http://schemas.openxmlformats.org/officeDocument/2006/relationships" id="274" r:id="R8f9752714a204920"/>
    <p:sldId xmlns:r="http://schemas.openxmlformats.org/officeDocument/2006/relationships" id="275" r:id="Rb1d3fca2cdd54f31"/>
    <p:sldId xmlns:r="http://schemas.openxmlformats.org/officeDocument/2006/relationships" id="276" r:id="Rdcb9f9c110bf4cb0"/>
    <p:sldId xmlns:r="http://schemas.openxmlformats.org/officeDocument/2006/relationships" id="277" r:id="R94b87b766e544121"/>
    <p:sldId xmlns:r="http://schemas.openxmlformats.org/officeDocument/2006/relationships" id="278" r:id="R5f0ba9d705ae4d2b"/>
    <p:sldId xmlns:r="http://schemas.openxmlformats.org/officeDocument/2006/relationships" id="279" r:id="Rcba8fed26e4f45cb"/>
    <p:sldId xmlns:r="http://schemas.openxmlformats.org/officeDocument/2006/relationships" id="280" r:id="R45c5f2a68f9b4f12"/>
    <p:sldId xmlns:r="http://schemas.openxmlformats.org/officeDocument/2006/relationships" id="281" r:id="Rd72f3833281b41c9"/>
    <p:sldId xmlns:r="http://schemas.openxmlformats.org/officeDocument/2006/relationships" id="282" r:id="Rda6de71af6254e30"/>
    <p:sldId xmlns:r="http://schemas.openxmlformats.org/officeDocument/2006/relationships" id="283" r:id="R23b750b519e143d2"/>
    <p:sldId xmlns:r="http://schemas.openxmlformats.org/officeDocument/2006/relationships" id="284" r:id="R5448f77d66734538"/>
    <p:sldId xmlns:r="http://schemas.openxmlformats.org/officeDocument/2006/relationships" id="285" r:id="Ra129cdfa932a43d0"/>
    <p:sldId xmlns:r="http://schemas.openxmlformats.org/officeDocument/2006/relationships" id="286" r:id="Rcdd1de47022c4b2f"/>
    <p:sldId xmlns:r="http://schemas.openxmlformats.org/officeDocument/2006/relationships" id="287" r:id="R9240537593c24884"/>
    <p:sldId xmlns:r="http://schemas.openxmlformats.org/officeDocument/2006/relationships" id="288" r:id="Re2f0151b3ebf402b"/>
    <p:sldId xmlns:r="http://schemas.openxmlformats.org/officeDocument/2006/relationships" id="289" r:id="Rf51cdf6063774e10"/>
    <p:sldId xmlns:r="http://schemas.openxmlformats.org/officeDocument/2006/relationships" id="290" r:id="R0c7374dc49c145a6"/>
    <p:sldId xmlns:r="http://schemas.openxmlformats.org/officeDocument/2006/relationships" id="291" r:id="R5def83bc0d1640a3"/>
    <p:sldId xmlns:r="http://schemas.openxmlformats.org/officeDocument/2006/relationships" id="292" r:id="Rd6a4f71937744b95"/>
    <p:sldId xmlns:r="http://schemas.openxmlformats.org/officeDocument/2006/relationships" id="293" r:id="R16a18836fe34404f"/>
    <p:sldId xmlns:r="http://schemas.openxmlformats.org/officeDocument/2006/relationships" id="294" r:id="R8b6c29ef2c3a4dec"/>
    <p:sldId xmlns:r="http://schemas.openxmlformats.org/officeDocument/2006/relationships" id="295" r:id="Rdc260b20002a475a"/>
    <p:sldId xmlns:r="http://schemas.openxmlformats.org/officeDocument/2006/relationships" id="296" r:id="R8bcbda0b573b4c96"/>
    <p:sldId xmlns:r="http://schemas.openxmlformats.org/officeDocument/2006/relationships" id="297" r:id="R63cc5cbc7731494c"/>
    <p:sldId xmlns:r="http://schemas.openxmlformats.org/officeDocument/2006/relationships" id="298" r:id="R204618b06ac547ea"/>
    <p:sldId xmlns:r="http://schemas.openxmlformats.org/officeDocument/2006/relationships" id="299" r:id="R3e7e58b6495f4664"/>
    <p:sldId xmlns:r="http://schemas.openxmlformats.org/officeDocument/2006/relationships" id="300" r:id="Rb1387be1e14a4522"/>
    <p:sldId xmlns:r="http://schemas.openxmlformats.org/officeDocument/2006/relationships" id="301" r:id="R676000e3eeb14f28"/>
    <p:sldId xmlns:r="http://schemas.openxmlformats.org/officeDocument/2006/relationships" id="302" r:id="R8e80db60ecfe462e"/>
    <p:sldId xmlns:r="http://schemas.openxmlformats.org/officeDocument/2006/relationships" id="303" r:id="Rdfa0e975ee614880"/>
    <p:sldId xmlns:r="http://schemas.openxmlformats.org/officeDocument/2006/relationships" id="304" r:id="Rbcb6390ebfd04f16"/>
    <p:sldId xmlns:r="http://schemas.openxmlformats.org/officeDocument/2006/relationships" id="305" r:id="Ra6ad1a5797a3485a"/>
    <p:sldId xmlns:r="http://schemas.openxmlformats.org/officeDocument/2006/relationships" id="306" r:id="Re26d27d4667c4809"/>
    <p:sldId xmlns:r="http://schemas.openxmlformats.org/officeDocument/2006/relationships" id="307" r:id="Re915558dae25404a"/>
    <p:sldId xmlns:r="http://schemas.openxmlformats.org/officeDocument/2006/relationships" id="308" r:id="R0ed7177763d04ba0"/>
    <p:sldId xmlns:r="http://schemas.openxmlformats.org/officeDocument/2006/relationships" id="309" r:id="Rc88be89988ce48a4"/>
    <p:sldId xmlns:r="http://schemas.openxmlformats.org/officeDocument/2006/relationships" id="310" r:id="R84f6318f23904a04"/>
    <p:sldId xmlns:r="http://schemas.openxmlformats.org/officeDocument/2006/relationships" id="311" r:id="R100362d9f27548a5"/>
    <p:sldId xmlns:r="http://schemas.openxmlformats.org/officeDocument/2006/relationships" id="312" r:id="Rbaa6fefda2fd4b5c"/>
    <p:sldId xmlns:r="http://schemas.openxmlformats.org/officeDocument/2006/relationships" id="313" r:id="R17d149454013403c"/>
    <p:sldId xmlns:r="http://schemas.openxmlformats.org/officeDocument/2006/relationships" id="314" r:id="R490a90d8eecd4f3f"/>
    <p:sldId xmlns:r="http://schemas.openxmlformats.org/officeDocument/2006/relationships" id="315" r:id="Re3f07a82e3a34669"/>
    <p:sldId xmlns:r="http://schemas.openxmlformats.org/officeDocument/2006/relationships" id="316" r:id="R716e767bfce04e65"/>
    <p:sldId xmlns:r="http://schemas.openxmlformats.org/officeDocument/2006/relationships" id="317" r:id="R9b426dc280154896"/>
    <p:sldId xmlns:r="http://schemas.openxmlformats.org/officeDocument/2006/relationships" id="318" r:id="Rb4ad99b60f1c4558"/>
    <p:sldId xmlns:r="http://schemas.openxmlformats.org/officeDocument/2006/relationships" id="319" r:id="R1d5039b5734e4c4b"/>
    <p:sldId xmlns:r="http://schemas.openxmlformats.org/officeDocument/2006/relationships" id="320" r:id="Rbffb46a48b1a4dc2"/>
    <p:sldId xmlns:r="http://schemas.openxmlformats.org/officeDocument/2006/relationships" id="321" r:id="R9bfdc4d85fff4b4f"/>
    <p:sldId xmlns:r="http://schemas.openxmlformats.org/officeDocument/2006/relationships" id="322" r:id="R8e5a0a6ec41c4c3e"/>
    <p:sldId xmlns:r="http://schemas.openxmlformats.org/officeDocument/2006/relationships" id="323" r:id="R07bfbf03d16d4fb0"/>
    <p:sldId xmlns:r="http://schemas.openxmlformats.org/officeDocument/2006/relationships" id="324" r:id="Rdbdb5da577024088"/>
    <p:sldId xmlns:r="http://schemas.openxmlformats.org/officeDocument/2006/relationships" id="325" r:id="R18760e2d2f134add"/>
    <p:sldId xmlns:r="http://schemas.openxmlformats.org/officeDocument/2006/relationships" id="326" r:id="Rbb25ed460cdf4c77"/>
    <p:sldId xmlns:r="http://schemas.openxmlformats.org/officeDocument/2006/relationships" id="327" r:id="R6d5ab1e12a2a47d9"/>
    <p:sldId xmlns:r="http://schemas.openxmlformats.org/officeDocument/2006/relationships" id="328" r:id="Re585c4876cc44ab6"/>
    <p:sldId xmlns:r="http://schemas.openxmlformats.org/officeDocument/2006/relationships" id="329" r:id="R0e5cb908a301441e"/>
    <p:sldId xmlns:r="http://schemas.openxmlformats.org/officeDocument/2006/relationships" id="330" r:id="R8cdac2b0e9814458"/>
    <p:sldId xmlns:r="http://schemas.openxmlformats.org/officeDocument/2006/relationships" id="331" r:id="Rdcd2a614c66241bd"/>
    <p:sldId xmlns:r="http://schemas.openxmlformats.org/officeDocument/2006/relationships" id="332" r:id="R4218af15e70541c6"/>
    <p:sldId xmlns:r="http://schemas.openxmlformats.org/officeDocument/2006/relationships" id="333" r:id="R00bb63e5518247d9"/>
    <p:sldId xmlns:r="http://schemas.openxmlformats.org/officeDocument/2006/relationships" id="334" r:id="Rdbf545d35fd8480b"/>
    <p:sldId xmlns:r="http://schemas.openxmlformats.org/officeDocument/2006/relationships" id="335" r:id="R9ed8981a87c2461a"/>
    <p:sldId xmlns:r="http://schemas.openxmlformats.org/officeDocument/2006/relationships" id="336" r:id="Rc38c2a8fadbb4fc5"/>
    <p:sldId xmlns:r="http://schemas.openxmlformats.org/officeDocument/2006/relationships" id="337" r:id="Rde5d5effb2974510"/>
    <p:sldId xmlns:r="http://schemas.openxmlformats.org/officeDocument/2006/relationships" id="338" r:id="R52e8d73865b64b16"/>
    <p:sldId xmlns:r="http://schemas.openxmlformats.org/officeDocument/2006/relationships" id="339" r:id="R4f9a0181c8f94ae0"/>
    <p:sldId xmlns:r="http://schemas.openxmlformats.org/officeDocument/2006/relationships" id="340" r:id="R67e7e3470de948d9"/>
    <p:sldId xmlns:r="http://schemas.openxmlformats.org/officeDocument/2006/relationships" id="341" r:id="R687fa9f3f89a49d4"/>
    <p:sldId xmlns:r="http://schemas.openxmlformats.org/officeDocument/2006/relationships" id="342" r:id="R230657ca67994ffb"/>
    <p:sldId xmlns:r="http://schemas.openxmlformats.org/officeDocument/2006/relationships" id="343" r:id="Rfb07c7e2666140ba"/>
    <p:sldId xmlns:r="http://schemas.openxmlformats.org/officeDocument/2006/relationships" id="344" r:id="Rbf155b7dbb3c4037"/>
    <p:sldId xmlns:r="http://schemas.openxmlformats.org/officeDocument/2006/relationships" id="345" r:id="Rc07ca3b25ac14556"/>
    <p:sldId xmlns:r="http://schemas.openxmlformats.org/officeDocument/2006/relationships" id="346" r:id="Rffac91b24fe14d9e"/>
    <p:sldId xmlns:r="http://schemas.openxmlformats.org/officeDocument/2006/relationships" id="347" r:id="R6f71677ef239420f"/>
    <p:sldId xmlns:r="http://schemas.openxmlformats.org/officeDocument/2006/relationships" id="348" r:id="R81376900dd8f49a8"/>
    <p:sldId xmlns:r="http://schemas.openxmlformats.org/officeDocument/2006/relationships" id="349" r:id="R8e02117fe63f4bd5"/>
    <p:sldId xmlns:r="http://schemas.openxmlformats.org/officeDocument/2006/relationships" id="350" r:id="Re5e2309fa32f4982"/>
    <p:sldId xmlns:r="http://schemas.openxmlformats.org/officeDocument/2006/relationships" id="351" r:id="R35c2a02e3e8448ef"/>
    <p:sldId xmlns:r="http://schemas.openxmlformats.org/officeDocument/2006/relationships" id="352" r:id="R2ab47be2c5894eec"/>
    <p:sldId xmlns:r="http://schemas.openxmlformats.org/officeDocument/2006/relationships" id="353" r:id="R3f8ff6f738b14502"/>
    <p:sldId xmlns:r="http://schemas.openxmlformats.org/officeDocument/2006/relationships" id="354" r:id="Rc0cadc9b8c774227"/>
    <p:sldId xmlns:r="http://schemas.openxmlformats.org/officeDocument/2006/relationships" id="355" r:id="R8244484265a24438"/>
    <p:sldId xmlns:r="http://schemas.openxmlformats.org/officeDocument/2006/relationships" id="356" r:id="Rf7b988316367412c"/>
    <p:sldId xmlns:r="http://schemas.openxmlformats.org/officeDocument/2006/relationships" id="357" r:id="R9c9a89bb1ef24e02"/>
    <p:sldId xmlns:r="http://schemas.openxmlformats.org/officeDocument/2006/relationships" id="358" r:id="R0b078ee2415c4b05"/>
    <p:sldId xmlns:r="http://schemas.openxmlformats.org/officeDocument/2006/relationships" id="359" r:id="R920d4c5f00a14045"/>
    <p:sldId xmlns:r="http://schemas.openxmlformats.org/officeDocument/2006/relationships" id="360" r:id="Rb79875f9c53c475d"/>
    <p:sldId xmlns:r="http://schemas.openxmlformats.org/officeDocument/2006/relationships" id="361" r:id="R9a4d730402234dbb"/>
    <p:sldId xmlns:r="http://schemas.openxmlformats.org/officeDocument/2006/relationships" id="362" r:id="Ra2b4c7d6c97d4102"/>
    <p:sldId xmlns:r="http://schemas.openxmlformats.org/officeDocument/2006/relationships" id="363" r:id="R6687820fada54ff0"/>
    <p:sldId xmlns:r="http://schemas.openxmlformats.org/officeDocument/2006/relationships" id="364" r:id="R383160ad7d7d4254"/>
    <p:sldId xmlns:r="http://schemas.openxmlformats.org/officeDocument/2006/relationships" id="365" r:id="R613c841e2a2b4f2e"/>
    <p:sldId xmlns:r="http://schemas.openxmlformats.org/officeDocument/2006/relationships" id="366" r:id="Rd0b20bdbae9f426b"/>
    <p:sldId xmlns:r="http://schemas.openxmlformats.org/officeDocument/2006/relationships" id="367" r:id="Re7cc25a78c3e4ff7"/>
    <p:sldId xmlns:r="http://schemas.openxmlformats.org/officeDocument/2006/relationships" id="368" r:id="R77afde206a8a4533"/>
    <p:sldId xmlns:r="http://schemas.openxmlformats.org/officeDocument/2006/relationships" id="369" r:id="R004873bf9347495f"/>
    <p:sldId xmlns:r="http://schemas.openxmlformats.org/officeDocument/2006/relationships" id="370" r:id="R200169bf205a43d8"/>
    <p:sldId xmlns:r="http://schemas.openxmlformats.org/officeDocument/2006/relationships" id="371" r:id="Rd09fe46f880342ba"/>
    <p:sldId xmlns:r="http://schemas.openxmlformats.org/officeDocument/2006/relationships" id="372" r:id="R951c8ad935d24391"/>
    <p:sldId xmlns:r="http://schemas.openxmlformats.org/officeDocument/2006/relationships" id="373" r:id="R5d14d709e7d040bb"/>
    <p:sldId xmlns:r="http://schemas.openxmlformats.org/officeDocument/2006/relationships" id="374" r:id="R2e1641d6111c40cc"/>
    <p:sldId xmlns:r="http://schemas.openxmlformats.org/officeDocument/2006/relationships" id="375" r:id="R99131fab86334b4a"/>
    <p:sldId xmlns:r="http://schemas.openxmlformats.org/officeDocument/2006/relationships" id="376" r:id="R48b4ca0c086340af"/>
    <p:sldId xmlns:r="http://schemas.openxmlformats.org/officeDocument/2006/relationships" id="377" r:id="Rf3d30a5f454f4a85"/>
    <p:sldId xmlns:r="http://schemas.openxmlformats.org/officeDocument/2006/relationships" id="378" r:id="R92d27f73a6c2434b"/>
    <p:sldId xmlns:r="http://schemas.openxmlformats.org/officeDocument/2006/relationships" id="379" r:id="R274ebc50a86d45d4"/>
    <p:sldId xmlns:r="http://schemas.openxmlformats.org/officeDocument/2006/relationships" id="380" r:id="Rb36b868392bf4e2e"/>
    <p:sldId xmlns:r="http://schemas.openxmlformats.org/officeDocument/2006/relationships" id="381" r:id="Rb53afcec91104237"/>
    <p:sldId xmlns:r="http://schemas.openxmlformats.org/officeDocument/2006/relationships" id="382" r:id="R75f6747b4a2f4058"/>
    <p:sldId xmlns:r="http://schemas.openxmlformats.org/officeDocument/2006/relationships" id="383" r:id="R057fbc03bda046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390c56a22e4b67" /><Relationship Type="http://schemas.openxmlformats.org/officeDocument/2006/relationships/slideMaster" Target="/ppt/slideMasters/slideMaster1.xml" Id="Rcc4f1ce0a70e40b8" /><Relationship Type="http://schemas.openxmlformats.org/officeDocument/2006/relationships/notesMaster" Target="/ppt/notesMasters/notesMaster1.xml" Id="R706a69c213cb4380" /><Relationship Type="http://schemas.openxmlformats.org/officeDocument/2006/relationships/presProps" Target="/ppt/presProps.xml" Id="R6c70d2cfef254d2f" /><Relationship Type="http://schemas.openxmlformats.org/officeDocument/2006/relationships/tableStyles" Target="/ppt/tableStyles.xml" Id="Rd561ffa9233b4bba" /><Relationship Type="http://schemas.openxmlformats.org/officeDocument/2006/relationships/slide" Target="/ppt/slides/slide1.xml" Id="R1a9f629a7c764738" /><Relationship Type="http://schemas.openxmlformats.org/officeDocument/2006/relationships/slide" Target="/ppt/slides/slide2.xml" Id="Rbbadd9de7e064fec" /><Relationship Type="http://schemas.openxmlformats.org/officeDocument/2006/relationships/slide" Target="/ppt/slides/slide3.xml" Id="R1a2d86b330af4deb" /><Relationship Type="http://schemas.openxmlformats.org/officeDocument/2006/relationships/slide" Target="/ppt/slides/slide4.xml" Id="R1c4efec0497e4032" /><Relationship Type="http://schemas.openxmlformats.org/officeDocument/2006/relationships/slide" Target="/ppt/slides/slide5.xml" Id="R396c6caa8fd84bf5" /><Relationship Type="http://schemas.openxmlformats.org/officeDocument/2006/relationships/slide" Target="/ppt/slides/slide6.xml" Id="R517fff4b99ed4369" /><Relationship Type="http://schemas.openxmlformats.org/officeDocument/2006/relationships/slide" Target="/ppt/slides/slide7.xml" Id="R27dc75df5979477a" /><Relationship Type="http://schemas.openxmlformats.org/officeDocument/2006/relationships/slide" Target="/ppt/slides/slide8.xml" Id="Rc9dbf50c4bd849ac" /><Relationship Type="http://schemas.openxmlformats.org/officeDocument/2006/relationships/slide" Target="/ppt/slides/slide9.xml" Id="R19941a4ee3564e48" /><Relationship Type="http://schemas.openxmlformats.org/officeDocument/2006/relationships/slide" Target="/ppt/slides/slide10.xml" Id="R455539d2cfe34a71" /><Relationship Type="http://schemas.openxmlformats.org/officeDocument/2006/relationships/slide" Target="/ppt/slides/slide11.xml" Id="R240054924ba04299" /><Relationship Type="http://schemas.openxmlformats.org/officeDocument/2006/relationships/slide" Target="/ppt/slides/slide12.xml" Id="Rd213b535ced74b68" /><Relationship Type="http://schemas.openxmlformats.org/officeDocument/2006/relationships/slide" Target="/ppt/slides/slide13.xml" Id="R786ec74a5b6b4700" /><Relationship Type="http://schemas.openxmlformats.org/officeDocument/2006/relationships/slide" Target="/ppt/slides/slide14.xml" Id="R13e734d91e194394" /><Relationship Type="http://schemas.openxmlformats.org/officeDocument/2006/relationships/slide" Target="/ppt/slides/slide15.xml" Id="Rb1fc30c726524c37" /><Relationship Type="http://schemas.openxmlformats.org/officeDocument/2006/relationships/slide" Target="/ppt/slides/slide16.xml" Id="R90dee75b8a7b48f1" /><Relationship Type="http://schemas.openxmlformats.org/officeDocument/2006/relationships/slide" Target="/ppt/slides/slide17.xml" Id="R06bc8475194f4848" /><Relationship Type="http://schemas.openxmlformats.org/officeDocument/2006/relationships/slide" Target="/ppt/slides/slide18.xml" Id="R0c218bfdca5f4fc4" /><Relationship Type="http://schemas.openxmlformats.org/officeDocument/2006/relationships/slide" Target="/ppt/slides/slide19.xml" Id="R8f9752714a204920" /><Relationship Type="http://schemas.openxmlformats.org/officeDocument/2006/relationships/slide" Target="/ppt/slides/slide20.xml" Id="Rb1d3fca2cdd54f31" /><Relationship Type="http://schemas.openxmlformats.org/officeDocument/2006/relationships/slide" Target="/ppt/slides/slide21.xml" Id="Rdcb9f9c110bf4cb0" /><Relationship Type="http://schemas.openxmlformats.org/officeDocument/2006/relationships/slide" Target="/ppt/slides/slide22.xml" Id="R94b87b766e544121" /><Relationship Type="http://schemas.openxmlformats.org/officeDocument/2006/relationships/slide" Target="/ppt/slides/slide23.xml" Id="R5f0ba9d705ae4d2b" /><Relationship Type="http://schemas.openxmlformats.org/officeDocument/2006/relationships/slide" Target="/ppt/slides/slide24.xml" Id="Rcba8fed26e4f45cb" /><Relationship Type="http://schemas.openxmlformats.org/officeDocument/2006/relationships/slide" Target="/ppt/slides/slide25.xml" Id="R45c5f2a68f9b4f12" /><Relationship Type="http://schemas.openxmlformats.org/officeDocument/2006/relationships/slide" Target="/ppt/slides/slide26.xml" Id="Rd72f3833281b41c9" /><Relationship Type="http://schemas.openxmlformats.org/officeDocument/2006/relationships/slide" Target="/ppt/slides/slide27.xml" Id="Rda6de71af6254e30" /><Relationship Type="http://schemas.openxmlformats.org/officeDocument/2006/relationships/slide" Target="/ppt/slides/slide28.xml" Id="R23b750b519e143d2" /><Relationship Type="http://schemas.openxmlformats.org/officeDocument/2006/relationships/slide" Target="/ppt/slides/slide29.xml" Id="R5448f77d66734538" /><Relationship Type="http://schemas.openxmlformats.org/officeDocument/2006/relationships/slide" Target="/ppt/slides/slide30.xml" Id="Ra129cdfa932a43d0" /><Relationship Type="http://schemas.openxmlformats.org/officeDocument/2006/relationships/slide" Target="/ppt/slides/slide31.xml" Id="Rcdd1de47022c4b2f" /><Relationship Type="http://schemas.openxmlformats.org/officeDocument/2006/relationships/slide" Target="/ppt/slides/slide32.xml" Id="R9240537593c24884" /><Relationship Type="http://schemas.openxmlformats.org/officeDocument/2006/relationships/slide" Target="/ppt/slides/slide33.xml" Id="Re2f0151b3ebf402b" /><Relationship Type="http://schemas.openxmlformats.org/officeDocument/2006/relationships/slide" Target="/ppt/slides/slide34.xml" Id="Rf51cdf6063774e10" /><Relationship Type="http://schemas.openxmlformats.org/officeDocument/2006/relationships/slide" Target="/ppt/slides/slide35.xml" Id="R0c7374dc49c145a6" /><Relationship Type="http://schemas.openxmlformats.org/officeDocument/2006/relationships/slide" Target="/ppt/slides/slide36.xml" Id="R5def83bc0d1640a3" /><Relationship Type="http://schemas.openxmlformats.org/officeDocument/2006/relationships/slide" Target="/ppt/slides/slide37.xml" Id="Rd6a4f71937744b95" /><Relationship Type="http://schemas.openxmlformats.org/officeDocument/2006/relationships/slide" Target="/ppt/slides/slide38.xml" Id="R16a18836fe34404f" /><Relationship Type="http://schemas.openxmlformats.org/officeDocument/2006/relationships/slide" Target="/ppt/slides/slide39.xml" Id="R8b6c29ef2c3a4dec" /><Relationship Type="http://schemas.openxmlformats.org/officeDocument/2006/relationships/slide" Target="/ppt/slides/slide40.xml" Id="Rdc260b20002a475a" /><Relationship Type="http://schemas.openxmlformats.org/officeDocument/2006/relationships/slide" Target="/ppt/slides/slide41.xml" Id="R8bcbda0b573b4c96" /><Relationship Type="http://schemas.openxmlformats.org/officeDocument/2006/relationships/slide" Target="/ppt/slides/slide42.xml" Id="R63cc5cbc7731494c" /><Relationship Type="http://schemas.openxmlformats.org/officeDocument/2006/relationships/slide" Target="/ppt/slides/slide43.xml" Id="R204618b06ac547ea" /><Relationship Type="http://schemas.openxmlformats.org/officeDocument/2006/relationships/slide" Target="/ppt/slides/slide44.xml" Id="R3e7e58b6495f4664" /><Relationship Type="http://schemas.openxmlformats.org/officeDocument/2006/relationships/slide" Target="/ppt/slides/slide45.xml" Id="Rb1387be1e14a4522" /><Relationship Type="http://schemas.openxmlformats.org/officeDocument/2006/relationships/slide" Target="/ppt/slides/slide46.xml" Id="R676000e3eeb14f28" /><Relationship Type="http://schemas.openxmlformats.org/officeDocument/2006/relationships/slide" Target="/ppt/slides/slide47.xml" Id="R8e80db60ecfe462e" /><Relationship Type="http://schemas.openxmlformats.org/officeDocument/2006/relationships/slide" Target="/ppt/slides/slide48.xml" Id="Rdfa0e975ee614880" /><Relationship Type="http://schemas.openxmlformats.org/officeDocument/2006/relationships/slide" Target="/ppt/slides/slide49.xml" Id="Rbcb6390ebfd04f16" /><Relationship Type="http://schemas.openxmlformats.org/officeDocument/2006/relationships/slide" Target="/ppt/slides/slide50.xml" Id="Ra6ad1a5797a3485a" /><Relationship Type="http://schemas.openxmlformats.org/officeDocument/2006/relationships/slide" Target="/ppt/slides/slide51.xml" Id="Re26d27d4667c4809" /><Relationship Type="http://schemas.openxmlformats.org/officeDocument/2006/relationships/slide" Target="/ppt/slides/slide52.xml" Id="Re915558dae25404a" /><Relationship Type="http://schemas.openxmlformats.org/officeDocument/2006/relationships/slide" Target="/ppt/slides/slide53.xml" Id="R0ed7177763d04ba0" /><Relationship Type="http://schemas.openxmlformats.org/officeDocument/2006/relationships/slide" Target="/ppt/slides/slide54.xml" Id="Rc88be89988ce48a4" /><Relationship Type="http://schemas.openxmlformats.org/officeDocument/2006/relationships/slide" Target="/ppt/slides/slide55.xml" Id="R84f6318f23904a04" /><Relationship Type="http://schemas.openxmlformats.org/officeDocument/2006/relationships/slide" Target="/ppt/slides/slide56.xml" Id="R100362d9f27548a5" /><Relationship Type="http://schemas.openxmlformats.org/officeDocument/2006/relationships/slide" Target="/ppt/slides/slide57.xml" Id="Rbaa6fefda2fd4b5c" /><Relationship Type="http://schemas.openxmlformats.org/officeDocument/2006/relationships/slide" Target="/ppt/slides/slide58.xml" Id="R17d149454013403c" /><Relationship Type="http://schemas.openxmlformats.org/officeDocument/2006/relationships/slide" Target="/ppt/slides/slide59.xml" Id="R490a90d8eecd4f3f" /><Relationship Type="http://schemas.openxmlformats.org/officeDocument/2006/relationships/slide" Target="/ppt/slides/slide60.xml" Id="Re3f07a82e3a34669" /><Relationship Type="http://schemas.openxmlformats.org/officeDocument/2006/relationships/slide" Target="/ppt/slides/slide61.xml" Id="R716e767bfce04e65" /><Relationship Type="http://schemas.openxmlformats.org/officeDocument/2006/relationships/slide" Target="/ppt/slides/slide62.xml" Id="R9b426dc280154896" /><Relationship Type="http://schemas.openxmlformats.org/officeDocument/2006/relationships/slide" Target="/ppt/slides/slide63.xml" Id="Rb4ad99b60f1c4558" /><Relationship Type="http://schemas.openxmlformats.org/officeDocument/2006/relationships/slide" Target="/ppt/slides/slide64.xml" Id="R1d5039b5734e4c4b" /><Relationship Type="http://schemas.openxmlformats.org/officeDocument/2006/relationships/slide" Target="/ppt/slides/slide65.xml" Id="Rbffb46a48b1a4dc2" /><Relationship Type="http://schemas.openxmlformats.org/officeDocument/2006/relationships/slide" Target="/ppt/slides/slide66.xml" Id="R9bfdc4d85fff4b4f" /><Relationship Type="http://schemas.openxmlformats.org/officeDocument/2006/relationships/slide" Target="/ppt/slides/slide67.xml" Id="R8e5a0a6ec41c4c3e" /><Relationship Type="http://schemas.openxmlformats.org/officeDocument/2006/relationships/slide" Target="/ppt/slides/slide68.xml" Id="R07bfbf03d16d4fb0" /><Relationship Type="http://schemas.openxmlformats.org/officeDocument/2006/relationships/slide" Target="/ppt/slides/slide69.xml" Id="Rdbdb5da577024088" /><Relationship Type="http://schemas.openxmlformats.org/officeDocument/2006/relationships/slide" Target="/ppt/slides/slide70.xml" Id="R18760e2d2f134add" /><Relationship Type="http://schemas.openxmlformats.org/officeDocument/2006/relationships/slide" Target="/ppt/slides/slide71.xml" Id="Rbb25ed460cdf4c77" /><Relationship Type="http://schemas.openxmlformats.org/officeDocument/2006/relationships/slide" Target="/ppt/slides/slide72.xml" Id="R6d5ab1e12a2a47d9" /><Relationship Type="http://schemas.openxmlformats.org/officeDocument/2006/relationships/slide" Target="/ppt/slides/slide73.xml" Id="Re585c4876cc44ab6" /><Relationship Type="http://schemas.openxmlformats.org/officeDocument/2006/relationships/slide" Target="/ppt/slides/slide74.xml" Id="R0e5cb908a301441e" /><Relationship Type="http://schemas.openxmlformats.org/officeDocument/2006/relationships/slide" Target="/ppt/slides/slide75.xml" Id="R8cdac2b0e9814458" /><Relationship Type="http://schemas.openxmlformats.org/officeDocument/2006/relationships/slide" Target="/ppt/slides/slide76.xml" Id="Rdcd2a614c66241bd" /><Relationship Type="http://schemas.openxmlformats.org/officeDocument/2006/relationships/slide" Target="/ppt/slides/slide77.xml" Id="R4218af15e70541c6" /><Relationship Type="http://schemas.openxmlformats.org/officeDocument/2006/relationships/slide" Target="/ppt/slides/slide78.xml" Id="R00bb63e5518247d9" /><Relationship Type="http://schemas.openxmlformats.org/officeDocument/2006/relationships/slide" Target="/ppt/slides/slide79.xml" Id="Rdbf545d35fd8480b" /><Relationship Type="http://schemas.openxmlformats.org/officeDocument/2006/relationships/slide" Target="/ppt/slides/slide80.xml" Id="R9ed8981a87c2461a" /><Relationship Type="http://schemas.openxmlformats.org/officeDocument/2006/relationships/slide" Target="/ppt/slides/slide81.xml" Id="Rc38c2a8fadbb4fc5" /><Relationship Type="http://schemas.openxmlformats.org/officeDocument/2006/relationships/slide" Target="/ppt/slides/slide82.xml" Id="Rde5d5effb2974510" /><Relationship Type="http://schemas.openxmlformats.org/officeDocument/2006/relationships/slide" Target="/ppt/slides/slide83.xml" Id="R52e8d73865b64b16" /><Relationship Type="http://schemas.openxmlformats.org/officeDocument/2006/relationships/slide" Target="/ppt/slides/slide84.xml" Id="R4f9a0181c8f94ae0" /><Relationship Type="http://schemas.openxmlformats.org/officeDocument/2006/relationships/slide" Target="/ppt/slides/slide85.xml" Id="R67e7e3470de948d9" /><Relationship Type="http://schemas.openxmlformats.org/officeDocument/2006/relationships/slide" Target="/ppt/slides/slide86.xml" Id="R687fa9f3f89a49d4" /><Relationship Type="http://schemas.openxmlformats.org/officeDocument/2006/relationships/slide" Target="/ppt/slides/slide87.xml" Id="R230657ca67994ffb" /><Relationship Type="http://schemas.openxmlformats.org/officeDocument/2006/relationships/slide" Target="/ppt/slides/slide88.xml" Id="Rfb07c7e2666140ba" /><Relationship Type="http://schemas.openxmlformats.org/officeDocument/2006/relationships/slide" Target="/ppt/slides/slide89.xml" Id="Rbf155b7dbb3c4037" /><Relationship Type="http://schemas.openxmlformats.org/officeDocument/2006/relationships/slide" Target="/ppt/slides/slide90.xml" Id="Rc07ca3b25ac14556" /><Relationship Type="http://schemas.openxmlformats.org/officeDocument/2006/relationships/slide" Target="/ppt/slides/slide91.xml" Id="Rffac91b24fe14d9e" /><Relationship Type="http://schemas.openxmlformats.org/officeDocument/2006/relationships/slide" Target="/ppt/slides/slide92.xml" Id="R6f71677ef239420f" /><Relationship Type="http://schemas.openxmlformats.org/officeDocument/2006/relationships/slide" Target="/ppt/slides/slide93.xml" Id="R81376900dd8f49a8" /><Relationship Type="http://schemas.openxmlformats.org/officeDocument/2006/relationships/slide" Target="/ppt/slides/slide94.xml" Id="R8e02117fe63f4bd5" /><Relationship Type="http://schemas.openxmlformats.org/officeDocument/2006/relationships/slide" Target="/ppt/slides/slide95.xml" Id="Re5e2309fa32f4982" /><Relationship Type="http://schemas.openxmlformats.org/officeDocument/2006/relationships/slide" Target="/ppt/slides/slide96.xml" Id="R35c2a02e3e8448ef" /><Relationship Type="http://schemas.openxmlformats.org/officeDocument/2006/relationships/slide" Target="/ppt/slides/slide97.xml" Id="R2ab47be2c5894eec" /><Relationship Type="http://schemas.openxmlformats.org/officeDocument/2006/relationships/slide" Target="/ppt/slides/slide98.xml" Id="R3f8ff6f738b14502" /><Relationship Type="http://schemas.openxmlformats.org/officeDocument/2006/relationships/slide" Target="/ppt/slides/slide99.xml" Id="Rc0cadc9b8c774227" /><Relationship Type="http://schemas.openxmlformats.org/officeDocument/2006/relationships/slide" Target="/ppt/slides/slide100.xml" Id="R8244484265a24438" /><Relationship Type="http://schemas.openxmlformats.org/officeDocument/2006/relationships/slide" Target="/ppt/slides/slide101.xml" Id="Rf7b988316367412c" /><Relationship Type="http://schemas.openxmlformats.org/officeDocument/2006/relationships/slide" Target="/ppt/slides/slide102.xml" Id="R9c9a89bb1ef24e02" /><Relationship Type="http://schemas.openxmlformats.org/officeDocument/2006/relationships/slide" Target="/ppt/slides/slide103.xml" Id="R0b078ee2415c4b05" /><Relationship Type="http://schemas.openxmlformats.org/officeDocument/2006/relationships/slide" Target="/ppt/slides/slide104.xml" Id="R920d4c5f00a14045" /><Relationship Type="http://schemas.openxmlformats.org/officeDocument/2006/relationships/slide" Target="/ppt/slides/slide105.xml" Id="Rb79875f9c53c475d" /><Relationship Type="http://schemas.openxmlformats.org/officeDocument/2006/relationships/slide" Target="/ppt/slides/slide106.xml" Id="R9a4d730402234dbb" /><Relationship Type="http://schemas.openxmlformats.org/officeDocument/2006/relationships/slide" Target="/ppt/slides/slide107.xml" Id="Ra2b4c7d6c97d4102" /><Relationship Type="http://schemas.openxmlformats.org/officeDocument/2006/relationships/slide" Target="/ppt/slides/slide108.xml" Id="R6687820fada54ff0" /><Relationship Type="http://schemas.openxmlformats.org/officeDocument/2006/relationships/slide" Target="/ppt/slides/slide109.xml" Id="R383160ad7d7d4254" /><Relationship Type="http://schemas.openxmlformats.org/officeDocument/2006/relationships/slide" Target="/ppt/slides/slide110.xml" Id="R613c841e2a2b4f2e" /><Relationship Type="http://schemas.openxmlformats.org/officeDocument/2006/relationships/slide" Target="/ppt/slides/slide111.xml" Id="Rd0b20bdbae9f426b" /><Relationship Type="http://schemas.openxmlformats.org/officeDocument/2006/relationships/slide" Target="/ppt/slides/slide112.xml" Id="Re7cc25a78c3e4ff7" /><Relationship Type="http://schemas.openxmlformats.org/officeDocument/2006/relationships/slide" Target="/ppt/slides/slide113.xml" Id="R77afde206a8a4533" /><Relationship Type="http://schemas.openxmlformats.org/officeDocument/2006/relationships/slide" Target="/ppt/slides/slide114.xml" Id="R004873bf9347495f" /><Relationship Type="http://schemas.openxmlformats.org/officeDocument/2006/relationships/slide" Target="/ppt/slides/slide115.xml" Id="R200169bf205a43d8" /><Relationship Type="http://schemas.openxmlformats.org/officeDocument/2006/relationships/slide" Target="/ppt/slides/slide116.xml" Id="Rd09fe46f880342ba" /><Relationship Type="http://schemas.openxmlformats.org/officeDocument/2006/relationships/slide" Target="/ppt/slides/slide117.xml" Id="R951c8ad935d24391" /><Relationship Type="http://schemas.openxmlformats.org/officeDocument/2006/relationships/slide" Target="/ppt/slides/slide118.xml" Id="R5d14d709e7d040bb" /><Relationship Type="http://schemas.openxmlformats.org/officeDocument/2006/relationships/slide" Target="/ppt/slides/slide119.xml" Id="R2e1641d6111c40cc" /><Relationship Type="http://schemas.openxmlformats.org/officeDocument/2006/relationships/slide" Target="/ppt/slides/slide120.xml" Id="R99131fab86334b4a" /><Relationship Type="http://schemas.openxmlformats.org/officeDocument/2006/relationships/slide" Target="/ppt/slides/slide121.xml" Id="R48b4ca0c086340af" /><Relationship Type="http://schemas.openxmlformats.org/officeDocument/2006/relationships/slide" Target="/ppt/slides/slide122.xml" Id="Rf3d30a5f454f4a85" /><Relationship Type="http://schemas.openxmlformats.org/officeDocument/2006/relationships/slide" Target="/ppt/slides/slide123.xml" Id="R92d27f73a6c2434b" /><Relationship Type="http://schemas.openxmlformats.org/officeDocument/2006/relationships/slide" Target="/ppt/slides/slide124.xml" Id="R274ebc50a86d45d4" /><Relationship Type="http://schemas.openxmlformats.org/officeDocument/2006/relationships/slide" Target="/ppt/slides/slide125.xml" Id="Rb36b868392bf4e2e" /><Relationship Type="http://schemas.openxmlformats.org/officeDocument/2006/relationships/slide" Target="/ppt/slides/slide126.xml" Id="Rb53afcec91104237" /><Relationship Type="http://schemas.openxmlformats.org/officeDocument/2006/relationships/slide" Target="/ppt/slides/slide127.xml" Id="R75f6747b4a2f4058" /><Relationship Type="http://schemas.openxmlformats.org/officeDocument/2006/relationships/slide" Target="/ppt/slides/slide128.xml" Id="R057fbc03bda046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aec23878674e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d302247b2147a3" /><Relationship Type="http://schemas.openxmlformats.org/officeDocument/2006/relationships/notesMaster" Target="/ppt/notesMasters/notesMaster1.xml" Id="R463abfa7c1a644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e4947111924a55" /><Relationship Type="http://schemas.openxmlformats.org/officeDocument/2006/relationships/notesMaster" Target="/ppt/notesMasters/notesMaster1.xml" Id="R55b3686f533d49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93cd1d776a4f32" /><Relationship Type="http://schemas.openxmlformats.org/officeDocument/2006/relationships/notesMaster" Target="/ppt/notesMasters/notesMaster1.xml" Id="Rb5a04ef1abb342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6d7ece9a4c4314" /><Relationship Type="http://schemas.openxmlformats.org/officeDocument/2006/relationships/notesMaster" Target="/ppt/notesMasters/notesMaster1.xml" Id="R08c3ba80dbcd46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30d15dfdce426f" /><Relationship Type="http://schemas.openxmlformats.org/officeDocument/2006/relationships/notesMaster" Target="/ppt/notesMasters/notesMaster1.xml" Id="R324a5b8fae9f45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c649a869c44499" /><Relationship Type="http://schemas.openxmlformats.org/officeDocument/2006/relationships/notesMaster" Target="/ppt/notesMasters/notesMaster1.xml" Id="Re60a2e4a865745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61c24cbcbb4109" /><Relationship Type="http://schemas.openxmlformats.org/officeDocument/2006/relationships/notesMaster" Target="/ppt/notesMasters/notesMaster1.xml" Id="R84bd4946d3a644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c432edd28547dd" /><Relationship Type="http://schemas.openxmlformats.org/officeDocument/2006/relationships/notesMaster" Target="/ppt/notesMasters/notesMaster1.xml" Id="R16721ebe383f40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445886f5da4d7e" /><Relationship Type="http://schemas.openxmlformats.org/officeDocument/2006/relationships/notesMaster" Target="/ppt/notesMasters/notesMaster1.xml" Id="Rf1a4831d95a241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940a7a8df64a1b" /><Relationship Type="http://schemas.openxmlformats.org/officeDocument/2006/relationships/notesMaster" Target="/ppt/notesMasters/notesMaster1.xml" Id="R86b1cd8477a84f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c6fed0726e41bc" /><Relationship Type="http://schemas.openxmlformats.org/officeDocument/2006/relationships/notesMaster" Target="/ppt/notesMasters/notesMaster1.xml" Id="R1f21e31eb36a45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c34ee0be9c4962" /><Relationship Type="http://schemas.openxmlformats.org/officeDocument/2006/relationships/notesMaster" Target="/ppt/notesMasters/notesMaster1.xml" Id="R60f8683e65534a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7260d73c74440a" /><Relationship Type="http://schemas.openxmlformats.org/officeDocument/2006/relationships/notesMaster" Target="/ppt/notesMasters/notesMaster1.xml" Id="R44c3ac69fa8c4f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18860d569a45bf" /><Relationship Type="http://schemas.openxmlformats.org/officeDocument/2006/relationships/notesMaster" Target="/ppt/notesMasters/notesMaster1.xml" Id="Recf9b573d5df41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00c3defb3e48fd" /><Relationship Type="http://schemas.openxmlformats.org/officeDocument/2006/relationships/notesMaster" Target="/ppt/notesMasters/notesMaster1.xml" Id="R7a0c3f7e4eb946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a54ddfb9234262" /><Relationship Type="http://schemas.openxmlformats.org/officeDocument/2006/relationships/notesMaster" Target="/ppt/notesMasters/notesMaster1.xml" Id="R65e841b2b54d4f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5e2ea8847b4f2f" /><Relationship Type="http://schemas.openxmlformats.org/officeDocument/2006/relationships/notesMaster" Target="/ppt/notesMasters/notesMaster1.xml" Id="R1269271a8b15415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c1a218327b42cc" /><Relationship Type="http://schemas.openxmlformats.org/officeDocument/2006/relationships/notesMaster" Target="/ppt/notesMasters/notesMaster1.xml" Id="R0df05b97adc34f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de1bfed8af43e7" /><Relationship Type="http://schemas.openxmlformats.org/officeDocument/2006/relationships/notesMaster" Target="/ppt/notesMasters/notesMaster1.xml" Id="R49fc556bb59048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18710b98d845c4" /><Relationship Type="http://schemas.openxmlformats.org/officeDocument/2006/relationships/notesMaster" Target="/ppt/notesMasters/notesMaster1.xml" Id="R7bcc78b7990141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a67727def342af" /><Relationship Type="http://schemas.openxmlformats.org/officeDocument/2006/relationships/notesMaster" Target="/ppt/notesMasters/notesMaster1.xml" Id="Rbb10070642bb4d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249b55052d4622" /><Relationship Type="http://schemas.openxmlformats.org/officeDocument/2006/relationships/notesMaster" Target="/ppt/notesMasters/notesMaster1.xml" Id="Raf23204dcb2042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b4fb3f593f4a9e" /><Relationship Type="http://schemas.openxmlformats.org/officeDocument/2006/relationships/notesMaster" Target="/ppt/notesMasters/notesMaster1.xml" Id="Rb06ce9e48f484f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b08a8d3fc740ae" /><Relationship Type="http://schemas.openxmlformats.org/officeDocument/2006/relationships/notesMaster" Target="/ppt/notesMasters/notesMaster1.xml" Id="Rd440a27ee45c44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970735466e46bb" /><Relationship Type="http://schemas.openxmlformats.org/officeDocument/2006/relationships/notesMaster" Target="/ppt/notesMasters/notesMaster1.xml" Id="R73577d8ac86448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99eab49b1b54012" /><Relationship Type="http://schemas.openxmlformats.org/officeDocument/2006/relationships/notesMaster" Target="/ppt/notesMasters/notesMaster1.xml" Id="R9f7ba98fd28a478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519e4299344e7a" /><Relationship Type="http://schemas.openxmlformats.org/officeDocument/2006/relationships/notesMaster" Target="/ppt/notesMasters/notesMaster1.xml" Id="R79974ea1f69643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c024427a550487f" /><Relationship Type="http://schemas.openxmlformats.org/officeDocument/2006/relationships/notesMaster" Target="/ppt/notesMasters/notesMaster1.xml" Id="R007286a0353c47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7cc205e23844ceb" /><Relationship Type="http://schemas.openxmlformats.org/officeDocument/2006/relationships/notesMaster" Target="/ppt/notesMasters/notesMaster1.xml" Id="Rc5032811bbe24e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134e14d8774b05" /><Relationship Type="http://schemas.openxmlformats.org/officeDocument/2006/relationships/notesMaster" Target="/ppt/notesMasters/notesMaster1.xml" Id="R745e5e4b94a5494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b66809f0b7643ec" /><Relationship Type="http://schemas.openxmlformats.org/officeDocument/2006/relationships/notesMaster" Target="/ppt/notesMasters/notesMaster1.xml" Id="R73c2cd23e22e4db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4c8025ef8794829" /><Relationship Type="http://schemas.openxmlformats.org/officeDocument/2006/relationships/notesMaster" Target="/ppt/notesMasters/notesMaster1.xml" Id="R28f2e70d219e4a7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635c92e13b4150" /><Relationship Type="http://schemas.openxmlformats.org/officeDocument/2006/relationships/notesMaster" Target="/ppt/notesMasters/notesMaster1.xml" Id="Rcba732a7bd1c4dd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a89514b9fc4662" /><Relationship Type="http://schemas.openxmlformats.org/officeDocument/2006/relationships/notesMaster" Target="/ppt/notesMasters/notesMaster1.xml" Id="R6edcc8ed04004ec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23f190cd3d54b74" /><Relationship Type="http://schemas.openxmlformats.org/officeDocument/2006/relationships/notesMaster" Target="/ppt/notesMasters/notesMaster1.xml" Id="R6b20406565f6401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2b28ff31f374288" /><Relationship Type="http://schemas.openxmlformats.org/officeDocument/2006/relationships/notesMaster" Target="/ppt/notesMasters/notesMaster1.xml" Id="Ra8f240c81d8b4c1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a4abb7558d14bfd" /><Relationship Type="http://schemas.openxmlformats.org/officeDocument/2006/relationships/notesMaster" Target="/ppt/notesMasters/notesMaster1.xml" Id="R0d156d04b44d4a5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071b6bcbd954373" /><Relationship Type="http://schemas.openxmlformats.org/officeDocument/2006/relationships/notesMaster" Target="/ppt/notesMasters/notesMaster1.xml" Id="R9b314e0ae1ea489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6dd2dbb9dfc47c6" /><Relationship Type="http://schemas.openxmlformats.org/officeDocument/2006/relationships/notesMaster" Target="/ppt/notesMasters/notesMaster1.xml" Id="R557649fd941541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af9196200a8486b" /><Relationship Type="http://schemas.openxmlformats.org/officeDocument/2006/relationships/notesMaster" Target="/ppt/notesMasters/notesMaster1.xml" Id="Re9c59f8806e045a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791131b171d413c" /><Relationship Type="http://schemas.openxmlformats.org/officeDocument/2006/relationships/notesMaster" Target="/ppt/notesMasters/notesMaster1.xml" Id="Rde4c927d204d429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c7439b436d2422e" /><Relationship Type="http://schemas.openxmlformats.org/officeDocument/2006/relationships/notesMaster" Target="/ppt/notesMasters/notesMaster1.xml" Id="R29c0cb86a7ed4ee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20ccbc3ab7e4b9c" /><Relationship Type="http://schemas.openxmlformats.org/officeDocument/2006/relationships/notesMaster" Target="/ppt/notesMasters/notesMaster1.xml" Id="R6c86240aa1ff4ab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2322af1379e44db" /><Relationship Type="http://schemas.openxmlformats.org/officeDocument/2006/relationships/notesMaster" Target="/ppt/notesMasters/notesMaster1.xml" Id="Rd7ee941f996b401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780bccd08ae4eaf" /><Relationship Type="http://schemas.openxmlformats.org/officeDocument/2006/relationships/notesMaster" Target="/ppt/notesMasters/notesMaster1.xml" Id="Rb8b93821e047472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04356a19f94496c" /><Relationship Type="http://schemas.openxmlformats.org/officeDocument/2006/relationships/notesMaster" Target="/ppt/notesMasters/notesMaster1.xml" Id="Ra40b99fb55a0417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8baa43c16bf4138" /><Relationship Type="http://schemas.openxmlformats.org/officeDocument/2006/relationships/notesMaster" Target="/ppt/notesMasters/notesMaster1.xml" Id="R2758bca3ca444b6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6855681a3a64b2a" /><Relationship Type="http://schemas.openxmlformats.org/officeDocument/2006/relationships/notesMaster" Target="/ppt/notesMasters/notesMaster1.xml" Id="R17e7654669d2430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2a1a3d24cf04a6a" /><Relationship Type="http://schemas.openxmlformats.org/officeDocument/2006/relationships/notesMaster" Target="/ppt/notesMasters/notesMaster1.xml" Id="Re2a744bb911c4b6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2d067826f864171" /><Relationship Type="http://schemas.openxmlformats.org/officeDocument/2006/relationships/notesMaster" Target="/ppt/notesMasters/notesMaster1.xml" Id="R26b17e47bfc24e5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7b54db0dc68448b" /><Relationship Type="http://schemas.openxmlformats.org/officeDocument/2006/relationships/notesMaster" Target="/ppt/notesMasters/notesMaster1.xml" Id="R7bcc26c2a623411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c74a8d178904d66" /><Relationship Type="http://schemas.openxmlformats.org/officeDocument/2006/relationships/notesMaster" Target="/ppt/notesMasters/notesMaster1.xml" Id="Rd8bab5121d944a3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5d214fa85b64371" /><Relationship Type="http://schemas.openxmlformats.org/officeDocument/2006/relationships/notesMaster" Target="/ppt/notesMasters/notesMaster1.xml" Id="Rb1d0f5bd79e44da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8c86a900b514025" /><Relationship Type="http://schemas.openxmlformats.org/officeDocument/2006/relationships/notesMaster" Target="/ppt/notesMasters/notesMaster1.xml" Id="R8db690515f1e4e9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90677b248d843b1" /><Relationship Type="http://schemas.openxmlformats.org/officeDocument/2006/relationships/notesMaster" Target="/ppt/notesMasters/notesMaster1.xml" Id="R83a4e5089421443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10a0235218f4f7b" /><Relationship Type="http://schemas.openxmlformats.org/officeDocument/2006/relationships/notesMaster" Target="/ppt/notesMasters/notesMaster1.xml" Id="Rab17b237d22c443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5a4e1d10ea147e2" /><Relationship Type="http://schemas.openxmlformats.org/officeDocument/2006/relationships/notesMaster" Target="/ppt/notesMasters/notesMaster1.xml" Id="R366f08573e5441c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9e5c7417dc84436" /><Relationship Type="http://schemas.openxmlformats.org/officeDocument/2006/relationships/notesMaster" Target="/ppt/notesMasters/notesMaster1.xml" Id="R4b0e4887b5b9476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527e40252574470" /><Relationship Type="http://schemas.openxmlformats.org/officeDocument/2006/relationships/notesMaster" Target="/ppt/notesMasters/notesMaster1.xml" Id="R92977a40c0b8480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9db63ee5ee54073" /><Relationship Type="http://schemas.openxmlformats.org/officeDocument/2006/relationships/notesMaster" Target="/ppt/notesMasters/notesMaster1.xml" Id="R88bf6180b96c427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8af9ad714504126" /><Relationship Type="http://schemas.openxmlformats.org/officeDocument/2006/relationships/notesMaster" Target="/ppt/notesMasters/notesMaster1.xml" Id="R3c04f884b85d40c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e97191f6c6c4419" /><Relationship Type="http://schemas.openxmlformats.org/officeDocument/2006/relationships/notesMaster" Target="/ppt/notesMasters/notesMaster1.xml" Id="R77bdad81323943c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7bfb629c7a242c6" /><Relationship Type="http://schemas.openxmlformats.org/officeDocument/2006/relationships/notesMaster" Target="/ppt/notesMasters/notesMaster1.xml" Id="Reacc2971bb694f1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3760b5899c14c1d" /><Relationship Type="http://schemas.openxmlformats.org/officeDocument/2006/relationships/notesMaster" Target="/ppt/notesMasters/notesMaster1.xml" Id="R8a758db98d7d492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31f4ff92a45c4026" /><Relationship Type="http://schemas.openxmlformats.org/officeDocument/2006/relationships/notesMaster" Target="/ppt/notesMasters/notesMaster1.xml" Id="R44cdf49d7225495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4fd251e4de64c60" /><Relationship Type="http://schemas.openxmlformats.org/officeDocument/2006/relationships/notesMaster" Target="/ppt/notesMasters/notesMaster1.xml" Id="R51cf253226ae429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270884b33474ac4" /><Relationship Type="http://schemas.openxmlformats.org/officeDocument/2006/relationships/notesMaster" Target="/ppt/notesMasters/notesMaster1.xml" Id="R672410dba3884ce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e4b53c257944afa" /><Relationship Type="http://schemas.openxmlformats.org/officeDocument/2006/relationships/notesMaster" Target="/ppt/notesMasters/notesMaster1.xml" Id="Rf95dc097928c4c6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6177ef8af294407" /><Relationship Type="http://schemas.openxmlformats.org/officeDocument/2006/relationships/notesMaster" Target="/ppt/notesMasters/notesMaster1.xml" Id="R1fbefdd462a3414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eea1bd336634ef9" /><Relationship Type="http://schemas.openxmlformats.org/officeDocument/2006/relationships/notesMaster" Target="/ppt/notesMasters/notesMaster1.xml" Id="R2899034b5fa94e7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339aaa7554d4df5" /><Relationship Type="http://schemas.openxmlformats.org/officeDocument/2006/relationships/notesMaster" Target="/ppt/notesMasters/notesMaster1.xml" Id="R5e5b0932bb5a491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9e0067873104064" /><Relationship Type="http://schemas.openxmlformats.org/officeDocument/2006/relationships/notesMaster" Target="/ppt/notesMasters/notesMaster1.xml" Id="Ra8936cf18bc649e3"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87a3b3f2ca44cf3" /><Relationship Type="http://schemas.openxmlformats.org/officeDocument/2006/relationships/notesMaster" Target="/ppt/notesMasters/notesMaster1.xml" Id="Rf63de91f1d3d42d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4e3a21f255c43e5" /><Relationship Type="http://schemas.openxmlformats.org/officeDocument/2006/relationships/notesMaster" Target="/ppt/notesMasters/notesMaster1.xml" Id="R1b68068512c14ac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a5bee1b711141bd" /><Relationship Type="http://schemas.openxmlformats.org/officeDocument/2006/relationships/notesMaster" Target="/ppt/notesMasters/notesMaster1.xml" Id="Rdeec775cf651489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042908470d24caf" /><Relationship Type="http://schemas.openxmlformats.org/officeDocument/2006/relationships/notesMaster" Target="/ppt/notesMasters/notesMaster1.xml" Id="Rb3df7c56752c463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d0d508f58be435d" /><Relationship Type="http://schemas.openxmlformats.org/officeDocument/2006/relationships/notesMaster" Target="/ppt/notesMasters/notesMaster1.xml" Id="R33a7ba4f3ec94dd3"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8a6c17aa52e042ff" /><Relationship Type="http://schemas.openxmlformats.org/officeDocument/2006/relationships/notesMaster" Target="/ppt/notesMasters/notesMaster1.xml" Id="Rde1ddfb607af4719"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1557ed95ed06458f" /><Relationship Type="http://schemas.openxmlformats.org/officeDocument/2006/relationships/notesMaster" Target="/ppt/notesMasters/notesMaster1.xml" Id="R0ea1380326d34c3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03ab434e7564b86" /><Relationship Type="http://schemas.openxmlformats.org/officeDocument/2006/relationships/notesMaster" Target="/ppt/notesMasters/notesMaster1.xml" Id="R48d6de6ae2fe434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e941576d48b470c" /><Relationship Type="http://schemas.openxmlformats.org/officeDocument/2006/relationships/notesMaster" Target="/ppt/notesMasters/notesMaster1.xml" Id="R94cee5169e32423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10b083094594bac" /><Relationship Type="http://schemas.openxmlformats.org/officeDocument/2006/relationships/notesMaster" Target="/ppt/notesMasters/notesMaster1.xml" Id="R9e84b8608516468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1859b804d0364948" /><Relationship Type="http://schemas.openxmlformats.org/officeDocument/2006/relationships/notesMaster" Target="/ppt/notesMasters/notesMaster1.xml" Id="R2871eead676d41a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0e62405cb514da1" /><Relationship Type="http://schemas.openxmlformats.org/officeDocument/2006/relationships/notesMaster" Target="/ppt/notesMasters/notesMaster1.xml" Id="Reac777c9342745f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f7d898d31f6748a4" /><Relationship Type="http://schemas.openxmlformats.org/officeDocument/2006/relationships/notesMaster" Target="/ppt/notesMasters/notesMaster1.xml" Id="R350ba68e0744427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867eff4559f540af" /><Relationship Type="http://schemas.openxmlformats.org/officeDocument/2006/relationships/notesMaster" Target="/ppt/notesMasters/notesMaster1.xml" Id="R23b42b03ba1f4e2a"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a08d7139e00a4453" /><Relationship Type="http://schemas.openxmlformats.org/officeDocument/2006/relationships/notesMaster" Target="/ppt/notesMasters/notesMaster1.xml" Id="R0f3dd92f594b4574"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b5f006ea2a54bb6" /><Relationship Type="http://schemas.openxmlformats.org/officeDocument/2006/relationships/notesMaster" Target="/ppt/notesMasters/notesMaster1.xml" Id="R4190c78458bc4159"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cf311c1e16cb4989" /><Relationship Type="http://schemas.openxmlformats.org/officeDocument/2006/relationships/notesMaster" Target="/ppt/notesMasters/notesMaster1.xml" Id="R1745da17613f43db"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84a995c3ea274d03" /><Relationship Type="http://schemas.openxmlformats.org/officeDocument/2006/relationships/notesMaster" Target="/ppt/notesMasters/notesMaster1.xml" Id="R5c5e2cc621314608"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7a709d4fd7a4bf1" /><Relationship Type="http://schemas.openxmlformats.org/officeDocument/2006/relationships/notesMaster" Target="/ppt/notesMasters/notesMaster1.xml" Id="R3ae399518bff4b99"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3b200c5b988d4d65" /><Relationship Type="http://schemas.openxmlformats.org/officeDocument/2006/relationships/notesMaster" Target="/ppt/notesMasters/notesMaster1.xml" Id="Rb76061583f3a41e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c2064d5af6644aef" /><Relationship Type="http://schemas.openxmlformats.org/officeDocument/2006/relationships/notesMaster" Target="/ppt/notesMasters/notesMaster1.xml" Id="Reb004b850ea248b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04f3bd66bc4a4f98" /><Relationship Type="http://schemas.openxmlformats.org/officeDocument/2006/relationships/notesMaster" Target="/ppt/notesMasters/notesMaster1.xml" Id="Rd25c9a84b8204661"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05db08c21ca4184" /><Relationship Type="http://schemas.openxmlformats.org/officeDocument/2006/relationships/notesMaster" Target="/ppt/notesMasters/notesMaster1.xml" Id="Ra922436268434b9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bb1a0238d7c142fe" /><Relationship Type="http://schemas.openxmlformats.org/officeDocument/2006/relationships/notesMaster" Target="/ppt/notesMasters/notesMaster1.xml" Id="R9788ee61b7ae462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61176bacadd44252" /><Relationship Type="http://schemas.openxmlformats.org/officeDocument/2006/relationships/notesMaster" Target="/ppt/notesMasters/notesMaster1.xml" Id="Rd5592e971c0842fd"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7c5be35b60be4151" /><Relationship Type="http://schemas.openxmlformats.org/officeDocument/2006/relationships/notesMaster" Target="/ppt/notesMasters/notesMaster1.xml" Id="R0e93d43b7f5448cd"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fa9b35765b3c4037" /><Relationship Type="http://schemas.openxmlformats.org/officeDocument/2006/relationships/notesMaster" Target="/ppt/notesMasters/notesMaster1.xml" Id="R721f34a7d8a74f9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a1cc7528859249c4" /><Relationship Type="http://schemas.openxmlformats.org/officeDocument/2006/relationships/notesMaster" Target="/ppt/notesMasters/notesMaster1.xml" Id="R30792b925205404a"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66545b0c1b8b4498" /><Relationship Type="http://schemas.openxmlformats.org/officeDocument/2006/relationships/notesMaster" Target="/ppt/notesMasters/notesMaster1.xml" Id="Rbaaa5f30d27247de"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0a2fb893756a4296" /><Relationship Type="http://schemas.openxmlformats.org/officeDocument/2006/relationships/notesMaster" Target="/ppt/notesMasters/notesMaster1.xml" Id="Rc2f884d0d86947f0"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069caf8fd5d44500" /><Relationship Type="http://schemas.openxmlformats.org/officeDocument/2006/relationships/notesMaster" Target="/ppt/notesMasters/notesMaster1.xml" Id="Rf5898d46834442a6"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e87c8f9d5d9d4683" /><Relationship Type="http://schemas.openxmlformats.org/officeDocument/2006/relationships/notesMaster" Target="/ppt/notesMasters/notesMaster1.xml" Id="R0a5d79c42a2f42d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0e9010b8d3044cb5" /><Relationship Type="http://schemas.openxmlformats.org/officeDocument/2006/relationships/notesMaster" Target="/ppt/notesMasters/notesMaster1.xml" Id="R425e18ed5292484b"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bf8acf707ef948ba" /><Relationship Type="http://schemas.openxmlformats.org/officeDocument/2006/relationships/notesMaster" Target="/ppt/notesMasters/notesMaster1.xml" Id="R7f73987ddbac4531"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66e39b8d414400d" /><Relationship Type="http://schemas.openxmlformats.org/officeDocument/2006/relationships/notesMaster" Target="/ppt/notesMasters/notesMaster1.xml" Id="R74008719e659486f"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624b1a598b8e4f74" /><Relationship Type="http://schemas.openxmlformats.org/officeDocument/2006/relationships/notesMaster" Target="/ppt/notesMasters/notesMaster1.xml" Id="R71d2d54f17194bf6"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0cb99ecc28db44a8" /><Relationship Type="http://schemas.openxmlformats.org/officeDocument/2006/relationships/notesMaster" Target="/ppt/notesMasters/notesMaster1.xml" Id="R2f144695efd54b89"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a091fdd55ef943ee" /><Relationship Type="http://schemas.openxmlformats.org/officeDocument/2006/relationships/notesMaster" Target="/ppt/notesMasters/notesMaster1.xml" Id="R3078f45c9efd4f5d"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c919fedadb4242fb" /><Relationship Type="http://schemas.openxmlformats.org/officeDocument/2006/relationships/notesMaster" Target="/ppt/notesMasters/notesMaster1.xml" Id="Rc25bfd985ed04f9d"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cdeb7c397edf4af0" /><Relationship Type="http://schemas.openxmlformats.org/officeDocument/2006/relationships/notesMaster" Target="/ppt/notesMasters/notesMaster1.xml" Id="R77135c704ab94ac2"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c3e479a00fea425e" /><Relationship Type="http://schemas.openxmlformats.org/officeDocument/2006/relationships/notesMaster" Target="/ppt/notesMasters/notesMaster1.xml" Id="R768f0b5e41bf42a9"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844e04625c204ee7" /><Relationship Type="http://schemas.openxmlformats.org/officeDocument/2006/relationships/notesMaster" Target="/ppt/notesMasters/notesMaster1.xml" Id="R73074d3c85704d77"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1f4bdc26ba3e4445" /><Relationship Type="http://schemas.openxmlformats.org/officeDocument/2006/relationships/notesMaster" Target="/ppt/notesMasters/notesMaster1.xml" Id="Rde090b5ffcb34bad"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a3c44a542924bcb" /><Relationship Type="http://schemas.openxmlformats.org/officeDocument/2006/relationships/notesMaster" Target="/ppt/notesMasters/notesMaster1.xml" Id="R9587b3b718b34a66"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9e741730f2c84dfc" /><Relationship Type="http://schemas.openxmlformats.org/officeDocument/2006/relationships/notesMaster" Target="/ppt/notesMasters/notesMaster1.xml" Id="Re070393132ee419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c68cb9a054714c59" /><Relationship Type="http://schemas.openxmlformats.org/officeDocument/2006/relationships/notesMaster" Target="/ppt/notesMasters/notesMaster1.xml" Id="Reef8a53e9e2a4535"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7b555ec17b35442e" /><Relationship Type="http://schemas.openxmlformats.org/officeDocument/2006/relationships/notesMaster" Target="/ppt/notesMasters/notesMaster1.xml" Id="R410be232e6e44ee6"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9c97b5ad2c7d439f" /><Relationship Type="http://schemas.openxmlformats.org/officeDocument/2006/relationships/notesMaster" Target="/ppt/notesMasters/notesMaster1.xml" Id="R355105e0d136437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7eeb830a3863430b" /><Relationship Type="http://schemas.openxmlformats.org/officeDocument/2006/relationships/notesMaster" Target="/ppt/notesMasters/notesMaster1.xml" Id="R5bb9ed53a59a4a6e"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fa254bc6ea944658" /><Relationship Type="http://schemas.openxmlformats.org/officeDocument/2006/relationships/notesMaster" Target="/ppt/notesMasters/notesMaster1.xml" Id="R32c6347b9f004c5c"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ed2cf2445a49405a" /><Relationship Type="http://schemas.openxmlformats.org/officeDocument/2006/relationships/notesMaster" Target="/ppt/notesMasters/notesMaster1.xml" Id="R6422994eb4b94e42"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13be79f7fd094aa9" /><Relationship Type="http://schemas.openxmlformats.org/officeDocument/2006/relationships/notesMaster" Target="/ppt/notesMasters/notesMaster1.xml" Id="Rad08267ff9eb4d1c"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be84e97798b948da" /><Relationship Type="http://schemas.openxmlformats.org/officeDocument/2006/relationships/notesMaster" Target="/ppt/notesMasters/notesMaster1.xml" Id="R78fc0f2ff2bc4cf4"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fe1bae3ab57c4510" /><Relationship Type="http://schemas.openxmlformats.org/officeDocument/2006/relationships/notesMaster" Target="/ppt/notesMasters/notesMaster1.xml" Id="R1c987bcb433d48c0"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f182c171939543ff" /><Relationship Type="http://schemas.openxmlformats.org/officeDocument/2006/relationships/notesMaster" Target="/ppt/notesMasters/notesMaster1.xml" Id="R336a3540115c4b34"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48fcd8622d3a4129" /><Relationship Type="http://schemas.openxmlformats.org/officeDocument/2006/relationships/notesMaster" Target="/ppt/notesMasters/notesMaster1.xml" Id="Rdd32e045ce3f4f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Implementation-Plan-Multi-Tenant-Dashboard-New.docx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cbd640f1cd41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e257013bc040c9" /><Relationship Type="http://schemas.openxmlformats.org/officeDocument/2006/relationships/slideLayout" Target="/ppt/slideLayouts/slideLayout1.xml" Id="Rae9fb308c2c24c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9fb308c2c24c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8b846e81c44627" /><Relationship Type="http://schemas.openxmlformats.org/officeDocument/2006/relationships/notesSlide" Target="/ppt/notesSlides/notesSlide1.xml" Id="Re5f062e2170c41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b9357b79d847dd" /><Relationship Type="http://schemas.openxmlformats.org/officeDocument/2006/relationships/notesSlide" Target="/ppt/notesSlides/notesSlide2.xml" Id="Rcbdc8cceb74143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c62e390b0e43b4" /><Relationship Type="http://schemas.openxmlformats.org/officeDocument/2006/relationships/notesSlide" Target="/ppt/notesSlides/notesSlide3.xml" Id="R0a8a6adfcab641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b8b1734cd04bd3" /><Relationship Type="http://schemas.openxmlformats.org/officeDocument/2006/relationships/notesSlide" Target="/ppt/notesSlides/notesSlide4.xml" Id="Rae6768150e704d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785ea4e8174b37" /><Relationship Type="http://schemas.openxmlformats.org/officeDocument/2006/relationships/notesSlide" Target="/ppt/notesSlides/notesSlide5.xml" Id="R8c7bee78ee5549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53685d63ee4d62" /><Relationship Type="http://schemas.openxmlformats.org/officeDocument/2006/relationships/notesSlide" Target="/ppt/notesSlides/notesSlide6.xml" Id="R5b4164d657ab4e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44743e112c4a12" /><Relationship Type="http://schemas.openxmlformats.org/officeDocument/2006/relationships/notesSlide" Target="/ppt/notesSlides/notesSlide7.xml" Id="R10571563e33f4c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609d9275b044e6" /><Relationship Type="http://schemas.openxmlformats.org/officeDocument/2006/relationships/notesSlide" Target="/ppt/notesSlides/notesSlide8.xml" Id="R7e4c471333fd47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c8598eb17442c7" /><Relationship Type="http://schemas.openxmlformats.org/officeDocument/2006/relationships/notesSlide" Target="/ppt/notesSlides/notesSlide9.xml" Id="R06b4627fe9f24b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edb1c7214240b4" /><Relationship Type="http://schemas.openxmlformats.org/officeDocument/2006/relationships/image" Target="/ppt/media/image.png" Id="R175ec99c2d1b495c" /><Relationship Type="http://schemas.openxmlformats.org/officeDocument/2006/relationships/notesSlide" Target="/ppt/notesSlides/notesSlide10.xml" Id="R9ff04993554149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656c28472f4458" /><Relationship Type="http://schemas.openxmlformats.org/officeDocument/2006/relationships/notesSlide" Target="/ppt/notesSlides/notesSlide11.xml" Id="Rb57250f8373549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0e1f3a51b44d6f" /><Relationship Type="http://schemas.openxmlformats.org/officeDocument/2006/relationships/notesSlide" Target="/ppt/notesSlides/notesSlide12.xml" Id="R5171f74ebe7440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eb62f6d3b34f18" /><Relationship Type="http://schemas.openxmlformats.org/officeDocument/2006/relationships/notesSlide" Target="/ppt/notesSlides/notesSlide13.xml" Id="Rb5d15c1fd8c744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821408751b4845" /><Relationship Type="http://schemas.openxmlformats.org/officeDocument/2006/relationships/notesSlide" Target="/ppt/notesSlides/notesSlide14.xml" Id="Rb88b55fb06cf48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7ecfa2d7ee84701" /><Relationship Type="http://schemas.openxmlformats.org/officeDocument/2006/relationships/notesSlide" Target="/ppt/notesSlides/notesSlide15.xml" Id="R59c99709c80f46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150c355ba340c3" /><Relationship Type="http://schemas.openxmlformats.org/officeDocument/2006/relationships/notesSlide" Target="/ppt/notesSlides/notesSlide16.xml" Id="R9144f7b386484d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aa38c67ede437d" /><Relationship Type="http://schemas.openxmlformats.org/officeDocument/2006/relationships/notesSlide" Target="/ppt/notesSlides/notesSlide17.xml" Id="R321685f1b5ef45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966af7907fc4c74" /><Relationship Type="http://schemas.openxmlformats.org/officeDocument/2006/relationships/notesSlide" Target="/ppt/notesSlides/notesSlide18.xml" Id="R57f2de78375349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e8b2ad5a33442e9" /><Relationship Type="http://schemas.openxmlformats.org/officeDocument/2006/relationships/notesSlide" Target="/ppt/notesSlides/notesSlide19.xml" Id="Rdce97a0bd64742b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fe1fb29198a47d2" /><Relationship Type="http://schemas.openxmlformats.org/officeDocument/2006/relationships/notesSlide" Target="/ppt/notesSlides/notesSlide20.xml" Id="Racc53906e29041f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06a3895b6184b29" /><Relationship Type="http://schemas.openxmlformats.org/officeDocument/2006/relationships/notesSlide" Target="/ppt/notesSlides/notesSlide21.xml" Id="R5cf8eab2319e40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ee24b229594d9c" /><Relationship Type="http://schemas.openxmlformats.org/officeDocument/2006/relationships/notesSlide" Target="/ppt/notesSlides/notesSlide22.xml" Id="R7057bc32b3fb4b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821febe54eb4b89" /><Relationship Type="http://schemas.openxmlformats.org/officeDocument/2006/relationships/notesSlide" Target="/ppt/notesSlides/notesSlide23.xml" Id="R19edb558161e44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e11cd0165b4440e" /><Relationship Type="http://schemas.openxmlformats.org/officeDocument/2006/relationships/image" Target="/ppt/media/image2.png" Id="R81f29790ae1d43ce" /><Relationship Type="http://schemas.openxmlformats.org/officeDocument/2006/relationships/notesSlide" Target="/ppt/notesSlides/notesSlide24.xml" Id="R47e205f836fa41b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2a09db8ff054bd8" /><Relationship Type="http://schemas.openxmlformats.org/officeDocument/2006/relationships/notesSlide" Target="/ppt/notesSlides/notesSlide25.xml" Id="R2c8441fdc63549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2531af2a0934b2d" /><Relationship Type="http://schemas.openxmlformats.org/officeDocument/2006/relationships/image" Target="/ppt/media/image3.png" Id="R7c967e3779e54270" /><Relationship Type="http://schemas.openxmlformats.org/officeDocument/2006/relationships/notesSlide" Target="/ppt/notesSlides/notesSlide26.xml" Id="Ra043289977e74ef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cb40ba70ea940f5" /><Relationship Type="http://schemas.openxmlformats.org/officeDocument/2006/relationships/image" Target="/ppt/media/image4.png" Id="R7ddad3b9fd8d4356" /><Relationship Type="http://schemas.openxmlformats.org/officeDocument/2006/relationships/notesSlide" Target="/ppt/notesSlides/notesSlide27.xml" Id="R9a8d9e1f937a418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e9e436816c540d1" /><Relationship Type="http://schemas.openxmlformats.org/officeDocument/2006/relationships/notesSlide" Target="/ppt/notesSlides/notesSlide28.xml" Id="Rfd61d29044ef4a3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a4cd40df95b4b90" /><Relationship Type="http://schemas.openxmlformats.org/officeDocument/2006/relationships/notesSlide" Target="/ppt/notesSlides/notesSlide29.xml" Id="R105cc41a40b94e1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f9fc4e9b774ad2" /><Relationship Type="http://schemas.openxmlformats.org/officeDocument/2006/relationships/image" Target="/ppt/media/image5.png" Id="R1a5b6eac9ce8477d" /><Relationship Type="http://schemas.openxmlformats.org/officeDocument/2006/relationships/notesSlide" Target="/ppt/notesSlides/notesSlide30.xml" Id="R2f6edd3f7380487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580a772b42a4476" /><Relationship Type="http://schemas.openxmlformats.org/officeDocument/2006/relationships/notesSlide" Target="/ppt/notesSlides/notesSlide31.xml" Id="R4e4d3d246cd1425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e12e7c263114859" /><Relationship Type="http://schemas.openxmlformats.org/officeDocument/2006/relationships/notesSlide" Target="/ppt/notesSlides/notesSlide32.xml" Id="R950a14e7a11a458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c262252d7324e0f" /><Relationship Type="http://schemas.openxmlformats.org/officeDocument/2006/relationships/image" Target="/ppt/media/image6.png" Id="R498107cc82c240df" /><Relationship Type="http://schemas.openxmlformats.org/officeDocument/2006/relationships/notesSlide" Target="/ppt/notesSlides/notesSlide33.xml" Id="R5cdb8523329a45b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204b29e3c2a4e97" /><Relationship Type="http://schemas.openxmlformats.org/officeDocument/2006/relationships/image" Target="/ppt/media/image7.png" Id="R661910488acb4cc2" /><Relationship Type="http://schemas.openxmlformats.org/officeDocument/2006/relationships/image" Target="/ppt/media/image8.png" Id="Ra634be8618174a17" /><Relationship Type="http://schemas.openxmlformats.org/officeDocument/2006/relationships/image" Target="/ppt/media/image9.png" Id="R87419720986d4f66" /><Relationship Type="http://schemas.openxmlformats.org/officeDocument/2006/relationships/notesSlide" Target="/ppt/notesSlides/notesSlide34.xml" Id="Rcf2b6187a3e045a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d6da6d9edd34cf1" /><Relationship Type="http://schemas.openxmlformats.org/officeDocument/2006/relationships/notesSlide" Target="/ppt/notesSlides/notesSlide35.xml" Id="R2a063867e45c4f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73078ea28414073" /><Relationship Type="http://schemas.openxmlformats.org/officeDocument/2006/relationships/notesSlide" Target="/ppt/notesSlides/notesSlide36.xml" Id="R8b9f1f30ed284b7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14f17010d2342fc" /><Relationship Type="http://schemas.openxmlformats.org/officeDocument/2006/relationships/notesSlide" Target="/ppt/notesSlides/notesSlide37.xml" Id="R935dda5ee625445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638e4abf6774fa0" /><Relationship Type="http://schemas.openxmlformats.org/officeDocument/2006/relationships/notesSlide" Target="/ppt/notesSlides/notesSlide38.xml" Id="R9b225c2b4aa8445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268001f7cae4312" /><Relationship Type="http://schemas.openxmlformats.org/officeDocument/2006/relationships/image" Target="/ppt/media/image10.png" Id="Rec79377be7a74f03" /><Relationship Type="http://schemas.openxmlformats.org/officeDocument/2006/relationships/notesSlide" Target="/ppt/notesSlides/notesSlide39.xml" Id="Ra1af9373055f4b8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a2cb4bab8b14b18" /><Relationship Type="http://schemas.openxmlformats.org/officeDocument/2006/relationships/image" Target="/ppt/media/image11.png" Id="R933e7c32279841f8" /><Relationship Type="http://schemas.openxmlformats.org/officeDocument/2006/relationships/image" Target="/ppt/media/image12.png" Id="R7d3830c61b9440e4" /><Relationship Type="http://schemas.openxmlformats.org/officeDocument/2006/relationships/image" Target="/ppt/media/image13.png" Id="Rda6c87a052e745fa" /><Relationship Type="http://schemas.openxmlformats.org/officeDocument/2006/relationships/notesSlide" Target="/ppt/notesSlides/notesSlide40.xml" Id="Rf8def1190c90409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5201790e07c4df9" /><Relationship Type="http://schemas.openxmlformats.org/officeDocument/2006/relationships/notesSlide" Target="/ppt/notesSlides/notesSlide41.xml" Id="Rbe2f0fa45ccb49d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170b9bb78194251" /><Relationship Type="http://schemas.openxmlformats.org/officeDocument/2006/relationships/notesSlide" Target="/ppt/notesSlides/notesSlide42.xml" Id="Re12d0642f0b04ec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3380303043c432d" /><Relationship Type="http://schemas.openxmlformats.org/officeDocument/2006/relationships/notesSlide" Target="/ppt/notesSlides/notesSlide43.xml" Id="Raaf83dc854a4410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3804c38373e4680" /><Relationship Type="http://schemas.openxmlformats.org/officeDocument/2006/relationships/image" Target="/ppt/media/image14.png" Id="Ra22070074ea247fc" /><Relationship Type="http://schemas.openxmlformats.org/officeDocument/2006/relationships/notesSlide" Target="/ppt/notesSlides/notesSlide44.xml" Id="R3a7c939f62d648d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0a6a545c489483f" /><Relationship Type="http://schemas.openxmlformats.org/officeDocument/2006/relationships/notesSlide" Target="/ppt/notesSlides/notesSlide45.xml" Id="R701d349bd1e64ee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01c0168849248ab" /><Relationship Type="http://schemas.openxmlformats.org/officeDocument/2006/relationships/notesSlide" Target="/ppt/notesSlides/notesSlide46.xml" Id="R9fc39921d0af4d5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5df7de6110f4458" /><Relationship Type="http://schemas.openxmlformats.org/officeDocument/2006/relationships/image" Target="/ppt/media/image15.png" Id="Rf63e70d707e94333" /><Relationship Type="http://schemas.openxmlformats.org/officeDocument/2006/relationships/notesSlide" Target="/ppt/notesSlides/notesSlide47.xml" Id="R5c52ee27f3a949b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8e740659a234888" /><Relationship Type="http://schemas.openxmlformats.org/officeDocument/2006/relationships/image" Target="/ppt/media/image16.png" Id="R9515b3ca8a2d458c" /><Relationship Type="http://schemas.openxmlformats.org/officeDocument/2006/relationships/image" Target="/ppt/media/image17.png" Id="R65311730190c473e" /><Relationship Type="http://schemas.openxmlformats.org/officeDocument/2006/relationships/image" Target="/ppt/media/image18.png" Id="R85a2f5478fc34930" /><Relationship Type="http://schemas.openxmlformats.org/officeDocument/2006/relationships/notesSlide" Target="/ppt/notesSlides/notesSlide48.xml" Id="Rfdaed566d7ca4ea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d1627b3255f4ff1" /><Relationship Type="http://schemas.openxmlformats.org/officeDocument/2006/relationships/notesSlide" Target="/ppt/notesSlides/notesSlide49.xml" Id="R82cd1e9061a4403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d166a69193e4eee" /><Relationship Type="http://schemas.openxmlformats.org/officeDocument/2006/relationships/notesSlide" Target="/ppt/notesSlides/notesSlide50.xml" Id="R918e8dabffd1448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a3627cd679a4540" /><Relationship Type="http://schemas.openxmlformats.org/officeDocument/2006/relationships/notesSlide" Target="/ppt/notesSlides/notesSlide51.xml" Id="R8968b21e62a244c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4b57714332044a3" /><Relationship Type="http://schemas.openxmlformats.org/officeDocument/2006/relationships/notesSlide" Target="/ppt/notesSlides/notesSlide52.xml" Id="R8a3a21533b7b405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163834c6b2641ff" /><Relationship Type="http://schemas.openxmlformats.org/officeDocument/2006/relationships/notesSlide" Target="/ppt/notesSlides/notesSlide53.xml" Id="R39df135ef9584be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112d57020f64490" /><Relationship Type="http://schemas.openxmlformats.org/officeDocument/2006/relationships/notesSlide" Target="/ppt/notesSlides/notesSlide54.xml" Id="R125eadd7d0424a0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0099343360c46ee" /><Relationship Type="http://schemas.openxmlformats.org/officeDocument/2006/relationships/notesSlide" Target="/ppt/notesSlides/notesSlide55.xml" Id="R621cd1d571e14b7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33af4a2fe254c07" /><Relationship Type="http://schemas.openxmlformats.org/officeDocument/2006/relationships/notesSlide" Target="/ppt/notesSlides/notesSlide56.xml" Id="R8559e1b9a81346c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0c0391c24524f5a" /><Relationship Type="http://schemas.openxmlformats.org/officeDocument/2006/relationships/notesSlide" Target="/ppt/notesSlides/notesSlide57.xml" Id="Rec160e24eeca416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1627805c47746a5" /><Relationship Type="http://schemas.openxmlformats.org/officeDocument/2006/relationships/image" Target="/ppt/media/image19.png" Id="R2cb80f83de1248d8" /><Relationship Type="http://schemas.openxmlformats.org/officeDocument/2006/relationships/notesSlide" Target="/ppt/notesSlides/notesSlide58.xml" Id="R15f103b7ef9e46d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d29b9bc1ef84dc3" /><Relationship Type="http://schemas.openxmlformats.org/officeDocument/2006/relationships/notesSlide" Target="/ppt/notesSlides/notesSlide59.xml" Id="R411a9255561a442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392712fafe114d61" /><Relationship Type="http://schemas.openxmlformats.org/officeDocument/2006/relationships/image" Target="/ppt/media/image20.png" Id="R15be034606ad4e7f" /><Relationship Type="http://schemas.openxmlformats.org/officeDocument/2006/relationships/notesSlide" Target="/ppt/notesSlides/notesSlide60.xml" Id="R9b58f0f9dc10453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3b2b8af5ffe46aa" /><Relationship Type="http://schemas.openxmlformats.org/officeDocument/2006/relationships/notesSlide" Target="/ppt/notesSlides/notesSlide61.xml" Id="R7b0ac97b121949a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dd86b06c9dc4d13" /><Relationship Type="http://schemas.openxmlformats.org/officeDocument/2006/relationships/notesSlide" Target="/ppt/notesSlides/notesSlide62.xml" Id="R8f45187a7cc7472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278bd65c7e24c4f" /><Relationship Type="http://schemas.openxmlformats.org/officeDocument/2006/relationships/notesSlide" Target="/ppt/notesSlides/notesSlide63.xml" Id="R05ffcb895bba475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8b1cf7d7afa4732" /><Relationship Type="http://schemas.openxmlformats.org/officeDocument/2006/relationships/notesSlide" Target="/ppt/notesSlides/notesSlide64.xml" Id="R3c36f9b11dc64a0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faf252b087a342f6" /><Relationship Type="http://schemas.openxmlformats.org/officeDocument/2006/relationships/notesSlide" Target="/ppt/notesSlides/notesSlide65.xml" Id="Ra76901e4f05f41c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aabe94255c764f01" /><Relationship Type="http://schemas.openxmlformats.org/officeDocument/2006/relationships/notesSlide" Target="/ppt/notesSlides/notesSlide66.xml" Id="R29d3216d8f0747e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0bc82ae1760043a4" /><Relationship Type="http://schemas.openxmlformats.org/officeDocument/2006/relationships/notesSlide" Target="/ppt/notesSlides/notesSlide67.xml" Id="Rca92c2461af34eb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d489e8b24fa4ec4" /><Relationship Type="http://schemas.openxmlformats.org/officeDocument/2006/relationships/notesSlide" Target="/ppt/notesSlides/notesSlide68.xml" Id="R70f179456f3749f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80ab4ced58a242e1" /><Relationship Type="http://schemas.openxmlformats.org/officeDocument/2006/relationships/notesSlide" Target="/ppt/notesSlides/notesSlide69.xml" Id="R52cc248cc6834b3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a4206b3d4cba4a64" /><Relationship Type="http://schemas.openxmlformats.org/officeDocument/2006/relationships/notesSlide" Target="/ppt/notesSlides/notesSlide70.xml" Id="R94a7ee7f63e840f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775a35b3cd34620" /><Relationship Type="http://schemas.openxmlformats.org/officeDocument/2006/relationships/notesSlide" Target="/ppt/notesSlides/notesSlide71.xml" Id="Rbf2a7b7f24a84d0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a2d64eff85549f9" /><Relationship Type="http://schemas.openxmlformats.org/officeDocument/2006/relationships/notesSlide" Target="/ppt/notesSlides/notesSlide72.xml" Id="R12790fdb0e1c48cc"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bef4a0ef7294667" /><Relationship Type="http://schemas.openxmlformats.org/officeDocument/2006/relationships/notesSlide" Target="/ppt/notesSlides/notesSlide73.xml" Id="R6c928530abd2413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4064cc0174c142a9" /><Relationship Type="http://schemas.openxmlformats.org/officeDocument/2006/relationships/notesSlide" Target="/ppt/notesSlides/notesSlide74.xml" Id="Rca4d256e38ad4a74"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8d24c31c970b4dae" /><Relationship Type="http://schemas.openxmlformats.org/officeDocument/2006/relationships/notesSlide" Target="/ppt/notesSlides/notesSlide75.xml" Id="R923bb6fd0988475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3f31cef46151430b" /><Relationship Type="http://schemas.openxmlformats.org/officeDocument/2006/relationships/notesSlide" Target="/ppt/notesSlides/notesSlide76.xml" Id="Rddb04da6f94145d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11b117de8eb445d5" /><Relationship Type="http://schemas.openxmlformats.org/officeDocument/2006/relationships/notesSlide" Target="/ppt/notesSlides/notesSlide77.xml" Id="R6e032696c62b418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926fa33aeb624513" /><Relationship Type="http://schemas.openxmlformats.org/officeDocument/2006/relationships/notesSlide" Target="/ppt/notesSlides/notesSlide78.xml" Id="R170d760bf02043e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59d90ee1eae444e1" /><Relationship Type="http://schemas.openxmlformats.org/officeDocument/2006/relationships/notesSlide" Target="/ppt/notesSlides/notesSlide79.xml" Id="Rc715f17678204df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a065ec89f3af4a46" /><Relationship Type="http://schemas.openxmlformats.org/officeDocument/2006/relationships/notesSlide" Target="/ppt/notesSlides/notesSlide80.xml" Id="R71f1320ad33d43a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ce224690d50b4e5f" /><Relationship Type="http://schemas.openxmlformats.org/officeDocument/2006/relationships/notesSlide" Target="/ppt/notesSlides/notesSlide81.xml" Id="Rc89c22d5188a43fc"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b779af52014b4beb" /><Relationship Type="http://schemas.openxmlformats.org/officeDocument/2006/relationships/notesSlide" Target="/ppt/notesSlides/notesSlide82.xml" Id="R257f76dcf3b84635"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e9a274511aa84eae" /><Relationship Type="http://schemas.openxmlformats.org/officeDocument/2006/relationships/notesSlide" Target="/ppt/notesSlides/notesSlide83.xml" Id="Ref4c4c8412ab420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3a1b7463baa5420c" /><Relationship Type="http://schemas.openxmlformats.org/officeDocument/2006/relationships/notesSlide" Target="/ppt/notesSlides/notesSlide84.xml" Id="R0a7903c75bef4592"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7186f42c3ddd4d58" /><Relationship Type="http://schemas.openxmlformats.org/officeDocument/2006/relationships/notesSlide" Target="/ppt/notesSlides/notesSlide85.xml" Id="Rcd7da12651d74b5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eb278a506a0e41b1" /><Relationship Type="http://schemas.openxmlformats.org/officeDocument/2006/relationships/notesSlide" Target="/ppt/notesSlides/notesSlide86.xml" Id="R5af08e55a93b40c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7b0f173fc7944107" /><Relationship Type="http://schemas.openxmlformats.org/officeDocument/2006/relationships/notesSlide" Target="/ppt/notesSlides/notesSlide87.xml" Id="R4fb1826eb11f492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51c63fb5bb2f4669" /><Relationship Type="http://schemas.openxmlformats.org/officeDocument/2006/relationships/notesSlide" Target="/ppt/notesSlides/notesSlide88.xml" Id="R5ec6c4e546274db1"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ad25ba0471c54934" /><Relationship Type="http://schemas.openxmlformats.org/officeDocument/2006/relationships/notesSlide" Target="/ppt/notesSlides/notesSlide89.xml" Id="Rc9f30f20267a4ef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e0db71b4f3234e26" /><Relationship Type="http://schemas.openxmlformats.org/officeDocument/2006/relationships/notesSlide" Target="/ppt/notesSlides/notesSlide90.xml" Id="R556b38e9a6c54cc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fc5bcadddff8424b" /><Relationship Type="http://schemas.openxmlformats.org/officeDocument/2006/relationships/notesSlide" Target="/ppt/notesSlides/notesSlide91.xml" Id="R9a8462360aec4f26"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3e460eefafbb4931" /><Relationship Type="http://schemas.openxmlformats.org/officeDocument/2006/relationships/notesSlide" Target="/ppt/notesSlides/notesSlide92.xml" Id="R00d22e6dcbfa4936"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2ec1aea12c77499e" /><Relationship Type="http://schemas.openxmlformats.org/officeDocument/2006/relationships/notesSlide" Target="/ppt/notesSlides/notesSlide93.xml" Id="Ra60a1861f150421c"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94f0e4f7ee884e48" /><Relationship Type="http://schemas.openxmlformats.org/officeDocument/2006/relationships/notesSlide" Target="/ppt/notesSlides/notesSlide94.xml" Id="Rcf514fc001ae4219"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cd8bbc7c51034a87" /><Relationship Type="http://schemas.openxmlformats.org/officeDocument/2006/relationships/notesSlide" Target="/ppt/notesSlides/notesSlide95.xml" Id="R710c747de19148f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d485c2f8085c4c4a" /><Relationship Type="http://schemas.openxmlformats.org/officeDocument/2006/relationships/notesSlide" Target="/ppt/notesSlides/notesSlide96.xml" Id="R0b0034fae6e64c8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b96ecf761ec648a7" /><Relationship Type="http://schemas.openxmlformats.org/officeDocument/2006/relationships/notesSlide" Target="/ppt/notesSlides/notesSlide97.xml" Id="Rafcbe5da5e62468a"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3207168cf94d42d3" /><Relationship Type="http://schemas.openxmlformats.org/officeDocument/2006/relationships/notesSlide" Target="/ppt/notesSlides/notesSlide98.xml" Id="R68e95653d77340a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7b7faded314242e0" /><Relationship Type="http://schemas.openxmlformats.org/officeDocument/2006/relationships/notesSlide" Target="/ppt/notesSlides/notesSlide99.xml" Id="Rfceed57b07704527"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361655b8d9044d17" /><Relationship Type="http://schemas.openxmlformats.org/officeDocument/2006/relationships/notesSlide" Target="/ppt/notesSlides/notesSlide100.xml" Id="R2031a1ecdca44e96"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1a3b6b5faff64b00" /><Relationship Type="http://schemas.openxmlformats.org/officeDocument/2006/relationships/notesSlide" Target="/ppt/notesSlides/notesSlide101.xml" Id="R25ca1464da054374"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65c448ccba684458" /><Relationship Type="http://schemas.openxmlformats.org/officeDocument/2006/relationships/notesSlide" Target="/ppt/notesSlides/notesSlide102.xml" Id="R2794ddf903ca4d8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4c51c5a7175d4ee9" /><Relationship Type="http://schemas.openxmlformats.org/officeDocument/2006/relationships/notesSlide" Target="/ppt/notesSlides/notesSlide103.xml" Id="Re548a71bfd974e15"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47f4c9245ba8466e" /><Relationship Type="http://schemas.openxmlformats.org/officeDocument/2006/relationships/notesSlide" Target="/ppt/notesSlides/notesSlide104.xml" Id="R7081dfbcf899426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8c11d2c432b346ff" /><Relationship Type="http://schemas.openxmlformats.org/officeDocument/2006/relationships/notesSlide" Target="/ppt/notesSlides/notesSlide105.xml" Id="R3b39afe7ae5e4dc9"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56c27229c796436c" /><Relationship Type="http://schemas.openxmlformats.org/officeDocument/2006/relationships/notesSlide" Target="/ppt/notesSlides/notesSlide106.xml" Id="R580a6b62741e4b0a"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b26411c813f44c5e" /><Relationship Type="http://schemas.openxmlformats.org/officeDocument/2006/relationships/notesSlide" Target="/ppt/notesSlides/notesSlide107.xml" Id="Rae0adf1817fd436f"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f0c56b8b56ff4e56" /><Relationship Type="http://schemas.openxmlformats.org/officeDocument/2006/relationships/notesSlide" Target="/ppt/notesSlides/notesSlide108.xml" Id="R694b34dd9c13474e"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a934e549d24b4ba4" /><Relationship Type="http://schemas.openxmlformats.org/officeDocument/2006/relationships/notesSlide" Target="/ppt/notesSlides/notesSlide109.xml" Id="R53cca5cb0f874813"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b3dfd687c5d04240" /><Relationship Type="http://schemas.openxmlformats.org/officeDocument/2006/relationships/notesSlide" Target="/ppt/notesSlides/notesSlide110.xml" Id="Rd9a73376e2f34086"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295f69408af34f44" /><Relationship Type="http://schemas.openxmlformats.org/officeDocument/2006/relationships/notesSlide" Target="/ppt/notesSlides/notesSlide111.xml" Id="R9cf1c93eaf73425c"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bfef7b29cfb54250" /><Relationship Type="http://schemas.openxmlformats.org/officeDocument/2006/relationships/notesSlide" Target="/ppt/notesSlides/notesSlide112.xml" Id="R68a3ba233b9749a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a7f2b7f1f9e74ee6" /><Relationship Type="http://schemas.openxmlformats.org/officeDocument/2006/relationships/notesSlide" Target="/ppt/notesSlides/notesSlide113.xml" Id="Rf8f006b1bda14f60"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d036ddec5ff74095" /><Relationship Type="http://schemas.openxmlformats.org/officeDocument/2006/relationships/notesSlide" Target="/ppt/notesSlides/notesSlide114.xml" Id="Ra44d2ee9370247ca"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7fc7abe0aecb4915" /><Relationship Type="http://schemas.openxmlformats.org/officeDocument/2006/relationships/notesSlide" Target="/ppt/notesSlides/notesSlide115.xml" Id="R8c122c48b43e4707"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7385593bae004175" /><Relationship Type="http://schemas.openxmlformats.org/officeDocument/2006/relationships/notesSlide" Target="/ppt/notesSlides/notesSlide116.xml" Id="R210159653eed413e"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2608d25f946d4e47" /><Relationship Type="http://schemas.openxmlformats.org/officeDocument/2006/relationships/notesSlide" Target="/ppt/notesSlides/notesSlide117.xml" Id="R2413ee7d163b4f3a"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b9e830077a364025" /><Relationship Type="http://schemas.openxmlformats.org/officeDocument/2006/relationships/notesSlide" Target="/ppt/notesSlides/notesSlide118.xml" Id="R13fae710df8947d9"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5d7356c00c1c4e11" /><Relationship Type="http://schemas.openxmlformats.org/officeDocument/2006/relationships/notesSlide" Target="/ppt/notesSlides/notesSlide119.xml" Id="R79e794ff6e824ea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5da88dba70f44809" /><Relationship Type="http://schemas.openxmlformats.org/officeDocument/2006/relationships/notesSlide" Target="/ppt/notesSlides/notesSlide120.xml" Id="Rd5522fc5b48d4995"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bdad1b9ecd5c4618" /><Relationship Type="http://schemas.openxmlformats.org/officeDocument/2006/relationships/notesSlide" Target="/ppt/notesSlides/notesSlide121.xml" Id="Rcdfa1b564da54ce5"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46ca808e6e0d4c00" /><Relationship Type="http://schemas.openxmlformats.org/officeDocument/2006/relationships/notesSlide" Target="/ppt/notesSlides/notesSlide122.xml" Id="Rb31660b075034b30"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f63e12a8051d43d0" /><Relationship Type="http://schemas.openxmlformats.org/officeDocument/2006/relationships/notesSlide" Target="/ppt/notesSlides/notesSlide123.xml" Id="Rd8322e51ad704c26"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528a8c2704aa4498" /><Relationship Type="http://schemas.openxmlformats.org/officeDocument/2006/relationships/notesSlide" Target="/ppt/notesSlides/notesSlide124.xml" Id="R147a7fca10734b41"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fe2e61ef80224334" /><Relationship Type="http://schemas.openxmlformats.org/officeDocument/2006/relationships/notesSlide" Target="/ppt/notesSlides/notesSlide125.xml" Id="R06f9484adbec40f0"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a75362e70ab541e6" /><Relationship Type="http://schemas.openxmlformats.org/officeDocument/2006/relationships/notesSlide" Target="/ppt/notesSlides/notesSlide126.xml" Id="R3bd1c504c9c64d42"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13a1cc134fd5444c" /><Relationship Type="http://schemas.openxmlformats.org/officeDocument/2006/relationships/notesSlide" Target="/ppt/notesSlides/notesSlide127.xml" Id="Ref590318923d4d9d"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6f02f3d38b294c93" /><Relationship Type="http://schemas.openxmlformats.org/officeDocument/2006/relationships/notesSlide" Target="/ppt/notesSlides/notesSlide128.xml" Id="R5d2f6375210a4733" /></Relationships>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10ADC0-6553-4B6C-9DBC-89749398A83B}"/>
              </a:ext>
            </a:extLst>
          </p:cNvPr>
          <p:cNvSpPr>
            <a:spLocks xmlns:a="http://schemas.openxmlformats.org/drawingml/2006/main" noGrp="1"/>
          </p:cNvSpPr>
          <p:nvPr/>
        </p:nvSpPr>
        <p:spPr>
          <a:xfrm xmlns:a="http://schemas.openxmlformats.org/drawingml/2006/main">
            <a:off x="685800" y="619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6BD5CE"/>
                </a:solidFill>
                <a:latin typeface="Aptos"/>
                <a:ea typeface="Aptos"/>
                <a:cs typeface="Aptos"/>
              </a:defRPr>
            </a:pPr>
            <a:r>
              <a:rPr sz="1875" b="1">
                <a:solidFill>
                  <a:srgbClr val="6BD5CE"/>
                </a:solidFill>
                <a:latin typeface="Aptos"/>
                <a:ea typeface="Aptos"/>
                <a:cs typeface="Aptos"/>
              </a:rPr>
              <a:t>Technical Implementation Plan &amp; Proposal</a:t>
            </a:r>
          </a:p>
        </p:txBody>
      </p:sp>
      <p:sp>
        <p:nvSpPr>
          <p:cNvPr id="2" name="">
            <a:extLst xmlns:a="http://schemas.openxmlformats.org/drawingml/2006/main">
              <a:ext uri="{FF2B5EF4-FFF2-40B4-BE49-F238E27FC236}">
                <a16:creationId xmlns:a16="http://schemas.microsoft.com/office/drawing/2014/main" id="{97B930DD-3659-4FDE-9EDA-F30C012173F6}"/>
              </a:ext>
            </a:extLst>
          </p:cNvPr>
          <p:cNvSpPr>
            <a:spLocks xmlns:a="http://schemas.openxmlformats.org/drawingml/2006/main" noGrp="1"/>
          </p:cNvSpPr>
          <p:nvPr/>
        </p:nvSpPr>
        <p:spPr>
          <a:xfrm xmlns:a="http://schemas.openxmlformats.org/drawingml/2006/main">
            <a:off x="685800" y="1762125"/>
            <a:ext cx="9906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75" b="1">
                <a:solidFill>
                  <a:srgbClr val="FFFFFF"/>
                </a:solidFill>
                <a:latin typeface="Aptos"/>
                <a:ea typeface="Aptos"/>
                <a:cs typeface="Aptos"/>
              </a:defRPr>
            </a:pPr>
            <a:r>
              <a:rPr sz="4875" b="1">
                <a:solidFill>
                  <a:srgbClr val="FFFFFF"/>
                </a:solidFill>
                <a:latin typeface="Aptos"/>
                <a:ea typeface="Aptos"/>
                <a:cs typeface="Aptos"/>
              </a:rPr>
              <a:t>Multi-Tenant Marketing Intelligence Dashboard</a:t>
            </a:r>
          </a:p>
        </p:txBody>
      </p:sp>
      <p:sp>
        <p:nvSpPr>
          <p:cNvPr id="3" name="">
            <a:extLst xmlns:a="http://schemas.openxmlformats.org/drawingml/2006/main">
              <a:ext uri="{FF2B5EF4-FFF2-40B4-BE49-F238E27FC236}">
                <a16:creationId xmlns:a16="http://schemas.microsoft.com/office/drawing/2014/main" id="{AECBC77C-3263-4613-A749-A2D95A03B893}"/>
              </a:ext>
            </a:extLst>
          </p:cNvPr>
          <p:cNvSpPr>
            <a:spLocks xmlns:a="http://schemas.openxmlformats.org/drawingml/2006/main" noGrp="1"/>
          </p:cNvSpPr>
          <p:nvPr/>
        </p:nvSpPr>
        <p:spPr>
          <a:xfrm xmlns:a="http://schemas.openxmlformats.org/drawingml/2006/main">
            <a:off x="723900" y="48101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CEDCE5"/>
                </a:solidFill>
                <a:latin typeface="Aptos"/>
                <a:ea typeface="Aptos"/>
                <a:cs typeface="Aptos"/>
              </a:defRPr>
            </a:pPr>
            <a:r>
              <a:rPr sz="1575" b="0">
                <a:solidFill>
                  <a:srgbClr val="CEDCE5"/>
                </a:solidFill>
                <a:latin typeface="Aptos"/>
                <a:ea typeface="Aptos"/>
                <a:cs typeface="Aptos"/>
              </a:rPr>
              <a:t>Prepared for: Client RFP — Multi-Tenant SaaS Dashboard</a:t>
            </a:r>
          </a:p>
          <a:p xmlns:a="http://schemas.openxmlformats.org/drawingml/2006/main">
            <a:pPr>
              <a:defRPr sz="1575" b="0">
                <a:solidFill>
                  <a:srgbClr val="CEDCE5"/>
                </a:solidFill>
                <a:latin typeface="Aptos"/>
                <a:ea typeface="Aptos"/>
                <a:cs typeface="Aptos"/>
              </a:defRPr>
            </a:pPr>
            <a:r>
              <a:rPr sz="1575" b="0">
                <a:solidFill>
                  <a:srgbClr val="CEDCE5"/>
                </a:solidFill>
                <a:latin typeface="Aptos"/>
                <a:ea typeface="Aptos"/>
                <a:cs typeface="Aptos"/>
              </a:rPr>
              <a:t>Version: 1.0</a:t>
            </a:r>
          </a:p>
          <a:p xmlns:a="http://schemas.openxmlformats.org/drawingml/2006/main">
            <a:pPr>
              <a:defRPr sz="1575" b="0">
                <a:solidFill>
                  <a:srgbClr val="CEDCE5"/>
                </a:solidFill>
                <a:latin typeface="Aptos"/>
                <a:ea typeface="Aptos"/>
                <a:cs typeface="Aptos"/>
              </a:defRPr>
            </a:pPr>
            <a:r>
              <a:rPr sz="1575" b="0">
                <a:solidFill>
                  <a:srgbClr val="CEDCE5"/>
                </a:solidFill>
                <a:latin typeface="Aptos"/>
                <a:ea typeface="Aptos"/>
                <a:cs typeface="Aptos"/>
              </a:rPr>
              <a:t>Date: September 2026</a:t>
            </a:r>
          </a:p>
          <a:p xmlns:a="http://schemas.openxmlformats.org/drawingml/2006/main">
            <a:pPr>
              <a:defRPr sz="1575" b="0">
                <a:solidFill>
                  <a:srgbClr val="CEDCE5"/>
                </a:solidFill>
                <a:latin typeface="Aptos"/>
                <a:ea typeface="Aptos"/>
                <a:cs typeface="Aptos"/>
              </a:defRPr>
            </a:pPr>
            <a:r>
              <a:rPr sz="1575" b="0">
                <a:solidFill>
                  <a:srgbClr val="CEDCE5"/>
                </a:solidFill>
                <a:latin typeface="Aptos"/>
                <a:ea typeface="Aptos"/>
                <a:cs typeface="Aptos"/>
              </a:rPr>
              <a:t>Classification: Confidential — Client Proposal</a:t>
            </a:r>
          </a:p>
        </p:txBody>
      </p:sp>
    </p:spTree>
    <p:extLst>
      <p:ext uri="{BB962C8B-B14F-4D97-AF65-F5344CB8AC3E}">
        <p14:creationId xmlns:p14="http://schemas.microsoft.com/office/powerpoint/2010/main" val="6528958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F723A07-C93B-42E8-8E1D-94367F916C37}"/>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Table of Contents</a:t>
            </a:r>
          </a:p>
        </p:txBody>
      </p:sp>
      <p:sp>
        <p:nvSpPr>
          <p:cNvPr id="2" name="">
            <a:extLst xmlns:a="http://schemas.openxmlformats.org/drawingml/2006/main">
              <a:ext uri="{FF2B5EF4-FFF2-40B4-BE49-F238E27FC236}">
                <a16:creationId xmlns:a16="http://schemas.microsoft.com/office/drawing/2014/main" id="{4948E221-D41C-466C-B3A6-5A7DCDC835C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3B0DBE24-60F0-46CB-84CB-5E419C53DDE1}"/>
              </a:ext>
            </a:extLst>
          </p:cNvPr>
          <p:cNvSpPr>
            <a:spLocks xmlns:a="http://schemas.openxmlformats.org/drawingml/2006/main" noGrp="1"/>
          </p:cNvSpPr>
          <p:nvPr/>
        </p:nvSpPr>
        <p:spPr>
          <a:xfrm xmlns:a="http://schemas.openxmlformats.org/drawingml/2006/main">
            <a:off x="723900" y="1857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Executive Summary</a:t>
            </a:r>
          </a:p>
        </p:txBody>
      </p:sp>
      <p:sp>
        <p:nvSpPr>
          <p:cNvPr id="4" name="">
            <a:extLst xmlns:a="http://schemas.openxmlformats.org/drawingml/2006/main">
              <a:ext uri="{FF2B5EF4-FFF2-40B4-BE49-F238E27FC236}">
                <a16:creationId xmlns:a16="http://schemas.microsoft.com/office/drawing/2014/main" id="{D9A95F1F-1E44-4A4B-8DF4-084B942A6C28}"/>
              </a:ext>
            </a:extLst>
          </p:cNvPr>
          <p:cNvSpPr>
            <a:spLocks xmlns:a="http://schemas.openxmlformats.org/drawingml/2006/main" noGrp="1"/>
          </p:cNvSpPr>
          <p:nvPr/>
        </p:nvSpPr>
        <p:spPr>
          <a:xfrm xmlns:a="http://schemas.openxmlformats.org/drawingml/2006/main">
            <a:off x="723900" y="2238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Solution Architecture Overview</a:t>
            </a:r>
          </a:p>
        </p:txBody>
      </p:sp>
      <p:sp>
        <p:nvSpPr>
          <p:cNvPr id="5" name="">
            <a:extLst xmlns:a="http://schemas.openxmlformats.org/drawingml/2006/main">
              <a:ext uri="{FF2B5EF4-FFF2-40B4-BE49-F238E27FC236}">
                <a16:creationId xmlns:a16="http://schemas.microsoft.com/office/drawing/2014/main" id="{04439C3E-4C33-4278-BDA7-E4F1D79DA03F}"/>
              </a:ext>
            </a:extLst>
          </p:cNvPr>
          <p:cNvSpPr>
            <a:spLocks xmlns:a="http://schemas.openxmlformats.org/drawingml/2006/main" noGrp="1"/>
          </p:cNvSpPr>
          <p:nvPr/>
        </p:nvSpPr>
        <p:spPr>
          <a:xfrm xmlns:a="http://schemas.openxmlformats.org/drawingml/2006/main">
            <a:off x="723900" y="2619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Technology Stack &amp; Justification</a:t>
            </a:r>
          </a:p>
        </p:txBody>
      </p:sp>
      <p:sp>
        <p:nvSpPr>
          <p:cNvPr id="6" name="">
            <a:extLst xmlns:a="http://schemas.openxmlformats.org/drawingml/2006/main">
              <a:ext uri="{FF2B5EF4-FFF2-40B4-BE49-F238E27FC236}">
                <a16:creationId xmlns:a16="http://schemas.microsoft.com/office/drawing/2014/main" id="{A5FE79A6-31F0-4316-88D9-565A9EF00B6C}"/>
              </a:ext>
            </a:extLst>
          </p:cNvPr>
          <p:cNvSpPr>
            <a:spLocks xmlns:a="http://schemas.openxmlformats.org/drawingml/2006/main" noGrp="1"/>
          </p:cNvSpPr>
          <p:nvPr/>
        </p:nvSpPr>
        <p:spPr>
          <a:xfrm xmlns:a="http://schemas.openxmlformats.org/drawingml/2006/main">
            <a:off x="723900" y="3000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Multi-Tenancy Strategy</a:t>
            </a:r>
          </a:p>
        </p:txBody>
      </p:sp>
      <p:sp>
        <p:nvSpPr>
          <p:cNvPr id="7" name="">
            <a:extLst xmlns:a="http://schemas.openxmlformats.org/drawingml/2006/main">
              <a:ext uri="{FF2B5EF4-FFF2-40B4-BE49-F238E27FC236}">
                <a16:creationId xmlns:a16="http://schemas.microsoft.com/office/drawing/2014/main" id="{E7F5DCB5-2B5A-4AD8-8774-45B26B9AB6BA}"/>
              </a:ext>
            </a:extLst>
          </p:cNvPr>
          <p:cNvSpPr>
            <a:spLocks xmlns:a="http://schemas.openxmlformats.org/drawingml/2006/main" noGrp="1"/>
          </p:cNvSpPr>
          <p:nvPr/>
        </p:nvSpPr>
        <p:spPr>
          <a:xfrm xmlns:a="http://schemas.openxmlformats.org/drawingml/2006/main">
            <a:off x="723900" y="3381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Database Design</a:t>
            </a:r>
          </a:p>
        </p:txBody>
      </p:sp>
      <p:sp>
        <p:nvSpPr>
          <p:cNvPr id="8" name="">
            <a:extLst xmlns:a="http://schemas.openxmlformats.org/drawingml/2006/main">
              <a:ext uri="{FF2B5EF4-FFF2-40B4-BE49-F238E27FC236}">
                <a16:creationId xmlns:a16="http://schemas.microsoft.com/office/drawing/2014/main" id="{F4BDEA97-02A3-4C88-9912-0F4BD2817D47}"/>
              </a:ext>
            </a:extLst>
          </p:cNvPr>
          <p:cNvSpPr>
            <a:spLocks xmlns:a="http://schemas.openxmlformats.org/drawingml/2006/main" noGrp="1"/>
          </p:cNvSpPr>
          <p:nvPr/>
        </p:nvSpPr>
        <p:spPr>
          <a:xfrm xmlns:a="http://schemas.openxmlformats.org/drawingml/2006/main">
            <a:off x="723900" y="3762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Authentication &amp; Authorization</a:t>
            </a:r>
          </a:p>
        </p:txBody>
      </p:sp>
      <p:sp>
        <p:nvSpPr>
          <p:cNvPr id="9" name="">
            <a:extLst xmlns:a="http://schemas.openxmlformats.org/drawingml/2006/main">
              <a:ext uri="{FF2B5EF4-FFF2-40B4-BE49-F238E27FC236}">
                <a16:creationId xmlns:a16="http://schemas.microsoft.com/office/drawing/2014/main" id="{20B57D13-802F-4A4E-9220-504442037802}"/>
              </a:ext>
            </a:extLst>
          </p:cNvPr>
          <p:cNvSpPr>
            <a:spLocks xmlns:a="http://schemas.openxmlformats.org/drawingml/2006/main" noGrp="1"/>
          </p:cNvSpPr>
          <p:nvPr/>
        </p:nvSpPr>
        <p:spPr>
          <a:xfrm xmlns:a="http://schemas.openxmlformats.org/drawingml/2006/main">
            <a:off x="723900" y="4143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Data Pipeline Architecture</a:t>
            </a:r>
          </a:p>
        </p:txBody>
      </p:sp>
      <p:sp>
        <p:nvSpPr>
          <p:cNvPr id="10" name="">
            <a:extLst xmlns:a="http://schemas.openxmlformats.org/drawingml/2006/main">
              <a:ext uri="{FF2B5EF4-FFF2-40B4-BE49-F238E27FC236}">
                <a16:creationId xmlns:a16="http://schemas.microsoft.com/office/drawing/2014/main" id="{5B0B5356-96E3-4605-8292-ED9796824EB9}"/>
              </a:ext>
            </a:extLst>
          </p:cNvPr>
          <p:cNvSpPr>
            <a:spLocks xmlns:a="http://schemas.openxmlformats.org/drawingml/2006/main" noGrp="1"/>
          </p:cNvSpPr>
          <p:nvPr/>
        </p:nvSpPr>
        <p:spPr>
          <a:xfrm xmlns:a="http://schemas.openxmlformats.org/drawingml/2006/main">
            <a:off x="723900" y="4524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API Design</a:t>
            </a:r>
          </a:p>
        </p:txBody>
      </p:sp>
      <p:sp>
        <p:nvSpPr>
          <p:cNvPr id="11" name="">
            <a:extLst xmlns:a="http://schemas.openxmlformats.org/drawingml/2006/main">
              <a:ext uri="{FF2B5EF4-FFF2-40B4-BE49-F238E27FC236}">
                <a16:creationId xmlns:a16="http://schemas.microsoft.com/office/drawing/2014/main" id="{240DB85C-406E-4A63-B735-164355E1CE20}"/>
              </a:ext>
            </a:extLst>
          </p:cNvPr>
          <p:cNvSpPr>
            <a:spLocks xmlns:a="http://schemas.openxmlformats.org/drawingml/2006/main" noGrp="1"/>
          </p:cNvSpPr>
          <p:nvPr/>
        </p:nvSpPr>
        <p:spPr>
          <a:xfrm xmlns:a="http://schemas.openxmlformats.org/drawingml/2006/main">
            <a:off x="723900" y="4905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Frontend &amp; Dashboard Architecture</a:t>
            </a:r>
          </a:p>
        </p:txBody>
      </p:sp>
      <p:sp>
        <p:nvSpPr>
          <p:cNvPr id="12" name="">
            <a:extLst xmlns:a="http://schemas.openxmlformats.org/drawingml/2006/main">
              <a:ext uri="{FF2B5EF4-FFF2-40B4-BE49-F238E27FC236}">
                <a16:creationId xmlns:a16="http://schemas.microsoft.com/office/drawing/2014/main" id="{187806B3-BC1E-46F7-8A14-5A62926B2FE1}"/>
              </a:ext>
            </a:extLst>
          </p:cNvPr>
          <p:cNvSpPr>
            <a:spLocks xmlns:a="http://schemas.openxmlformats.org/drawingml/2006/main" noGrp="1"/>
          </p:cNvSpPr>
          <p:nvPr/>
        </p:nvSpPr>
        <p:spPr>
          <a:xfrm xmlns:a="http://schemas.openxmlformats.org/drawingml/2006/main">
            <a:off x="723900" y="5286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Natural-Language Insights Layer</a:t>
            </a:r>
          </a:p>
        </p:txBody>
      </p:sp>
      <p:sp>
        <p:nvSpPr>
          <p:cNvPr id="13" name="">
            <a:extLst xmlns:a="http://schemas.openxmlformats.org/drawingml/2006/main">
              <a:ext uri="{FF2B5EF4-FFF2-40B4-BE49-F238E27FC236}">
                <a16:creationId xmlns:a16="http://schemas.microsoft.com/office/drawing/2014/main" id="{ABF954F9-5C0A-46AB-91E0-FDA1BD045975}"/>
              </a:ext>
            </a:extLst>
          </p:cNvPr>
          <p:cNvSpPr>
            <a:spLocks xmlns:a="http://schemas.openxmlformats.org/drawingml/2006/main" noGrp="1"/>
          </p:cNvSpPr>
          <p:nvPr/>
        </p:nvSpPr>
        <p:spPr>
          <a:xfrm xmlns:a="http://schemas.openxmlformats.org/drawingml/2006/main">
            <a:off x="723900" y="5667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Security Architecture</a:t>
            </a:r>
          </a:p>
        </p:txBody>
      </p:sp>
    </p:spTree>
    <p:extLst>
      <p:ext uri="{BB962C8B-B14F-4D97-AF65-F5344CB8AC3E}">
        <p14:creationId xmlns:p14="http://schemas.microsoft.com/office/powerpoint/2010/main" val="1700117634"/>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ED86CC-6D83-4DB1-ABD0-3A81CE9E5E87}"/>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Table of Contents</a:t>
            </a:r>
          </a:p>
        </p:txBody>
      </p:sp>
      <p:sp>
        <p:nvSpPr>
          <p:cNvPr id="2" name="">
            <a:extLst xmlns:a="http://schemas.openxmlformats.org/drawingml/2006/main">
              <a:ext uri="{FF2B5EF4-FFF2-40B4-BE49-F238E27FC236}">
                <a16:creationId xmlns:a16="http://schemas.microsoft.com/office/drawing/2014/main" id="{5AC681C0-D921-40B9-9889-973EF139744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6451A546-7354-4BC8-8D2E-7D9A9201642F}"/>
              </a:ext>
            </a:extLst>
          </p:cNvPr>
          <p:cNvSpPr>
            <a:spLocks xmlns:a="http://schemas.openxmlformats.org/drawingml/2006/main" noGrp="1"/>
          </p:cNvSpPr>
          <p:nvPr/>
        </p:nvSpPr>
        <p:spPr>
          <a:xfrm xmlns:a="http://schemas.openxmlformats.org/drawingml/2006/main">
            <a:off x="723900" y="1857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Scalability &amp; Performance</a:t>
            </a:r>
          </a:p>
        </p:txBody>
      </p:sp>
      <p:sp>
        <p:nvSpPr>
          <p:cNvPr id="4" name="">
            <a:extLst xmlns:a="http://schemas.openxmlformats.org/drawingml/2006/main">
              <a:ext uri="{FF2B5EF4-FFF2-40B4-BE49-F238E27FC236}">
                <a16:creationId xmlns:a16="http://schemas.microsoft.com/office/drawing/2014/main" id="{D3DBF1E5-3B44-4A6E-B492-34ADEAF5D096}"/>
              </a:ext>
            </a:extLst>
          </p:cNvPr>
          <p:cNvSpPr>
            <a:spLocks xmlns:a="http://schemas.openxmlformats.org/drawingml/2006/main" noGrp="1"/>
          </p:cNvSpPr>
          <p:nvPr/>
        </p:nvSpPr>
        <p:spPr>
          <a:xfrm xmlns:a="http://schemas.openxmlformats.org/drawingml/2006/main">
            <a:off x="723900" y="2238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Observability &amp; Monitoring</a:t>
            </a:r>
          </a:p>
        </p:txBody>
      </p:sp>
      <p:sp>
        <p:nvSpPr>
          <p:cNvPr id="5" name="">
            <a:extLst xmlns:a="http://schemas.openxmlformats.org/drawingml/2006/main">
              <a:ext uri="{FF2B5EF4-FFF2-40B4-BE49-F238E27FC236}">
                <a16:creationId xmlns:a16="http://schemas.microsoft.com/office/drawing/2014/main" id="{96FB587D-4874-44F5-A822-5259B249200E}"/>
              </a:ext>
            </a:extLst>
          </p:cNvPr>
          <p:cNvSpPr>
            <a:spLocks xmlns:a="http://schemas.openxmlformats.org/drawingml/2006/main" noGrp="1"/>
          </p:cNvSpPr>
          <p:nvPr/>
        </p:nvSpPr>
        <p:spPr>
          <a:xfrm xmlns:a="http://schemas.openxmlformats.org/drawingml/2006/main">
            <a:off x="723900" y="2619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Testing Strategy</a:t>
            </a:r>
          </a:p>
        </p:txBody>
      </p:sp>
      <p:sp>
        <p:nvSpPr>
          <p:cNvPr id="6" name="">
            <a:extLst xmlns:a="http://schemas.openxmlformats.org/drawingml/2006/main">
              <a:ext uri="{FF2B5EF4-FFF2-40B4-BE49-F238E27FC236}">
                <a16:creationId xmlns:a16="http://schemas.microsoft.com/office/drawing/2014/main" id="{D3F1C9CB-97D8-4C68-9453-D7C48FBB7134}"/>
              </a:ext>
            </a:extLst>
          </p:cNvPr>
          <p:cNvSpPr>
            <a:spLocks xmlns:a="http://schemas.openxmlformats.org/drawingml/2006/main" noGrp="1"/>
          </p:cNvSpPr>
          <p:nvPr/>
        </p:nvSpPr>
        <p:spPr>
          <a:xfrm xmlns:a="http://schemas.openxmlformats.org/drawingml/2006/main">
            <a:off x="723900" y="3000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CI/CD &amp; Deployment</a:t>
            </a:r>
          </a:p>
        </p:txBody>
      </p:sp>
      <p:sp>
        <p:nvSpPr>
          <p:cNvPr id="7" name="">
            <a:extLst xmlns:a="http://schemas.openxmlformats.org/drawingml/2006/main">
              <a:ext uri="{FF2B5EF4-FFF2-40B4-BE49-F238E27FC236}">
                <a16:creationId xmlns:a16="http://schemas.microsoft.com/office/drawing/2014/main" id="{1EC015EC-1800-4C6D-A2F3-237B1F9E1353}"/>
              </a:ext>
            </a:extLst>
          </p:cNvPr>
          <p:cNvSpPr>
            <a:spLocks xmlns:a="http://schemas.openxmlformats.org/drawingml/2006/main" noGrp="1"/>
          </p:cNvSpPr>
          <p:nvPr/>
        </p:nvSpPr>
        <p:spPr>
          <a:xfrm xmlns:a="http://schemas.openxmlformats.org/drawingml/2006/main">
            <a:off x="723900" y="3381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Phased Delivery Plan</a:t>
            </a:r>
          </a:p>
        </p:txBody>
      </p:sp>
      <p:sp>
        <p:nvSpPr>
          <p:cNvPr id="8" name="">
            <a:extLst xmlns:a="http://schemas.openxmlformats.org/drawingml/2006/main">
              <a:ext uri="{FF2B5EF4-FFF2-40B4-BE49-F238E27FC236}">
                <a16:creationId xmlns:a16="http://schemas.microsoft.com/office/drawing/2014/main" id="{C23D0958-56AD-41FA-A181-124A8FFE5C33}"/>
              </a:ext>
            </a:extLst>
          </p:cNvPr>
          <p:cNvSpPr>
            <a:spLocks xmlns:a="http://schemas.openxmlformats.org/drawingml/2006/main" noGrp="1"/>
          </p:cNvSpPr>
          <p:nvPr/>
        </p:nvSpPr>
        <p:spPr>
          <a:xfrm xmlns:a="http://schemas.openxmlformats.org/drawingml/2006/main">
            <a:off x="723900" y="3762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Risk Assessment &amp; Mitigation</a:t>
            </a:r>
          </a:p>
        </p:txBody>
      </p:sp>
      <p:sp>
        <p:nvSpPr>
          <p:cNvPr id="9" name="">
            <a:extLst xmlns:a="http://schemas.openxmlformats.org/drawingml/2006/main">
              <a:ext uri="{FF2B5EF4-FFF2-40B4-BE49-F238E27FC236}">
                <a16:creationId xmlns:a16="http://schemas.microsoft.com/office/drawing/2014/main" id="{210C884C-EF10-4DC9-95CC-D04308DC0236}"/>
              </a:ext>
            </a:extLst>
          </p:cNvPr>
          <p:cNvSpPr>
            <a:spLocks xmlns:a="http://schemas.openxmlformats.org/drawingml/2006/main" noGrp="1"/>
          </p:cNvSpPr>
          <p:nvPr/>
        </p:nvSpPr>
        <p:spPr>
          <a:xfrm xmlns:a="http://schemas.openxmlformats.org/drawingml/2006/main">
            <a:off x="723900" y="4143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Cost Estimation</a:t>
            </a:r>
          </a:p>
        </p:txBody>
      </p:sp>
      <p:sp>
        <p:nvSpPr>
          <p:cNvPr id="10" name="">
            <a:extLst xmlns:a="http://schemas.openxmlformats.org/drawingml/2006/main">
              <a:ext uri="{FF2B5EF4-FFF2-40B4-BE49-F238E27FC236}">
                <a16:creationId xmlns:a16="http://schemas.microsoft.com/office/drawing/2014/main" id="{E41CED2B-1CE8-4982-A8C3-0AA8A58A5C3E}"/>
              </a:ext>
            </a:extLst>
          </p:cNvPr>
          <p:cNvSpPr>
            <a:spLocks xmlns:a="http://schemas.openxmlformats.org/drawingml/2006/main" noGrp="1"/>
          </p:cNvSpPr>
          <p:nvPr/>
        </p:nvSpPr>
        <p:spPr>
          <a:xfrm xmlns:a="http://schemas.openxmlformats.org/drawingml/2006/main">
            <a:off x="723900" y="4524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Post-Launch &amp; Maintenance</a:t>
            </a:r>
          </a:p>
        </p:txBody>
      </p:sp>
      <p:sp>
        <p:nvSpPr>
          <p:cNvPr id="11" name="">
            <a:extLst xmlns:a="http://schemas.openxmlformats.org/drawingml/2006/main">
              <a:ext uri="{FF2B5EF4-FFF2-40B4-BE49-F238E27FC236}">
                <a16:creationId xmlns:a16="http://schemas.microsoft.com/office/drawing/2014/main" id="{F38AC5C2-A0E0-44B5-B5F0-7F6EDE6515F7}"/>
              </a:ext>
            </a:extLst>
          </p:cNvPr>
          <p:cNvSpPr>
            <a:spLocks xmlns:a="http://schemas.openxmlformats.org/drawingml/2006/main" noGrp="1"/>
          </p:cNvSpPr>
          <p:nvPr/>
        </p:nvSpPr>
        <p:spPr>
          <a:xfrm xmlns:a="http://schemas.openxmlformats.org/drawingml/2006/main">
            <a:off x="723900" y="4905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Phase 2 Roadmap</a:t>
            </a:r>
          </a:p>
        </p:txBody>
      </p:sp>
      <p:sp>
        <p:nvSpPr>
          <p:cNvPr id="12" name="">
            <a:extLst xmlns:a="http://schemas.openxmlformats.org/drawingml/2006/main">
              <a:ext uri="{FF2B5EF4-FFF2-40B4-BE49-F238E27FC236}">
                <a16:creationId xmlns:a16="http://schemas.microsoft.com/office/drawing/2014/main" id="{AB794A91-3797-4E6B-91AD-19CE24F21D1F}"/>
              </a:ext>
            </a:extLst>
          </p:cNvPr>
          <p:cNvSpPr>
            <a:spLocks xmlns:a="http://schemas.openxmlformats.org/drawingml/2006/main" noGrp="1"/>
          </p:cNvSpPr>
          <p:nvPr/>
        </p:nvSpPr>
        <p:spPr>
          <a:xfrm xmlns:a="http://schemas.openxmlformats.org/drawingml/2006/main">
            <a:off x="723900" y="5286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Assumptions &amp; Clarification Points</a:t>
            </a:r>
          </a:p>
        </p:txBody>
      </p:sp>
      <p:sp>
        <p:nvSpPr>
          <p:cNvPr id="13" name="">
            <a:extLst xmlns:a="http://schemas.openxmlformats.org/drawingml/2006/main">
              <a:ext uri="{FF2B5EF4-FFF2-40B4-BE49-F238E27FC236}">
                <a16:creationId xmlns:a16="http://schemas.microsoft.com/office/drawing/2014/main" id="{EC495E7B-2AC0-434D-8201-10C695DFCA7D}"/>
              </a:ext>
            </a:extLst>
          </p:cNvPr>
          <p:cNvSpPr>
            <a:spLocks xmlns:a="http://schemas.openxmlformats.org/drawingml/2006/main" noGrp="1"/>
          </p:cNvSpPr>
          <p:nvPr/>
        </p:nvSpPr>
        <p:spPr>
          <a:xfrm xmlns:a="http://schemas.openxmlformats.org/drawingml/2006/main">
            <a:off x="723900" y="5667375"/>
            <a:ext cx="1071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63D50"/>
                </a:solidFill>
                <a:latin typeface="Aptos"/>
                <a:ea typeface="Aptos"/>
                <a:cs typeface="Aptos"/>
              </a:defRPr>
            </a:pPr>
            <a:r>
              <a:rPr sz="1875" b="0">
                <a:solidFill>
                  <a:srgbClr val="263D50"/>
                </a:solidFill>
                <a:latin typeface="Aptos"/>
                <a:ea typeface="Aptos"/>
                <a:cs typeface="Aptos"/>
              </a:rPr>
              <a:t>Answers to Proposal Questions</a:t>
            </a:r>
          </a:p>
        </p:txBody>
      </p:sp>
    </p:spTree>
    <p:extLst>
      <p:ext uri="{BB962C8B-B14F-4D97-AF65-F5344CB8AC3E}">
        <p14:creationId xmlns:p14="http://schemas.microsoft.com/office/powerpoint/2010/main" val="11993389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D2CAC54-BF12-487B-8A9F-BB64F39822F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1. Executive Summary</a:t>
            </a:r>
          </a:p>
        </p:txBody>
      </p:sp>
      <p:sp>
        <p:nvSpPr>
          <p:cNvPr id="2" name="">
            <a:extLst xmlns:a="http://schemas.openxmlformats.org/drawingml/2006/main">
              <a:ext uri="{FF2B5EF4-FFF2-40B4-BE49-F238E27FC236}">
                <a16:creationId xmlns:a16="http://schemas.microsoft.com/office/drawing/2014/main" id="{D1E637C1-ACDD-4CC1-A47F-52CFCAC6FF7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2715F4D9-EA46-4825-BF52-43895A0E10E1}"/>
              </a:ext>
            </a:extLst>
          </p:cNvPr>
          <p:cNvSpPr>
            <a:spLocks xmlns:a="http://schemas.openxmlformats.org/drawingml/2006/main" noGrp="1"/>
          </p:cNvSpPr>
          <p:nvPr/>
        </p:nvSpPr>
        <p:spPr>
          <a:xfrm xmlns:a="http://schemas.openxmlformats.org/drawingml/2006/main">
            <a:off x="609600" y="1952625"/>
            <a:ext cx="108108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propose to build a unified marketing intelligence platform — a multi-tenant SaaS dashboard that consolidates marketing data from Meta, Instagram, LinkedIn, and Google Analytics 4 into a single, intuitive interface. The platform eliminates the pain of manually collecting and reconciling reports across fragmented marketing tools, giving marketing teams a single source of truth with historical depth and — in Phase 2 — AI-driven actionable insights.</a:t>
            </a:r>
          </a:p>
        </p:txBody>
      </p:sp>
    </p:spTree>
    <p:extLst>
      <p:ext uri="{BB962C8B-B14F-4D97-AF65-F5344CB8AC3E}">
        <p14:creationId xmlns:p14="http://schemas.microsoft.com/office/powerpoint/2010/main" val="1653683969"/>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7541CA-E9CF-4F5E-95FF-5C9D9B0216D0}"/>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 Executive Summary</a:t>
            </a:r>
          </a:p>
        </p:txBody>
      </p:sp>
      <p:sp>
        <p:nvSpPr>
          <p:cNvPr id="2" name="">
            <a:extLst xmlns:a="http://schemas.openxmlformats.org/drawingml/2006/main">
              <a:ext uri="{FF2B5EF4-FFF2-40B4-BE49-F238E27FC236}">
                <a16:creationId xmlns:a16="http://schemas.microsoft.com/office/drawing/2014/main" id="{ECC04CF9-8518-4022-AB4E-54414C0AA9B8}"/>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Value Proposition</a:t>
            </a:r>
          </a:p>
        </p:txBody>
      </p:sp>
      <p:sp>
        <p:nvSpPr>
          <p:cNvPr id="3" name="">
            <a:extLst xmlns:a="http://schemas.openxmlformats.org/drawingml/2006/main">
              <a:ext uri="{FF2B5EF4-FFF2-40B4-BE49-F238E27FC236}">
                <a16:creationId xmlns:a16="http://schemas.microsoft.com/office/drawing/2014/main" id="{91BD75F4-249B-4F2A-BC78-EA8D6C9EBF7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05</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Value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Unified Visibility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Single pane of glass across Meta, Instagram, LinkedIn, and GA4 — no more tab-switching or CSV exports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Historical Durability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 real stored data layer. Metrics persisted beyond platform API retention limits, enabling true YoY comparisons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Automated Sync</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Configurable scheduling (1–24hr) with auto token refresh. Zero manual intervention under normal operation</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640147590"/>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817C49-7134-46E5-BD05-39492F3F8FC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 Executive Summary</a:t>
            </a:r>
          </a:p>
        </p:txBody>
      </p:sp>
      <p:sp>
        <p:nvSpPr>
          <p:cNvPr id="2" name="">
            <a:extLst xmlns:a="http://schemas.openxmlformats.org/drawingml/2006/main">
              <a:ext uri="{FF2B5EF4-FFF2-40B4-BE49-F238E27FC236}">
                <a16:creationId xmlns:a16="http://schemas.microsoft.com/office/drawing/2014/main" id="{3997E240-253D-43B6-8D61-E30D094EDC5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Value Proposition</a:t>
            </a:r>
          </a:p>
        </p:txBody>
      </p:sp>
      <p:sp>
        <p:nvSpPr>
          <p:cNvPr id="3" name="">
            <a:extLst xmlns:a="http://schemas.openxmlformats.org/drawingml/2006/main">
              <a:ext uri="{FF2B5EF4-FFF2-40B4-BE49-F238E27FC236}">
                <a16:creationId xmlns:a16="http://schemas.microsoft.com/office/drawing/2014/main" id="{321F5DAC-DAC1-4E55-84E4-B3CDB2BEBE9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06</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Value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Enterprise Multi-Tenancy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Database-level tenant isolation (PostgreSQL RLS) from day one — not bolted on later</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AI-Ready Architecture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Natural language query engine designed into the data model, deployable after core dashboard stabilizes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Persona-Driven UX</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Purpose-built views for Marketing Managers, CMOs, Business Owners, and Agencies with multi-client support</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532502847"/>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7238B7-15A8-4DC1-8BE5-69A718217AC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 Executive Summary</a:t>
            </a:r>
          </a:p>
        </p:txBody>
      </p:sp>
      <p:sp>
        <p:nvSpPr>
          <p:cNvPr id="2" name="">
            <a:extLst xmlns:a="http://schemas.openxmlformats.org/drawingml/2006/main">
              <a:ext uri="{FF2B5EF4-FFF2-40B4-BE49-F238E27FC236}">
                <a16:creationId xmlns:a16="http://schemas.microsoft.com/office/drawing/2014/main" id="{5051581E-CFDA-4C9E-8BE6-0BCF3995578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Delivery Approach</a:t>
            </a:r>
          </a:p>
        </p:txBody>
      </p:sp>
      <p:sp>
        <p:nvSpPr>
          <p:cNvPr id="3" name="">
            <a:extLst xmlns:a="http://schemas.openxmlformats.org/drawingml/2006/main">
              <a:ext uri="{FF2B5EF4-FFF2-40B4-BE49-F238E27FC236}">
                <a16:creationId xmlns:a16="http://schemas.microsoft.com/office/drawing/2014/main" id="{49BBA98B-AB38-48A1-9F29-F179F5DBAA4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62B45C4B-3CE9-4628-A9C0-3F648757DC25}"/>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execute across six sequenced phases over 16 weeks, following the client’s stated priority order:</a:t>
            </a:r>
          </a:p>
        </p:txBody>
      </p:sp>
      <p:sp>
        <p:nvSpPr>
          <p:cNvPr id="5" name="">
            <a:extLst xmlns:a="http://schemas.openxmlformats.org/drawingml/2006/main">
              <a:ext uri="{FF2B5EF4-FFF2-40B4-BE49-F238E27FC236}">
                <a16:creationId xmlns:a16="http://schemas.microsoft.com/office/drawing/2014/main" id="{B42CDDEE-1758-455C-8851-467A4A61F9CE}"/>
              </a:ext>
            </a:extLst>
          </p:cNvPr>
          <p:cNvSpPr>
            <a:spLocks xmlns:a="http://schemas.openxmlformats.org/drawingml/2006/main" noGrp="1"/>
          </p:cNvSpPr>
          <p:nvPr/>
        </p:nvSpPr>
        <p:spPr>
          <a:xfrm xmlns:a="http://schemas.openxmlformats.org/drawingml/2006/main">
            <a:off x="609600" y="24784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Foundation → Integrations → Pipeline → Dashboard → Reliability → AI Insights</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(W1-3)       (W4-6)         (W7-8)     (W9-11)     (W12-13)      (W14-16)</a:t>
            </a:r>
          </a:p>
        </p:txBody>
      </p:sp>
      <p:sp>
        <p:nvSpPr>
          <p:cNvPr id="6" name="">
            <a:extLst xmlns:a="http://schemas.openxmlformats.org/drawingml/2006/main">
              <a:ext uri="{FF2B5EF4-FFF2-40B4-BE49-F238E27FC236}">
                <a16:creationId xmlns:a16="http://schemas.microsoft.com/office/drawing/2014/main" id="{4838A48D-9C2B-499A-82E8-109B3EACDC33}"/>
              </a:ext>
            </a:extLst>
          </p:cNvPr>
          <p:cNvSpPr>
            <a:spLocks xmlns:a="http://schemas.openxmlformats.org/drawingml/2006/main" noGrp="1"/>
          </p:cNvSpPr>
          <p:nvPr/>
        </p:nvSpPr>
        <p:spPr>
          <a:xfrm xmlns:a="http://schemas.openxmlformats.org/drawingml/2006/main">
            <a:off x="609600" y="330136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Each phase produces a deployable increment with defined acceptance criteria. Multi-tenancy and security are foundational — they are built first, not hardened later.</a:t>
            </a:r>
          </a:p>
        </p:txBody>
      </p:sp>
    </p:spTree>
    <p:extLst>
      <p:ext uri="{BB962C8B-B14F-4D97-AF65-F5344CB8AC3E}">
        <p14:creationId xmlns:p14="http://schemas.microsoft.com/office/powerpoint/2010/main" val="1248265581"/>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CBE57F-D7B2-4D2E-8D3C-44D6BE6F7A0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 Executive Summary</a:t>
            </a:r>
          </a:p>
        </p:txBody>
      </p:sp>
      <p:sp>
        <p:nvSpPr>
          <p:cNvPr id="2" name="">
            <a:extLst xmlns:a="http://schemas.openxmlformats.org/drawingml/2006/main">
              <a:ext uri="{FF2B5EF4-FFF2-40B4-BE49-F238E27FC236}">
                <a16:creationId xmlns:a16="http://schemas.microsoft.com/office/drawing/2014/main" id="{9C7C6C21-FCB9-4118-B749-F0B00BB7B92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Key Architectural Decisions</a:t>
            </a:r>
          </a:p>
        </p:txBody>
      </p:sp>
      <p:sp>
        <p:nvSpPr>
          <p:cNvPr id="3" name="">
            <a:extLst xmlns:a="http://schemas.openxmlformats.org/drawingml/2006/main">
              <a:ext uri="{FF2B5EF4-FFF2-40B4-BE49-F238E27FC236}">
                <a16:creationId xmlns:a16="http://schemas.microsoft.com/office/drawing/2014/main" id="{4E45BB89-A44F-461B-96DB-77F722FA4FE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480A2161-EBAF-4D12-B468-95976A4E5030}"/>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PostgreSQL with Row-Level Security for tenant isolation at the database kernel level</a:t>
            </a:r>
          </a:p>
        </p:txBody>
      </p:sp>
      <p:sp>
        <p:nvSpPr>
          <p:cNvPr id="5" name="">
            <a:extLst xmlns:a="http://schemas.openxmlformats.org/drawingml/2006/main">
              <a:ext uri="{FF2B5EF4-FFF2-40B4-BE49-F238E27FC236}">
                <a16:creationId xmlns:a16="http://schemas.microsoft.com/office/drawing/2014/main" id="{59080BFB-5D4E-44B1-858D-DA54E3E853D5}"/>
              </a:ext>
            </a:extLst>
          </p:cNvPr>
          <p:cNvSpPr>
            <a:spLocks xmlns:a="http://schemas.openxmlformats.org/drawingml/2006/main" noGrp="1"/>
          </p:cNvSpPr>
          <p:nvPr/>
        </p:nvSpPr>
        <p:spPr>
          <a:xfrm xmlns:a="http://schemas.openxmlformats.org/drawingml/2006/main">
            <a:off x="609600" y="247840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NestJS (Node.js/TypeScript) backend for structured, type-safe API development</a:t>
            </a:r>
          </a:p>
        </p:txBody>
      </p:sp>
      <p:sp>
        <p:nvSpPr>
          <p:cNvPr id="6" name="">
            <a:extLst xmlns:a="http://schemas.openxmlformats.org/drawingml/2006/main">
              <a:ext uri="{FF2B5EF4-FFF2-40B4-BE49-F238E27FC236}">
                <a16:creationId xmlns:a16="http://schemas.microsoft.com/office/drawing/2014/main" id="{6E195431-508F-45EC-B64E-E61635D5C64E}"/>
              </a:ext>
            </a:extLst>
          </p:cNvPr>
          <p:cNvSpPr>
            <a:spLocks xmlns:a="http://schemas.openxmlformats.org/drawingml/2006/main" noGrp="1"/>
          </p:cNvSpPr>
          <p:nvPr/>
        </p:nvSpPr>
        <p:spPr>
          <a:xfrm xmlns:a="http://schemas.openxmlformats.org/drawingml/2006/main">
            <a:off x="609600" y="300418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Next.js 14 frontend with SSR for performance and SEO-ready dashboards</a:t>
            </a:r>
          </a:p>
        </p:txBody>
      </p:sp>
      <p:sp>
        <p:nvSpPr>
          <p:cNvPr id="7" name="">
            <a:extLst xmlns:a="http://schemas.openxmlformats.org/drawingml/2006/main">
              <a:ext uri="{FF2B5EF4-FFF2-40B4-BE49-F238E27FC236}">
                <a16:creationId xmlns:a16="http://schemas.microsoft.com/office/drawing/2014/main" id="{81A6962C-C290-421C-A49D-B7A9E93CA837}"/>
              </a:ext>
            </a:extLst>
          </p:cNvPr>
          <p:cNvSpPr>
            <a:spLocks xmlns:a="http://schemas.openxmlformats.org/drawingml/2006/main" noGrp="1"/>
          </p:cNvSpPr>
          <p:nvPr/>
        </p:nvSpPr>
        <p:spPr>
          <a:xfrm xmlns:a="http://schemas.openxmlformats.org/drawingml/2006/main">
            <a:off x="609600" y="352996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BullMQ + Redis for reliable job scheduling and async data pipeline processing</a:t>
            </a:r>
          </a:p>
        </p:txBody>
      </p:sp>
      <p:sp>
        <p:nvSpPr>
          <p:cNvPr id="8" name="">
            <a:extLst xmlns:a="http://schemas.openxmlformats.org/drawingml/2006/main">
              <a:ext uri="{FF2B5EF4-FFF2-40B4-BE49-F238E27FC236}">
                <a16:creationId xmlns:a16="http://schemas.microsoft.com/office/drawing/2014/main" id="{DE8D535D-B67A-410D-91B6-AD92CF1F72CE}"/>
              </a:ext>
            </a:extLst>
          </p:cNvPr>
          <p:cNvSpPr>
            <a:spLocks xmlns:a="http://schemas.openxmlformats.org/drawingml/2006/main" noGrp="1"/>
          </p:cNvSpPr>
          <p:nvPr/>
        </p:nvSpPr>
        <p:spPr>
          <a:xfrm xmlns:a="http://schemas.openxmlformats.org/drawingml/2006/main">
            <a:off x="609600" y="405574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AWS (ECS Fargate, RDS, ElastiCache) for managed, scalable infrastructure</a:t>
            </a:r>
          </a:p>
        </p:txBody>
      </p:sp>
      <p:sp>
        <p:nvSpPr>
          <p:cNvPr id="9" name="">
            <a:extLst xmlns:a="http://schemas.openxmlformats.org/drawingml/2006/main">
              <a:ext uri="{FF2B5EF4-FFF2-40B4-BE49-F238E27FC236}">
                <a16:creationId xmlns:a16="http://schemas.microsoft.com/office/drawing/2014/main" id="{C93FCAF4-3855-439C-9D8F-72A8F533F5C2}"/>
              </a:ext>
            </a:extLst>
          </p:cNvPr>
          <p:cNvSpPr>
            <a:spLocks xmlns:a="http://schemas.openxmlformats.org/drawingml/2006/main" noGrp="1"/>
          </p:cNvSpPr>
          <p:nvPr/>
        </p:nvSpPr>
        <p:spPr>
          <a:xfrm xmlns:a="http://schemas.openxmlformats.org/drawingml/2006/main">
            <a:off x="609600" y="45815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LangChain + GPT-4o for the natural-language insights layer with Text-to-SQL</a:t>
            </a:r>
          </a:p>
        </p:txBody>
      </p:sp>
    </p:spTree>
    <p:extLst>
      <p:ext uri="{BB962C8B-B14F-4D97-AF65-F5344CB8AC3E}">
        <p14:creationId xmlns:p14="http://schemas.microsoft.com/office/powerpoint/2010/main" val="2145687516"/>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07398C-484E-4A3D-9FB8-4563D57E4162}"/>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 Solution Architecture Overview</a:t>
            </a:r>
          </a:p>
        </p:txBody>
      </p:sp>
      <p:sp>
        <p:nvSpPr>
          <p:cNvPr id="2" name="">
            <a:extLst xmlns:a="http://schemas.openxmlformats.org/drawingml/2006/main">
              <a:ext uri="{FF2B5EF4-FFF2-40B4-BE49-F238E27FC236}">
                <a16:creationId xmlns:a16="http://schemas.microsoft.com/office/drawing/2014/main" id="{3F89BD28-6528-4749-A0D4-98C2E08E74E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Design Principles</a:t>
            </a:r>
          </a:p>
        </p:txBody>
      </p:sp>
      <p:sp>
        <p:nvSpPr>
          <p:cNvPr id="3" name="">
            <a:extLst xmlns:a="http://schemas.openxmlformats.org/drawingml/2006/main">
              <a:ext uri="{FF2B5EF4-FFF2-40B4-BE49-F238E27FC236}">
                <a16:creationId xmlns:a16="http://schemas.microsoft.com/office/drawing/2014/main" id="{19936905-1F3F-4D71-B3F0-22E4B466BA3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09</a:t>
            </a:r>
          </a:p>
        </p:txBody>
      </p:sp>
      <p:graphicFrame>
        <p:nvGraphicFramePr>
          <p:cNvPr id="8" name=""/>
          <p:cNvGraphicFramePr/>
          <p:nvPr/>
        </p:nvGraphicFramePr>
        <p:xfrm>
          <a:off xmlns:a="http://schemas.openxmlformats.org/drawingml/2006/main" x="609600" y="1847850"/>
          <a:ext xmlns:a="http://schemas.openxmlformats.org/drawingml/2006/main" cx="10820400" cy="4156710"/>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Principle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Implementation</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Data-at-rest, not live-pull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Dashboard reads from stored PostgreSQL data, never calls platform APIs on page load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Tenant isolation as infrastructure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RLS policies enforce isolation at the database level, independent of application logic correctness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Connector abstraction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Each platform integration implements a common interface; adding a new platform is a single module</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Horizontal scalability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API servers and pipeline workers scale independently based on load vs. queue depth</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Graceful degradation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Token expiry, API outages, and rate limits are handled with retry, backoff, and clear user-facing status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9911968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CE8183-1112-45F4-A58A-10B7DC62B90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 Solution Architecture Overview</a:t>
            </a:r>
          </a:p>
        </p:txBody>
      </p:sp>
      <p:sp>
        <p:nvSpPr>
          <p:cNvPr id="2" name="">
            <a:extLst xmlns:a="http://schemas.openxmlformats.org/drawingml/2006/main">
              <a:ext uri="{FF2B5EF4-FFF2-40B4-BE49-F238E27FC236}">
                <a16:creationId xmlns:a16="http://schemas.microsoft.com/office/drawing/2014/main" id="{8C6FEA1B-CFF9-48F4-890B-1A9EAC94529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High-Level Architecture</a:t>
            </a:r>
          </a:p>
        </p:txBody>
      </p:sp>
      <p:sp>
        <p:nvSpPr>
          <p:cNvPr id="3" name="">
            <a:extLst xmlns:a="http://schemas.openxmlformats.org/drawingml/2006/main">
              <a:ext uri="{FF2B5EF4-FFF2-40B4-BE49-F238E27FC236}">
                <a16:creationId xmlns:a16="http://schemas.microsoft.com/office/drawing/2014/main" id="{99950579-A2D2-492F-9B75-3066D961B83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75ec99c2d1b495c"/>
          <a:stretch xmlns:a="http://schemas.openxmlformats.org/drawingml/2006/main"/>
        </p:blipFill>
        <p:spPr>
          <a:xfrm xmlns:a="http://schemas.openxmlformats.org/drawingml/2006/main">
            <a:off x="3675624" y="1809750"/>
            <a:ext cx="4840752" cy="4476750"/>
          </a:xfrm>
          <a:prstGeom xmlns:a="http://schemas.openxmlformats.org/drawingml/2006/main" prst="rect">
            <a:avLst/>
          </a:prstGeom>
        </p:spPr>
      </p:pic>
    </p:spTree>
    <p:extLst>
      <p:ext uri="{BB962C8B-B14F-4D97-AF65-F5344CB8AC3E}">
        <p14:creationId xmlns:p14="http://schemas.microsoft.com/office/powerpoint/2010/main" val="1882960626"/>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DEF1FA-5E52-40D2-86DA-A04E030D17F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 Solution Architecture Overview</a:t>
            </a:r>
          </a:p>
        </p:txBody>
      </p:sp>
      <p:sp>
        <p:nvSpPr>
          <p:cNvPr id="2" name="">
            <a:extLst xmlns:a="http://schemas.openxmlformats.org/drawingml/2006/main">
              <a:ext uri="{FF2B5EF4-FFF2-40B4-BE49-F238E27FC236}">
                <a16:creationId xmlns:a16="http://schemas.microsoft.com/office/drawing/2014/main" id="{AB5C90DE-6BFB-4728-B78E-9744E37B55C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Data Flow Patterns</a:t>
            </a:r>
          </a:p>
        </p:txBody>
      </p:sp>
      <p:sp>
        <p:nvSpPr>
          <p:cNvPr id="3" name="">
            <a:extLst xmlns:a="http://schemas.openxmlformats.org/drawingml/2006/main">
              <a:ext uri="{FF2B5EF4-FFF2-40B4-BE49-F238E27FC236}">
                <a16:creationId xmlns:a16="http://schemas.microsoft.com/office/drawing/2014/main" id="{79C59477-916C-4E41-B93F-32683ADCF11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3DC9ECCC-B0C5-4138-936A-F1D0206B0DEF}"/>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Pattern 1 — Dashboard Read Path:</a:t>
            </a:r>
          </a:p>
        </p:txBody>
      </p:sp>
      <p:sp>
        <p:nvSpPr>
          <p:cNvPr id="5" name="">
            <a:extLst xmlns:a="http://schemas.openxmlformats.org/drawingml/2006/main">
              <a:ext uri="{FF2B5EF4-FFF2-40B4-BE49-F238E27FC236}">
                <a16:creationId xmlns:a16="http://schemas.microsoft.com/office/drawing/2014/main" id="{15293D86-FDBD-450C-A92E-95C9FBC5935B}"/>
              </a:ext>
            </a:extLst>
          </p:cNvPr>
          <p:cNvSpPr>
            <a:spLocks xmlns:a="http://schemas.openxmlformats.org/drawingml/2006/main" noGrp="1"/>
          </p:cNvSpPr>
          <p:nvPr/>
        </p:nvSpPr>
        <p:spPr>
          <a:xfrm xmlns:a="http://schemas.openxmlformats.org/drawingml/2006/main">
            <a:off x="609600" y="24784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User → CDN → Next.js SSR → API Gateway → Tenant Middleware → Core API → Redis Cache (hit?) → PostgreSQL → Response</a:t>
            </a:r>
          </a:p>
        </p:txBody>
      </p:sp>
      <p:sp>
        <p:nvSpPr>
          <p:cNvPr id="6" name="">
            <a:extLst xmlns:a="http://schemas.openxmlformats.org/drawingml/2006/main">
              <a:ext uri="{FF2B5EF4-FFF2-40B4-BE49-F238E27FC236}">
                <a16:creationId xmlns:a16="http://schemas.microsoft.com/office/drawing/2014/main" id="{9EA95A37-67B8-4DED-B729-A085BD90CC14}"/>
              </a:ext>
            </a:extLst>
          </p:cNvPr>
          <p:cNvSpPr>
            <a:spLocks xmlns:a="http://schemas.openxmlformats.org/drawingml/2006/main" noGrp="1"/>
          </p:cNvSpPr>
          <p:nvPr/>
        </p:nvSpPr>
        <p:spPr>
          <a:xfrm xmlns:a="http://schemas.openxmlformats.org/drawingml/2006/main">
            <a:off x="609600" y="330136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Pattern 2 — Data Ingestion Path:</a:t>
            </a:r>
          </a:p>
        </p:txBody>
      </p:sp>
      <p:sp>
        <p:nvSpPr>
          <p:cNvPr id="7" name="">
            <a:extLst xmlns:a="http://schemas.openxmlformats.org/drawingml/2006/main">
              <a:ext uri="{FF2B5EF4-FFF2-40B4-BE49-F238E27FC236}">
                <a16:creationId xmlns:a16="http://schemas.microsoft.com/office/drawing/2014/main" id="{64D6A685-3689-4DD7-8B40-542C6FD33527}"/>
              </a:ext>
            </a:extLst>
          </p:cNvPr>
          <p:cNvSpPr>
            <a:spLocks xmlns:a="http://schemas.openxmlformats.org/drawingml/2006/main" noGrp="1"/>
          </p:cNvSpPr>
          <p:nvPr/>
        </p:nvSpPr>
        <p:spPr>
          <a:xfrm xmlns:a="http://schemas.openxmlformats.org/drawingml/2006/main">
            <a:off x="609600" y="382714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Scheduler → Redis Queue → Worker picks job → Check token → Refresh if needed → Call Platform API → Validate response → Normalize → Upsert to PostgreSQL → Update sync_logs → Emit metric</a:t>
            </a:r>
          </a:p>
        </p:txBody>
      </p:sp>
      <p:sp>
        <p:nvSpPr>
          <p:cNvPr id="8" name="">
            <a:extLst xmlns:a="http://schemas.openxmlformats.org/drawingml/2006/main">
              <a:ext uri="{FF2B5EF4-FFF2-40B4-BE49-F238E27FC236}">
                <a16:creationId xmlns:a16="http://schemas.microsoft.com/office/drawing/2014/main" id="{588D2314-73A3-439C-A3D3-CA87A1A85E45}"/>
              </a:ext>
            </a:extLst>
          </p:cNvPr>
          <p:cNvSpPr>
            <a:spLocks xmlns:a="http://schemas.openxmlformats.org/drawingml/2006/main" noGrp="1"/>
          </p:cNvSpPr>
          <p:nvPr/>
        </p:nvSpPr>
        <p:spPr>
          <a:xfrm xmlns:a="http://schemas.openxmlformats.org/drawingml/2006/main">
            <a:off x="609600" y="494728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Pattern 3 — AI Query Path:</a:t>
            </a:r>
          </a:p>
        </p:txBody>
      </p:sp>
    </p:spTree>
    <p:extLst>
      <p:ext uri="{BB962C8B-B14F-4D97-AF65-F5344CB8AC3E}">
        <p14:creationId xmlns:p14="http://schemas.microsoft.com/office/powerpoint/2010/main" val="477079093"/>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778115-EA50-456B-A757-E3F81BF67712}"/>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 Solution Architecture Overview</a:t>
            </a:r>
          </a:p>
        </p:txBody>
      </p:sp>
      <p:sp>
        <p:nvSpPr>
          <p:cNvPr id="2" name="">
            <a:extLst xmlns:a="http://schemas.openxmlformats.org/drawingml/2006/main">
              <a:ext uri="{FF2B5EF4-FFF2-40B4-BE49-F238E27FC236}">
                <a16:creationId xmlns:a16="http://schemas.microsoft.com/office/drawing/2014/main" id="{845BC011-378C-4D2B-8E0D-212885FF90A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Data Flow Patterns</a:t>
            </a:r>
          </a:p>
        </p:txBody>
      </p:sp>
      <p:sp>
        <p:nvSpPr>
          <p:cNvPr id="3" name="">
            <a:extLst xmlns:a="http://schemas.openxmlformats.org/drawingml/2006/main">
              <a:ext uri="{FF2B5EF4-FFF2-40B4-BE49-F238E27FC236}">
                <a16:creationId xmlns:a16="http://schemas.microsoft.com/office/drawing/2014/main" id="{CF92FB5A-39A5-4B80-8106-923EB2F1563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DFDAFF68-74D4-4584-8B55-FC24B064D647}"/>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User query → NL Engine → Inject tenant context + schema → LLM generates SQL → Validate SQL (SELECT only, tenant-scoped) → Execute against read replica → LLM synthesizes natural language response → Cache → Return</a:t>
            </a:r>
          </a:p>
        </p:txBody>
      </p:sp>
    </p:spTree>
    <p:extLst>
      <p:ext uri="{BB962C8B-B14F-4D97-AF65-F5344CB8AC3E}">
        <p14:creationId xmlns:p14="http://schemas.microsoft.com/office/powerpoint/2010/main" val="983693997"/>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68BF75-FA91-4F75-9C9C-626845439D9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633CADDC-31DA-4D55-B082-292318B9541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13</a:t>
            </a:r>
          </a:p>
        </p:txBody>
      </p:sp>
      <p:graphicFrame>
        <p:nvGraphicFramePr>
          <p:cNvPr id="6" name=""/>
          <p:cNvGraphicFramePr/>
          <p:nvPr/>
        </p:nvGraphicFramePr>
        <p:xfrm>
          <a:off xmlns:a="http://schemas.openxmlformats.org/drawingml/2006/main" x="609600" y="1847850"/>
          <a:ext xmlns:a="http://schemas.openxmlformats.org/drawingml/2006/main" cx="10820400" cy="2551557"/>
        </p:xfrm>
        <a:graphic xmlns:a="http://schemas.openxmlformats.org/drawingml/2006/main">
          <a:graphicData uri="http://schemas.openxmlformats.org/drawingml/2006/table">
            <a:tbl>
              <a:tblPr/>
              <a:tblGrid>
                <a:gridCol w="1839468"/>
                <a:gridCol w="2705100"/>
                <a:gridCol w="6275832"/>
              </a:tblGrid>
              <a:tr h="552450">
                <a:tc>
                  <a:txBody>
                    <a:bodyPr/>
                    <a:lstStyle/>
                    <a:p>
                      <a:r>
                        <a:rPr sz="1500" b="1">
                          <a:solidFill>
                            <a:srgbClr val="FFFFFF"/>
                          </a:solidFill>
                          <a:latin typeface="Aptos"/>
                          <a:ea typeface="Aptos"/>
                          <a:cs typeface="Aptos"/>
                        </a:rPr>
                        <a:t>Layer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Technology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This Choice for This Project</a:t>
                      </a:r>
                    </a:p>
                  </a:txBody>
                  <a:tcPr marL="114300" marR="114300" marT="114300" marB="85725" anchor="t">
                    <a:solidFill>
                      <a:srgbClr val="142C43"/>
                    </a:solidFill>
                  </a:tcPr>
                </a:tc>
              </a:tr>
              <a:tr h="1999107">
                <a:tc>
                  <a:txBody>
                    <a:bodyPr/>
                    <a:lstStyle/>
                    <a:p>
                      <a:r>
                        <a:rPr sz="1650" b="1">
                          <a:solidFill>
                            <a:srgbClr val="263D50"/>
                          </a:solidFill>
                          <a:latin typeface="Aptos"/>
                          <a:ea typeface="Aptos"/>
                          <a:cs typeface="Aptos"/>
                        </a:rPr>
                        <a:t>Backend Framework</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NestJS 5 (Node.js 22, TypeScript)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Structured module system with built-in DI, guards, interceptors, and decorators. The module-per-feature pattern maps cleanly to this project’s domains (auth, connectors, metrics, sync). First-class TypeScript eliminates an entire class of bugs. Built-in scheduling (@nestjs/schedule) and queue (@nestjs/bullmq) support reduces integration overhead.</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861075855"/>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EB5CD8-ABED-4AF2-836C-A457F1BE1C9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A25F63FF-A748-42C2-B766-B1E6CA50661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14</a:t>
            </a:r>
          </a:p>
        </p:txBody>
      </p:sp>
      <p:graphicFrame>
        <p:nvGraphicFramePr>
          <p:cNvPr id="6" name=""/>
          <p:cNvGraphicFramePr/>
          <p:nvPr/>
        </p:nvGraphicFramePr>
        <p:xfrm>
          <a:off xmlns:a="http://schemas.openxmlformats.org/drawingml/2006/main" x="609600" y="1847850"/>
          <a:ext xmlns:a="http://schemas.openxmlformats.org/drawingml/2006/main" cx="10820400" cy="3528060"/>
        </p:xfrm>
        <a:graphic xmlns:a="http://schemas.openxmlformats.org/drawingml/2006/main">
          <a:graphicData uri="http://schemas.openxmlformats.org/drawingml/2006/table">
            <a:tbl>
              <a:tblPr/>
              <a:tblGrid>
                <a:gridCol w="1839468"/>
                <a:gridCol w="2705100"/>
                <a:gridCol w="6275832"/>
              </a:tblGrid>
              <a:tr h="552450">
                <a:tc>
                  <a:txBody>
                    <a:bodyPr/>
                    <a:lstStyle/>
                    <a:p>
                      <a:r>
                        <a:rPr sz="1500" b="1">
                          <a:solidFill>
                            <a:srgbClr val="FFFFFF"/>
                          </a:solidFill>
                          <a:latin typeface="Aptos"/>
                          <a:ea typeface="Aptos"/>
                          <a:cs typeface="Aptos"/>
                        </a:rPr>
                        <a:t>Layer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Technology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This Choice for This Project</a:t>
                      </a:r>
                    </a:p>
                  </a:txBody>
                  <a:tcPr marL="114300" marR="114300" marT="114300" marB="85725" anchor="t">
                    <a:solidFill>
                      <a:srgbClr val="142C43"/>
                    </a:solidFill>
                  </a:tcPr>
                </a:tc>
              </a:tr>
              <a:tr h="1743456">
                <a:tc>
                  <a:txBody>
                    <a:bodyPr/>
                    <a:lstStyle/>
                    <a:p>
                      <a:r>
                        <a:rPr sz="1650" b="1">
                          <a:solidFill>
                            <a:srgbClr val="263D50"/>
                          </a:solidFill>
                          <a:latin typeface="Aptos"/>
                          <a:ea typeface="Aptos"/>
                          <a:cs typeface="Aptos"/>
                        </a:rPr>
                        <a:t>Primary Database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PostgreSQL 16</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Native Row-Level Security (RLS) — the single most important capability for this project. RLS enforces tenant isolation at the database engine level, meaning even application bugs cannot leak cross-tenant data. JSONB support handles semi-structured platform-specific API responses. Mature partitioning for time-series metrics data.</a:t>
                      </a:r>
                    </a:p>
                  </a:txBody>
                  <a:tcPr marL="114300" marR="114300" marT="114300" marB="85725" anchor="t">
                    <a:solidFill>
                      <a:srgbClr val="FFFFFF"/>
                    </a:solidFill>
                  </a:tcPr>
                </a:tc>
              </a:tr>
              <a:tr h="1232154">
                <a:tc>
                  <a:txBody>
                    <a:bodyPr/>
                    <a:lstStyle/>
                    <a:p>
                      <a:r>
                        <a:rPr sz="1650" b="1">
                          <a:solidFill>
                            <a:srgbClr val="263D50"/>
                          </a:solidFill>
                          <a:latin typeface="Aptos"/>
                          <a:ea typeface="Aptos"/>
                          <a:cs typeface="Aptos"/>
                        </a:rPr>
                        <a:t>ORM / Query Builder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Prisma 6</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Type-safe query builder with auto-generated TypeScript types from schema. Schema-first migrations align with this project’s need for strict, auditable schema evolution. Raw SQL escape hatch for complex analytics queries.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107457362"/>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FFF0F7B-AB58-4C7D-98C0-B262A9CB5EE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54C6575A-49A7-40EC-B9B1-4931BCEACCD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15</a:t>
            </a:r>
          </a:p>
        </p:txBody>
      </p:sp>
      <p:graphicFrame>
        <p:nvGraphicFramePr>
          <p:cNvPr id="6" name=""/>
          <p:cNvGraphicFramePr/>
          <p:nvPr/>
        </p:nvGraphicFramePr>
        <p:xfrm>
          <a:off xmlns:a="http://schemas.openxmlformats.org/drawingml/2006/main" x="609600" y="1847850"/>
          <a:ext xmlns:a="http://schemas.openxmlformats.org/drawingml/2006/main" cx="10820400" cy="3272409"/>
        </p:xfrm>
        <a:graphic xmlns:a="http://schemas.openxmlformats.org/drawingml/2006/main">
          <a:graphicData uri="http://schemas.openxmlformats.org/drawingml/2006/table">
            <a:tbl>
              <a:tblPr/>
              <a:tblGrid>
                <a:gridCol w="1839468"/>
                <a:gridCol w="2705100"/>
                <a:gridCol w="6275832"/>
              </a:tblGrid>
              <a:tr h="552450">
                <a:tc>
                  <a:txBody>
                    <a:bodyPr/>
                    <a:lstStyle/>
                    <a:p>
                      <a:r>
                        <a:rPr sz="1500" b="1">
                          <a:solidFill>
                            <a:srgbClr val="FFFFFF"/>
                          </a:solidFill>
                          <a:latin typeface="Aptos"/>
                          <a:ea typeface="Aptos"/>
                          <a:cs typeface="Aptos"/>
                        </a:rPr>
                        <a:t>Layer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Technology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This Choice for This Project</a:t>
                      </a:r>
                    </a:p>
                  </a:txBody>
                  <a:tcPr marL="114300" marR="114300" marT="114300" marB="85725" anchor="t">
                    <a:solidFill>
                      <a:srgbClr val="142C43"/>
                    </a:solidFill>
                  </a:tcPr>
                </a:tc>
              </a:tr>
              <a:tr h="1487805">
                <a:tc>
                  <a:txBody>
                    <a:bodyPr/>
                    <a:lstStyle/>
                    <a:p>
                      <a:r>
                        <a:rPr sz="1650" b="1">
                          <a:solidFill>
                            <a:srgbClr val="263D50"/>
                          </a:solidFill>
                          <a:latin typeface="Aptos"/>
                          <a:ea typeface="Aptos"/>
                          <a:cs typeface="Aptos"/>
                        </a:rPr>
                        <a:t>Cache &amp; Queue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Redis 7 (via ElastiCache)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Dual purpose: (1) BullMQ job queue for reliable async pipeline processing with retries, backoff, and dead letter queues, and (2) API response caching to serve dashboard reads from memory when data hasn’t changed since last sync.</a:t>
                      </a:r>
                    </a:p>
                  </a:txBody>
                  <a:tcPr marL="114300" marR="114300" marT="114300" marB="85725" anchor="t">
                    <a:solidFill>
                      <a:srgbClr val="FFFFFF"/>
                    </a:solidFill>
                  </a:tcPr>
                </a:tc>
              </a:tr>
              <a:tr h="1232154">
                <a:tc>
                  <a:txBody>
                    <a:bodyPr/>
                    <a:lstStyle/>
                    <a:p>
                      <a:r>
                        <a:rPr sz="1650" b="1">
                          <a:solidFill>
                            <a:srgbClr val="263D50"/>
                          </a:solidFill>
                          <a:latin typeface="Aptos"/>
                          <a:ea typeface="Aptos"/>
                          <a:cs typeface="Aptos"/>
                        </a:rPr>
                        <a:t>Frontend Framework</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Next.js 14 (App Router, React 18)</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SSR for initial dashboard load performance (critical for large datasets). API routes for lightweight BFF pattern. React ecosystem provides the richest charting/visualization library options. Vercel-compatible but self-hostable on AWS.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377168258"/>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088C07-0C1E-41FD-9267-A7B46135076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868154DD-622E-44DA-925F-58E5CE5B839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16</a:t>
            </a:r>
          </a:p>
        </p:txBody>
      </p:sp>
      <p:graphicFrame>
        <p:nvGraphicFramePr>
          <p:cNvPr id="6" name=""/>
          <p:cNvGraphicFramePr/>
          <p:nvPr/>
        </p:nvGraphicFramePr>
        <p:xfrm>
          <a:off xmlns:a="http://schemas.openxmlformats.org/drawingml/2006/main" x="609600" y="1847850"/>
          <a:ext xmlns:a="http://schemas.openxmlformats.org/drawingml/2006/main" cx="10820400" cy="3016758"/>
        </p:xfrm>
        <a:graphic xmlns:a="http://schemas.openxmlformats.org/drawingml/2006/main">
          <a:graphicData uri="http://schemas.openxmlformats.org/drawingml/2006/table">
            <a:tbl>
              <a:tblPr/>
              <a:tblGrid>
                <a:gridCol w="1839468"/>
                <a:gridCol w="2705100"/>
                <a:gridCol w="6275832"/>
              </a:tblGrid>
              <a:tr h="552450">
                <a:tc>
                  <a:txBody>
                    <a:bodyPr/>
                    <a:lstStyle/>
                    <a:p>
                      <a:r>
                        <a:rPr sz="1500" b="1">
                          <a:solidFill>
                            <a:srgbClr val="FFFFFF"/>
                          </a:solidFill>
                          <a:latin typeface="Aptos"/>
                          <a:ea typeface="Aptos"/>
                          <a:cs typeface="Aptos"/>
                        </a:rPr>
                        <a:t>Layer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Technology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This Choice for This Project</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Charting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Recharts + Tremor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Recharts for custom data visualizations (line, bar, area, pie). Tremor for pre-built dashboard components (KPI cards, sparklines, metric badges). Both are React-native with excellent TypeScript support.</a:t>
                      </a:r>
                    </a:p>
                  </a:txBody>
                  <a:tcPr marL="114300" marR="114300" marT="114300" marB="85725" anchor="t">
                    <a:solidFill>
                      <a:srgbClr val="FFFFFF"/>
                    </a:solidFill>
                  </a:tcPr>
                </a:tc>
              </a:tr>
              <a:tr h="1232154">
                <a:tc>
                  <a:txBody>
                    <a:bodyPr/>
                    <a:lstStyle/>
                    <a:p>
                      <a:r>
                        <a:rPr sz="1650" b="1">
                          <a:solidFill>
                            <a:srgbClr val="263D50"/>
                          </a:solidFill>
                          <a:latin typeface="Aptos"/>
                          <a:ea typeface="Aptos"/>
                          <a:cs typeface="Aptos"/>
                        </a:rPr>
                        <a:t>Styling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Tailwind CSS 4 + shadcn/ui</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Utility-first CSS for rapid, consistent UI development. shadcn/ui provides accessible, unstyled component primitives that match the “simple, professional” product principle.</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70010587"/>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9E9A9A-5F77-4840-931E-0F6DCD1AEC1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8346EB9E-125C-453E-96ED-005310F8B34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17</a:t>
            </a:r>
          </a:p>
        </p:txBody>
      </p:sp>
      <p:graphicFrame>
        <p:nvGraphicFramePr>
          <p:cNvPr id="6" name=""/>
          <p:cNvGraphicFramePr/>
          <p:nvPr/>
        </p:nvGraphicFramePr>
        <p:xfrm>
          <a:off xmlns:a="http://schemas.openxmlformats.org/drawingml/2006/main" x="609600" y="1847850"/>
          <a:ext xmlns:a="http://schemas.openxmlformats.org/drawingml/2006/main" cx="10820400" cy="4248912"/>
        </p:xfrm>
        <a:graphic xmlns:a="http://schemas.openxmlformats.org/drawingml/2006/main">
          <a:graphicData uri="http://schemas.openxmlformats.org/drawingml/2006/table">
            <a:tbl>
              <a:tblPr/>
              <a:tblGrid>
                <a:gridCol w="1839468"/>
                <a:gridCol w="2705100"/>
                <a:gridCol w="6275832"/>
              </a:tblGrid>
              <a:tr h="552450">
                <a:tc>
                  <a:txBody>
                    <a:bodyPr/>
                    <a:lstStyle/>
                    <a:p>
                      <a:r>
                        <a:rPr sz="1500" b="1">
                          <a:solidFill>
                            <a:srgbClr val="FFFFFF"/>
                          </a:solidFill>
                          <a:latin typeface="Aptos"/>
                          <a:ea typeface="Aptos"/>
                          <a:cs typeface="Aptos"/>
                        </a:rPr>
                        <a:t>Layer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Technology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This Choice for This Project</a:t>
                      </a:r>
                    </a:p>
                  </a:txBody>
                  <a:tcPr marL="114300" marR="114300" marT="114300" marB="85725" anchor="t">
                    <a:solidFill>
                      <a:srgbClr val="142C43"/>
                    </a:solidFill>
                  </a:tcPr>
                </a:tc>
              </a:tr>
              <a:tr h="1743456">
                <a:tc>
                  <a:txBody>
                    <a:bodyPr/>
                    <a:lstStyle/>
                    <a:p>
                      <a:r>
                        <a:rPr sz="1650" b="1">
                          <a:solidFill>
                            <a:srgbClr val="263D50"/>
                          </a:solidFill>
                          <a:latin typeface="Aptos"/>
                          <a:ea typeface="Aptos"/>
                          <a:cs typeface="Aptos"/>
                        </a:rPr>
                        <a:t>Infrastructure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AWS (ECS Fargate, RDS, ElastiCache, S3, CloudFront)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Managed services reduce operational burden. Fargate eliminates server management. RDS provides automated backups, point-in-time recovery, and read replicas. ElastiCache for managed Redis. CloudFront for global edge caching. Well-established pricing model for per-tenant cost estimation.</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IaC</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Terraform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Declarative infrastructure management. Environment parity (dev/staging/prod) from identical configuration. State locking prevents concurrent drift.</a:t>
                      </a:r>
                    </a:p>
                  </a:txBody>
                  <a:tcPr marL="114300" marR="114300" marT="114300" marB="85725" anchor="t">
                    <a:solidFill>
                      <a:srgbClr val="EAF1F4"/>
                    </a:solidFill>
                  </a:tcPr>
                </a:tc>
              </a:tr>
              <a:tr h="976503">
                <a:tc>
                  <a:txBody>
                    <a:bodyPr/>
                    <a:lstStyle/>
                    <a:p>
                      <a:r>
                        <a:rPr sz="1650" b="1">
                          <a:solidFill>
                            <a:srgbClr val="263D50"/>
                          </a:solidFill>
                          <a:latin typeface="Aptos"/>
                          <a:ea typeface="Aptos"/>
                          <a:cs typeface="Aptos"/>
                        </a:rPr>
                        <a:t>CI/CD</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GitHub Actions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Native GitHub integration. Matrix builds for parallel test execution. Environment-based deployment approvals. Reusable workflow definitions.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431092888"/>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40411C8-0B2C-417D-BD45-4C1F47672D3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503A656D-52D6-4116-BB57-07BD5F5D262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18</a:t>
            </a:r>
          </a:p>
        </p:txBody>
      </p:sp>
      <p:graphicFrame>
        <p:nvGraphicFramePr>
          <p:cNvPr id="6" name=""/>
          <p:cNvGraphicFramePr/>
          <p:nvPr/>
        </p:nvGraphicFramePr>
        <p:xfrm>
          <a:off xmlns:a="http://schemas.openxmlformats.org/drawingml/2006/main" x="609600" y="1847850"/>
          <a:ext xmlns:a="http://schemas.openxmlformats.org/drawingml/2006/main" cx="10820400" cy="3993261"/>
        </p:xfrm>
        <a:graphic xmlns:a="http://schemas.openxmlformats.org/drawingml/2006/main">
          <a:graphicData uri="http://schemas.openxmlformats.org/drawingml/2006/table">
            <a:tbl>
              <a:tblPr/>
              <a:tblGrid>
                <a:gridCol w="1839468"/>
                <a:gridCol w="2705100"/>
                <a:gridCol w="6275832"/>
              </a:tblGrid>
              <a:tr h="552450">
                <a:tc>
                  <a:txBody>
                    <a:bodyPr/>
                    <a:lstStyle/>
                    <a:p>
                      <a:r>
                        <a:rPr sz="1500" b="1">
                          <a:solidFill>
                            <a:srgbClr val="FFFFFF"/>
                          </a:solidFill>
                          <a:latin typeface="Aptos"/>
                          <a:ea typeface="Aptos"/>
                          <a:cs typeface="Aptos"/>
                        </a:rPr>
                        <a:t>Layer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Technology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This Choice for This Project</a:t>
                      </a:r>
                    </a:p>
                  </a:txBody>
                  <a:tcPr marL="114300" marR="114300" marT="114300" marB="85725" anchor="t">
                    <a:solidFill>
                      <a:srgbClr val="142C43"/>
                    </a:solidFill>
                  </a:tcPr>
                </a:tc>
              </a:tr>
              <a:tr h="1487805">
                <a:tc>
                  <a:txBody>
                    <a:bodyPr/>
                    <a:lstStyle/>
                    <a:p>
                      <a:r>
                        <a:rPr sz="1650" b="1">
                          <a:solidFill>
                            <a:srgbClr val="263D50"/>
                          </a:solidFill>
                          <a:latin typeface="Aptos"/>
                          <a:ea typeface="Aptos"/>
                          <a:cs typeface="Aptos"/>
                        </a:rPr>
                        <a:t>AI/LLM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LangChain.js + OpenAI GPT-4o</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LangChain provides structured prompt templating, chain composition, and output parsing. GPT-4o balances reasoning capability (critical for SQL generation) with cost and latency. Swappable — Claude or Gemini can substitute if cost or capability needs shift.</a:t>
                      </a:r>
                    </a:p>
                  </a:txBody>
                  <a:tcPr marL="114300" marR="114300" marT="114300" marB="85725" anchor="t">
                    <a:solidFill>
                      <a:srgbClr val="FFFFFF"/>
                    </a:solidFill>
                  </a:tcPr>
                </a:tc>
              </a:tr>
              <a:tr h="1232154">
                <a:tc>
                  <a:txBody>
                    <a:bodyPr/>
                    <a:lstStyle/>
                    <a:p>
                      <a:r>
                        <a:rPr sz="1650" b="1">
                          <a:solidFill>
                            <a:srgbClr val="263D50"/>
                          </a:solidFill>
                          <a:latin typeface="Aptos"/>
                          <a:ea typeface="Aptos"/>
                          <a:cs typeface="Aptos"/>
                        </a:rPr>
                        <a:t>Observability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Datadog (APM, Logs, Metrics)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Unified platform for traces, metrics, and logs. Pre-built integrations for NestJS, PostgreSQL, Redis. Custom dashboards for sync pipeline health. Alerting with PagerDuty/Slack integration.</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Error Tracking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Sentry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Real-time error aggregation with source maps. Release tracking correlates errors to deployments.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930162915"/>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225D10-82CF-451D-8A1C-AA0621932BF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CE987E19-51A1-4AF7-A0E2-4C298880B3A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Stack Alternatives Considered</a:t>
            </a:r>
          </a:p>
        </p:txBody>
      </p:sp>
      <p:sp>
        <p:nvSpPr>
          <p:cNvPr id="3" name="">
            <a:extLst xmlns:a="http://schemas.openxmlformats.org/drawingml/2006/main">
              <a:ext uri="{FF2B5EF4-FFF2-40B4-BE49-F238E27FC236}">
                <a16:creationId xmlns:a16="http://schemas.microsoft.com/office/drawing/2014/main" id="{B9A742A5-AB56-4941-8C83-2AA167F835D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19</a:t>
            </a:r>
          </a:p>
        </p:txBody>
      </p:sp>
      <p:graphicFrame>
        <p:nvGraphicFramePr>
          <p:cNvPr id="8" name=""/>
          <p:cNvGraphicFramePr/>
          <p:nvPr/>
        </p:nvGraphicFramePr>
        <p:xfrm>
          <a:off xmlns:a="http://schemas.openxmlformats.org/drawingml/2006/main" x="609600" y="1847850"/>
          <a:ext xmlns:a="http://schemas.openxmlformats.org/drawingml/2006/main" cx="10820400" cy="3016758"/>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Alternative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Not</a:t>
                      </a:r>
                    </a:p>
                  </a:txBody>
                  <a:tcPr marL="114300" marR="114300" marT="114300" marB="85725" anchor="t">
                    <a:solidFill>
                      <a:srgbClr val="142C43"/>
                    </a:solidFill>
                  </a:tcPr>
                </a:tc>
              </a:tr>
              <a:tr h="1487805">
                <a:tc>
                  <a:txBody>
                    <a:bodyPr/>
                    <a:lstStyle/>
                    <a:p>
                      <a:r>
                        <a:rPr sz="1650" b="1">
                          <a:solidFill>
                            <a:srgbClr val="263D50"/>
                          </a:solidFill>
                          <a:latin typeface="Aptos"/>
                          <a:ea typeface="Aptos"/>
                          <a:cs typeface="Aptos"/>
                        </a:rPr>
                        <a:t>Supabase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Excellent for rapid prototyping but limits control over RLS policy complexity, migration workflows, and background job architecture. The sync pipeline’s needs (complex retry logic, rate limit coordination, multi-step normalization) exceed what Supabase Edge Functions offer. Good for simpler CRUD apps, but this project needs fine-grained architectural control.</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Firebase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NoSQL data model doesn’t suit the highly relational nature of org→account→platform→metric→post hierarchies. Firestore security rules are less expressive than PostgreSQL RLS for complex tenant scoping.</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850473120"/>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62891E-F687-443E-AD68-EC66FBDEF35F}"/>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3. Technology Stack &amp; Justification</a:t>
            </a:r>
          </a:p>
        </p:txBody>
      </p:sp>
      <p:sp>
        <p:nvSpPr>
          <p:cNvPr id="2" name="">
            <a:extLst xmlns:a="http://schemas.openxmlformats.org/drawingml/2006/main">
              <a:ext uri="{FF2B5EF4-FFF2-40B4-BE49-F238E27FC236}">
                <a16:creationId xmlns:a16="http://schemas.microsoft.com/office/drawing/2014/main" id="{63719085-8519-4EF9-98DB-EE558349763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Stack Alternatives Considered</a:t>
            </a:r>
          </a:p>
        </p:txBody>
      </p:sp>
      <p:sp>
        <p:nvSpPr>
          <p:cNvPr id="3" name="">
            <a:extLst xmlns:a="http://schemas.openxmlformats.org/drawingml/2006/main">
              <a:ext uri="{FF2B5EF4-FFF2-40B4-BE49-F238E27FC236}">
                <a16:creationId xmlns:a16="http://schemas.microsoft.com/office/drawing/2014/main" id="{273338AC-9064-4C91-A165-8B6050176E9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20</a:t>
            </a:r>
          </a:p>
        </p:txBody>
      </p:sp>
      <p:graphicFrame>
        <p:nvGraphicFramePr>
          <p:cNvPr id="8" name=""/>
          <p:cNvGraphicFramePr/>
          <p:nvPr/>
        </p:nvGraphicFramePr>
        <p:xfrm>
          <a:off xmlns:a="http://schemas.openxmlformats.org/drawingml/2006/main" x="609600" y="1847850"/>
          <a:ext xmlns:a="http://schemas.openxmlformats.org/drawingml/2006/main" cx="10820400" cy="2505456"/>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Alternative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Why Not</a:t>
                      </a:r>
                    </a:p>
                  </a:txBody>
                  <a:tcPr marL="114300" marR="114300" marT="114300" marB="85725" anchor="t">
                    <a:solidFill>
                      <a:srgbClr val="142C43"/>
                    </a:solidFill>
                  </a:tcPr>
                </a:tc>
              </a:tr>
              <a:tr h="976503">
                <a:tc>
                  <a:txBody>
                    <a:bodyPr/>
                    <a:lstStyle/>
                    <a:p>
                      <a:r>
                        <a:rPr sz="1650" b="1">
                          <a:solidFill>
                            <a:srgbClr val="263D50"/>
                          </a:solidFill>
                          <a:latin typeface="Aptos"/>
                          <a:ea typeface="Aptos"/>
                          <a:cs typeface="Aptos"/>
                        </a:rPr>
                        <a:t>Django/Python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Strong ORM and admin, but the async I/O patterns needed for concurrent platform API calls and real-time dashboard updates are more natural in Node.js. The team’s primary expertise is TypeScript-first.</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Schema-per-tenant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Operationally expensive: migrations must run against every schema, connection pooling becomes complex, and adding a tenant requires DDL. RLS achieves equivalent isolation with a single schema.</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37288727"/>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283F0D-9055-47D5-80A0-5B28A840E2F0}"/>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4. Multi-Tenancy Strategy</a:t>
            </a:r>
          </a:p>
        </p:txBody>
      </p:sp>
      <p:sp>
        <p:nvSpPr>
          <p:cNvPr id="2" name="">
            <a:extLst xmlns:a="http://schemas.openxmlformats.org/drawingml/2006/main">
              <a:ext uri="{FF2B5EF4-FFF2-40B4-BE49-F238E27FC236}">
                <a16:creationId xmlns:a16="http://schemas.microsoft.com/office/drawing/2014/main" id="{51990725-8299-4949-8C5E-E593E2A8A0FB}"/>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Approach: Shared Database, Shared Schema, Row-Level Security</a:t>
            </a:r>
          </a:p>
        </p:txBody>
      </p:sp>
      <p:sp>
        <p:nvSpPr>
          <p:cNvPr id="3" name="">
            <a:extLst xmlns:a="http://schemas.openxmlformats.org/drawingml/2006/main">
              <a:ext uri="{FF2B5EF4-FFF2-40B4-BE49-F238E27FC236}">
                <a16:creationId xmlns:a16="http://schemas.microsoft.com/office/drawing/2014/main" id="{C044A7ED-C89C-475B-8BB0-36FD0311E3F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5C6B38C7-D651-4B22-9077-EBA6342D6AA6}"/>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implement database-level tenant isolation using PostgreSQL Row-Level Security (RLS) in a shared schema. Every tenant-scoped table includes an organization_id column, and RLS policies enforce that queries can only access rows belonging to the authenticated tenant.</a:t>
            </a:r>
          </a:p>
        </p:txBody>
      </p:sp>
    </p:spTree>
    <p:extLst>
      <p:ext uri="{BB962C8B-B14F-4D97-AF65-F5344CB8AC3E}">
        <p14:creationId xmlns:p14="http://schemas.microsoft.com/office/powerpoint/2010/main" val="1487580103"/>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C8A515-D00E-4DA8-9486-0C7DE4B69C0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4. Multi-Tenancy Strategy</a:t>
            </a:r>
          </a:p>
        </p:txBody>
      </p:sp>
      <p:sp>
        <p:nvSpPr>
          <p:cNvPr id="2" name="">
            <a:extLst xmlns:a="http://schemas.openxmlformats.org/drawingml/2006/main">
              <a:ext uri="{FF2B5EF4-FFF2-40B4-BE49-F238E27FC236}">
                <a16:creationId xmlns:a16="http://schemas.microsoft.com/office/drawing/2014/main" id="{66585A35-51F1-4549-8385-9E3145E10AC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Why RLS Over Alternatives</a:t>
            </a:r>
          </a:p>
        </p:txBody>
      </p:sp>
      <p:sp>
        <p:nvSpPr>
          <p:cNvPr id="3" name="">
            <a:extLst xmlns:a="http://schemas.openxmlformats.org/drawingml/2006/main">
              <a:ext uri="{FF2B5EF4-FFF2-40B4-BE49-F238E27FC236}">
                <a16:creationId xmlns:a16="http://schemas.microsoft.com/office/drawing/2014/main" id="{6D8F3CBC-686E-4E5A-BA6B-BB23F8DE3F6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22</a:t>
            </a:r>
          </a:p>
        </p:txBody>
      </p:sp>
      <p:graphicFrame>
        <p:nvGraphicFramePr>
          <p:cNvPr id="8" name=""/>
          <p:cNvGraphicFramePr/>
          <p:nvPr/>
        </p:nvGraphicFramePr>
        <p:xfrm>
          <a:off xmlns:a="http://schemas.openxmlformats.org/drawingml/2006/main" x="609600" y="1847850"/>
          <a:ext xmlns:a="http://schemas.openxmlformats.org/drawingml/2006/main" cx="10820400" cy="3783711"/>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Approach</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Pros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Cons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Verdict</a:t>
                      </a:r>
                    </a:p>
                  </a:txBody>
                  <a:tcPr marL="114300" marR="114300" marT="114300" marB="85725" anchor="t">
                    <a:solidFill>
                      <a:srgbClr val="142C43"/>
                    </a:solidFill>
                  </a:tcPr>
                </a:tc>
              </a:tr>
              <a:tr h="1743456">
                <a:tc>
                  <a:txBody>
                    <a:bodyPr/>
                    <a:lstStyle/>
                    <a:p>
                      <a:r>
                        <a:rPr sz="1650" b="1">
                          <a:solidFill>
                            <a:srgbClr val="263D50"/>
                          </a:solidFill>
                          <a:latin typeface="Aptos"/>
                          <a:ea typeface="Aptos"/>
                          <a:cs typeface="Aptos"/>
                        </a:rPr>
                        <a:t>Shared DB + RLS ✅</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Single schema to migrate. Database-enforced isolation. No app-layer trust required. Scales to thousands of tenants.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Requires careful RLS policy design. Slightly more complex queries.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Selected — best balance of security, operational simplicity, and cost</a:t>
                      </a:r>
                    </a:p>
                  </a:txBody>
                  <a:tcPr marL="114300" marR="114300" marT="114300" marB="85725" anchor="t">
                    <a:solidFill>
                      <a:srgbClr val="FFFFFF"/>
                    </a:solidFill>
                  </a:tcPr>
                </a:tc>
              </a:tr>
              <a:tr h="1487805">
                <a:tc>
                  <a:txBody>
                    <a:bodyPr/>
                    <a:lstStyle/>
                    <a:p>
                      <a:r>
                        <a:rPr sz="1650" b="1">
                          <a:solidFill>
                            <a:srgbClr val="263D50"/>
                          </a:solidFill>
                          <a:latin typeface="Aptos"/>
                          <a:ea typeface="Aptos"/>
                          <a:cs typeface="Aptos"/>
                        </a:rPr>
                        <a:t>Schema-per-tenant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Strong isolation. Easy per-tenant backup.</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Migration nightmare at scale. Connection pool per schema. DDL on tenant creation.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Rejected — operational cost too high beyond ~50 tenants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969430238"/>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9F3F97-499D-41C5-A617-B04E881FFDF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4. Multi-Tenancy Strategy</a:t>
            </a:r>
          </a:p>
        </p:txBody>
      </p:sp>
      <p:sp>
        <p:nvSpPr>
          <p:cNvPr id="2" name="">
            <a:extLst xmlns:a="http://schemas.openxmlformats.org/drawingml/2006/main">
              <a:ext uri="{FF2B5EF4-FFF2-40B4-BE49-F238E27FC236}">
                <a16:creationId xmlns:a16="http://schemas.microsoft.com/office/drawing/2014/main" id="{82EDDEFB-92AB-47BB-881A-0A424D6FDD1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Why RLS Over Alternatives</a:t>
            </a:r>
          </a:p>
        </p:txBody>
      </p:sp>
      <p:sp>
        <p:nvSpPr>
          <p:cNvPr id="3" name="">
            <a:extLst xmlns:a="http://schemas.openxmlformats.org/drawingml/2006/main">
              <a:ext uri="{FF2B5EF4-FFF2-40B4-BE49-F238E27FC236}">
                <a16:creationId xmlns:a16="http://schemas.microsoft.com/office/drawing/2014/main" id="{9E11D5BA-B79E-4C6B-BAD6-F464781BB42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23</a:t>
            </a:r>
          </a:p>
        </p:txBody>
      </p:sp>
      <p:graphicFrame>
        <p:nvGraphicFramePr>
          <p:cNvPr id="8" name=""/>
          <p:cNvGraphicFramePr/>
          <p:nvPr/>
        </p:nvGraphicFramePr>
        <p:xfrm>
          <a:off xmlns:a="http://schemas.openxmlformats.org/drawingml/2006/main" x="609600" y="1847850"/>
          <a:ext xmlns:a="http://schemas.openxmlformats.org/drawingml/2006/main" cx="10820400" cy="3016758"/>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Approach</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Pros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Cons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Verdict</a:t>
                      </a:r>
                    </a:p>
                  </a:txBody>
                  <a:tcPr marL="114300" marR="114300" marT="114300" marB="85725" anchor="t">
                    <a:solidFill>
                      <a:srgbClr val="142C43"/>
                    </a:solidFill>
                  </a:tcPr>
                </a:tc>
              </a:tr>
              <a:tr h="1487805">
                <a:tc>
                  <a:txBody>
                    <a:bodyPr/>
                    <a:lstStyle/>
                    <a:p>
                      <a:r>
                        <a:rPr sz="1650" b="1">
                          <a:solidFill>
                            <a:srgbClr val="263D50"/>
                          </a:solidFill>
                          <a:latin typeface="Aptos"/>
                          <a:ea typeface="Aptos"/>
                          <a:cs typeface="Aptos"/>
                        </a:rPr>
                        <a:t>Database-per-tenant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Maximum isolation. Independent scaling.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Extremely expensive. Deployment complexity. Cross-tenant analytics impossible.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Rejected — cost-prohibitive for this use case</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App-layer filtering only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Simple to implement.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One missing WHERE clause = data leak. No defense in depth.</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Rejected — violates the hard isolation requirement</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00314013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036520-2457-437A-8D05-29B509A8204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5. Database Design</a:t>
            </a:r>
          </a:p>
        </p:txBody>
      </p:sp>
      <p:sp>
        <p:nvSpPr>
          <p:cNvPr id="2" name="">
            <a:extLst xmlns:a="http://schemas.openxmlformats.org/drawingml/2006/main">
              <a:ext uri="{FF2B5EF4-FFF2-40B4-BE49-F238E27FC236}">
                <a16:creationId xmlns:a16="http://schemas.microsoft.com/office/drawing/2014/main" id="{FE96AC55-BAB1-4592-B906-7870523736AA}"/>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Entity-Relationship Diagram</a:t>
            </a:r>
          </a:p>
        </p:txBody>
      </p:sp>
      <p:sp>
        <p:nvSpPr>
          <p:cNvPr id="3" name="">
            <a:extLst xmlns:a="http://schemas.openxmlformats.org/drawingml/2006/main">
              <a:ext uri="{FF2B5EF4-FFF2-40B4-BE49-F238E27FC236}">
                <a16:creationId xmlns:a16="http://schemas.microsoft.com/office/drawing/2014/main" id="{4467DEF2-CB57-4290-B4D3-31FB66C15B0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1f29790ae1d43ce"/>
          <a:stretch xmlns:a="http://schemas.openxmlformats.org/drawingml/2006/main"/>
        </p:blipFill>
        <p:spPr>
          <a:xfrm xmlns:a="http://schemas.openxmlformats.org/drawingml/2006/main">
            <a:off x="3533567" y="1809750"/>
            <a:ext cx="5124865" cy="4476750"/>
          </a:xfrm>
          <a:prstGeom xmlns:a="http://schemas.openxmlformats.org/drawingml/2006/main" prst="rect">
            <a:avLst/>
          </a:prstGeom>
        </p:spPr>
      </p:pic>
    </p:spTree>
    <p:extLst>
      <p:ext uri="{BB962C8B-B14F-4D97-AF65-F5344CB8AC3E}">
        <p14:creationId xmlns:p14="http://schemas.microsoft.com/office/powerpoint/2010/main" val="569799902"/>
      </p:ext>
    </p:extLst>
  </p:cSld>
</p:sld>
</file>

<file path=ppt/slides/slide2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D03296-FE8D-443C-9EE2-F99508223EC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5. Database Design</a:t>
            </a:r>
          </a:p>
        </p:txBody>
      </p:sp>
      <p:sp>
        <p:nvSpPr>
          <p:cNvPr id="2" name="">
            <a:extLst xmlns:a="http://schemas.openxmlformats.org/drawingml/2006/main">
              <a:ext uri="{FF2B5EF4-FFF2-40B4-BE49-F238E27FC236}">
                <a16:creationId xmlns:a16="http://schemas.microsoft.com/office/drawing/2014/main" id="{B1B681B6-B925-48BD-A327-C516184B4E4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Migration Strategy</a:t>
            </a:r>
          </a:p>
        </p:txBody>
      </p:sp>
      <p:sp>
        <p:nvSpPr>
          <p:cNvPr id="3" name="">
            <a:extLst xmlns:a="http://schemas.openxmlformats.org/drawingml/2006/main">
              <a:ext uri="{FF2B5EF4-FFF2-40B4-BE49-F238E27FC236}">
                <a16:creationId xmlns:a16="http://schemas.microsoft.com/office/drawing/2014/main" id="{1E1455C2-1192-4A31-95E7-0FFFEDD9DAD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44BD1202-8D74-4D79-AA14-B2253514049E}"/>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Tool: Prisma Migrate (schema-first, generates SQL migrations)</a:t>
            </a:r>
          </a:p>
        </p:txBody>
      </p:sp>
      <p:sp>
        <p:nvSpPr>
          <p:cNvPr id="5" name="">
            <a:extLst xmlns:a="http://schemas.openxmlformats.org/drawingml/2006/main">
              <a:ext uri="{FF2B5EF4-FFF2-40B4-BE49-F238E27FC236}">
                <a16:creationId xmlns:a16="http://schemas.microsoft.com/office/drawing/2014/main" id="{27F85F68-68A0-45A6-A5EE-0B8F4A2C8D3D}"/>
              </a:ext>
            </a:extLst>
          </p:cNvPr>
          <p:cNvSpPr>
            <a:spLocks xmlns:a="http://schemas.openxmlformats.org/drawingml/2006/main" noGrp="1"/>
          </p:cNvSpPr>
          <p:nvPr/>
        </p:nvSpPr>
        <p:spPr>
          <a:xfrm xmlns:a="http://schemas.openxmlformats.org/drawingml/2006/main">
            <a:off x="609600" y="247840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Process: Migration files versioned in git. Applied as pre-deploy hook in CI/CD pipeline</a:t>
            </a:r>
          </a:p>
        </p:txBody>
      </p:sp>
      <p:sp>
        <p:nvSpPr>
          <p:cNvPr id="6" name="">
            <a:extLst xmlns:a="http://schemas.openxmlformats.org/drawingml/2006/main">
              <a:ext uri="{FF2B5EF4-FFF2-40B4-BE49-F238E27FC236}">
                <a16:creationId xmlns:a16="http://schemas.microsoft.com/office/drawing/2014/main" id="{02ECA2E3-6C0E-4CDA-AE77-5944BD796BDB}"/>
              </a:ext>
            </a:extLst>
          </p:cNvPr>
          <p:cNvSpPr>
            <a:spLocks xmlns:a="http://schemas.openxmlformats.org/drawingml/2006/main" noGrp="1"/>
          </p:cNvSpPr>
          <p:nvPr/>
        </p:nvSpPr>
        <p:spPr>
          <a:xfrm xmlns:a="http://schemas.openxmlformats.org/drawingml/2006/main">
            <a:off x="609600" y="300418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Safety: All migrations tested against staging DB with production-like data volume before prod deploy</a:t>
            </a:r>
          </a:p>
        </p:txBody>
      </p:sp>
      <p:sp>
        <p:nvSpPr>
          <p:cNvPr id="7" name="">
            <a:extLst xmlns:a="http://schemas.openxmlformats.org/drawingml/2006/main">
              <a:ext uri="{FF2B5EF4-FFF2-40B4-BE49-F238E27FC236}">
                <a16:creationId xmlns:a16="http://schemas.microsoft.com/office/drawing/2014/main" id="{1F8924F1-C5A9-46EA-82B8-D23E79DACF98}"/>
              </a:ext>
            </a:extLst>
          </p:cNvPr>
          <p:cNvSpPr>
            <a:spLocks xmlns:a="http://schemas.openxmlformats.org/drawingml/2006/main" noGrp="1"/>
          </p:cNvSpPr>
          <p:nvPr/>
        </p:nvSpPr>
        <p:spPr>
          <a:xfrm xmlns:a="http://schemas.openxmlformats.org/drawingml/2006/main">
            <a:off x="609600" y="352996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Rollback: Every migration has a corresponding down migration. Destructive changes (column drops) are two-phase: deprecate → verify no usage → remove</a:t>
            </a:r>
          </a:p>
        </p:txBody>
      </p:sp>
    </p:spTree>
    <p:extLst>
      <p:ext uri="{BB962C8B-B14F-4D97-AF65-F5344CB8AC3E}">
        <p14:creationId xmlns:p14="http://schemas.microsoft.com/office/powerpoint/2010/main" val="149382223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F56F4A-6B17-4DC0-A9CC-AD3710E5740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6. Authentication &amp; Authorization</a:t>
            </a:r>
          </a:p>
        </p:txBody>
      </p:sp>
      <p:sp>
        <p:nvSpPr>
          <p:cNvPr id="2" name="">
            <a:extLst xmlns:a="http://schemas.openxmlformats.org/drawingml/2006/main">
              <a:ext uri="{FF2B5EF4-FFF2-40B4-BE49-F238E27FC236}">
                <a16:creationId xmlns:a16="http://schemas.microsoft.com/office/drawing/2014/main" id="{077FC4ED-8A38-47EF-A994-84634AF7E74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Authentication Architecture</a:t>
            </a:r>
          </a:p>
        </p:txBody>
      </p:sp>
      <p:sp>
        <p:nvSpPr>
          <p:cNvPr id="3" name="">
            <a:extLst xmlns:a="http://schemas.openxmlformats.org/drawingml/2006/main">
              <a:ext uri="{FF2B5EF4-FFF2-40B4-BE49-F238E27FC236}">
                <a16:creationId xmlns:a16="http://schemas.microsoft.com/office/drawing/2014/main" id="{7629F429-259D-448D-9912-9D18555DD7D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c967e3779e54270"/>
          <a:stretch xmlns:a="http://schemas.openxmlformats.org/drawingml/2006/main"/>
        </p:blipFill>
        <p:spPr>
          <a:xfrm xmlns:a="http://schemas.openxmlformats.org/drawingml/2006/main">
            <a:off x="3009002" y="1809750"/>
            <a:ext cx="6173996" cy="4476750"/>
          </a:xfrm>
          <a:prstGeom xmlns:a="http://schemas.openxmlformats.org/drawingml/2006/main" prst="rect">
            <a:avLst/>
          </a:prstGeom>
        </p:spPr>
      </p:pic>
    </p:spTree>
    <p:extLst>
      <p:ext uri="{BB962C8B-B14F-4D97-AF65-F5344CB8AC3E}">
        <p14:creationId xmlns:p14="http://schemas.microsoft.com/office/powerpoint/2010/main" val="20568081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A7D189-46AE-4624-B045-60DC3048FF8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6. Authentication &amp; Authorization</a:t>
            </a:r>
          </a:p>
        </p:txBody>
      </p:sp>
      <p:sp>
        <p:nvSpPr>
          <p:cNvPr id="2" name="">
            <a:extLst xmlns:a="http://schemas.openxmlformats.org/drawingml/2006/main">
              <a:ext uri="{FF2B5EF4-FFF2-40B4-BE49-F238E27FC236}">
                <a16:creationId xmlns:a16="http://schemas.microsoft.com/office/drawing/2014/main" id="{BDC251FC-1ADD-44DD-9407-AB5E8FB87B7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OAuth Flow for Platform Connections</a:t>
            </a:r>
          </a:p>
        </p:txBody>
      </p:sp>
      <p:sp>
        <p:nvSpPr>
          <p:cNvPr id="3" name="">
            <a:extLst xmlns:a="http://schemas.openxmlformats.org/drawingml/2006/main">
              <a:ext uri="{FF2B5EF4-FFF2-40B4-BE49-F238E27FC236}">
                <a16:creationId xmlns:a16="http://schemas.microsoft.com/office/drawing/2014/main" id="{EEE49FFF-1D7E-4B45-9B03-7462C3E5067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27</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ddad3b9fd8d4356"/>
          <a:stretch xmlns:a="http://schemas.openxmlformats.org/drawingml/2006/main"/>
        </p:blipFill>
        <p:spPr>
          <a:xfrm xmlns:a="http://schemas.openxmlformats.org/drawingml/2006/main">
            <a:off x="2623127" y="1809750"/>
            <a:ext cx="6945745" cy="4476750"/>
          </a:xfrm>
          <a:prstGeom xmlns:a="http://schemas.openxmlformats.org/drawingml/2006/main" prst="rect">
            <a:avLst/>
          </a:prstGeom>
        </p:spPr>
      </p:pic>
    </p:spTree>
    <p:extLst>
      <p:ext uri="{BB962C8B-B14F-4D97-AF65-F5344CB8AC3E}">
        <p14:creationId xmlns:p14="http://schemas.microsoft.com/office/powerpoint/2010/main" val="118975560"/>
      </p:ext>
    </p:extLst>
  </p:cSld>
</p:sld>
</file>

<file path=ppt/slides/slide2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A41B1F-9BA9-492F-99DA-02095D01A6BC}"/>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6. Authentication &amp; Authorization</a:t>
            </a:r>
          </a:p>
        </p:txBody>
      </p:sp>
      <p:sp>
        <p:nvSpPr>
          <p:cNvPr id="2" name="">
            <a:extLst xmlns:a="http://schemas.openxmlformats.org/drawingml/2006/main">
              <a:ext uri="{FF2B5EF4-FFF2-40B4-BE49-F238E27FC236}">
                <a16:creationId xmlns:a16="http://schemas.microsoft.com/office/drawing/2014/main" id="{AD29ADA8-68B6-468A-846F-B9F54C77A91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Permission Matrix</a:t>
            </a:r>
          </a:p>
        </p:txBody>
      </p:sp>
      <p:sp>
        <p:nvSpPr>
          <p:cNvPr id="3" name="">
            <a:extLst xmlns:a="http://schemas.openxmlformats.org/drawingml/2006/main">
              <a:ext uri="{FF2B5EF4-FFF2-40B4-BE49-F238E27FC236}">
                <a16:creationId xmlns:a16="http://schemas.microsoft.com/office/drawing/2014/main" id="{DB7FB938-28ED-417A-AFFF-504E86611C9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28</a:t>
            </a:r>
          </a:p>
        </p:txBody>
      </p:sp>
      <p:graphicFrame>
        <p:nvGraphicFramePr>
          <p:cNvPr id="8" name=""/>
          <p:cNvGraphicFramePr/>
          <p:nvPr/>
        </p:nvGraphicFramePr>
        <p:xfrm>
          <a:off xmlns:a="http://schemas.openxmlformats.org/drawingml/2006/main" x="609600" y="1847850"/>
          <a:ext xmlns:a="http://schemas.openxmlformats.org/drawingml/2006/main" cx="10820400" cy="2878455"/>
        </p:xfrm>
        <a:graphic xmlns:a="http://schemas.openxmlformats.org/drawingml/2006/main">
          <a:graphicData uri="http://schemas.openxmlformats.org/drawingml/2006/table">
            <a:tbl>
              <a:tblPr/>
              <a:tblGrid>
                <a:gridCol w="5951220"/>
                <a:gridCol w="1623060"/>
                <a:gridCol w="1623060"/>
                <a:gridCol w="1623060"/>
              </a:tblGrid>
              <a:tr h="552450">
                <a:tc>
                  <a:txBody>
                    <a:bodyPr/>
                    <a:lstStyle/>
                    <a:p>
                      <a:r>
                        <a:rPr sz="1500" b="1">
                          <a:solidFill>
                            <a:srgbClr val="FFFFFF"/>
                          </a:solidFill>
                          <a:latin typeface="Aptos"/>
                          <a:ea typeface="Aptos"/>
                          <a:cs typeface="Aptos"/>
                        </a:rPr>
                        <a:t>Action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Admin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Manager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Viewer</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View dashboard &amp; metrics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Filter/export data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Ask AI questions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Trigger manual sync</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View sync logs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459272141"/>
      </p:ext>
    </p:extLst>
  </p:cSld>
</p:sld>
</file>

<file path=ppt/slides/slide2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203541-0E60-4311-9C0D-2827FF934A9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6. Authentication &amp; Authorization</a:t>
            </a:r>
          </a:p>
        </p:txBody>
      </p:sp>
      <p:sp>
        <p:nvSpPr>
          <p:cNvPr id="2" name="">
            <a:extLst xmlns:a="http://schemas.openxmlformats.org/drawingml/2006/main">
              <a:ext uri="{FF2B5EF4-FFF2-40B4-BE49-F238E27FC236}">
                <a16:creationId xmlns:a16="http://schemas.microsoft.com/office/drawing/2014/main" id="{4441C765-E7C3-478D-A77A-5F2D192DDBA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Permission Matrix</a:t>
            </a:r>
          </a:p>
        </p:txBody>
      </p:sp>
      <p:sp>
        <p:nvSpPr>
          <p:cNvPr id="3" name="">
            <a:extLst xmlns:a="http://schemas.openxmlformats.org/drawingml/2006/main">
              <a:ext uri="{FF2B5EF4-FFF2-40B4-BE49-F238E27FC236}">
                <a16:creationId xmlns:a16="http://schemas.microsoft.com/office/drawing/2014/main" id="{E3CD23B2-113F-4F5E-93FA-647E5E5AC82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29</a:t>
            </a:r>
          </a:p>
        </p:txBody>
      </p:sp>
      <p:graphicFrame>
        <p:nvGraphicFramePr>
          <p:cNvPr id="8" name=""/>
          <p:cNvGraphicFramePr/>
          <p:nvPr/>
        </p:nvGraphicFramePr>
        <p:xfrm>
          <a:off xmlns:a="http://schemas.openxmlformats.org/drawingml/2006/main" x="609600" y="1847850"/>
          <a:ext xmlns:a="http://schemas.openxmlformats.org/drawingml/2006/main" cx="10820400" cy="2413254"/>
        </p:xfrm>
        <a:graphic xmlns:a="http://schemas.openxmlformats.org/drawingml/2006/main">
          <a:graphicData uri="http://schemas.openxmlformats.org/drawingml/2006/table">
            <a:tbl>
              <a:tblPr/>
              <a:tblGrid>
                <a:gridCol w="5951220"/>
                <a:gridCol w="1623060"/>
                <a:gridCol w="1623060"/>
                <a:gridCol w="1623060"/>
              </a:tblGrid>
              <a:tr h="552450">
                <a:tc>
                  <a:txBody>
                    <a:bodyPr/>
                    <a:lstStyle/>
                    <a:p>
                      <a:r>
                        <a:rPr sz="1500" b="1">
                          <a:solidFill>
                            <a:srgbClr val="FFFFFF"/>
                          </a:solidFill>
                          <a:latin typeface="Aptos"/>
                          <a:ea typeface="Aptos"/>
                          <a:cs typeface="Aptos"/>
                        </a:rPr>
                        <a:t>Action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Admin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Manager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Viewer</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Connect/disconnect platforms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Invite/remove users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Manage organization settings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Change user roles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3598054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57120D-64B4-4C7D-8A19-ECF0806861C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7. Data Pipeline Architecture</a:t>
            </a:r>
          </a:p>
        </p:txBody>
      </p:sp>
      <p:sp>
        <p:nvSpPr>
          <p:cNvPr id="2" name="">
            <a:extLst xmlns:a="http://schemas.openxmlformats.org/drawingml/2006/main">
              <a:ext uri="{FF2B5EF4-FFF2-40B4-BE49-F238E27FC236}">
                <a16:creationId xmlns:a16="http://schemas.microsoft.com/office/drawing/2014/main" id="{11D2AB6B-486B-4B09-A58C-D15980A937CB}"/>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Connector Architecture</a:t>
            </a:r>
          </a:p>
        </p:txBody>
      </p:sp>
      <p:sp>
        <p:nvSpPr>
          <p:cNvPr id="3" name="">
            <a:extLst xmlns:a="http://schemas.openxmlformats.org/drawingml/2006/main">
              <a:ext uri="{FF2B5EF4-FFF2-40B4-BE49-F238E27FC236}">
                <a16:creationId xmlns:a16="http://schemas.microsoft.com/office/drawing/2014/main" id="{46890B44-F6E7-43F1-9CD1-54E20CCFE45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a5b6eac9ce8477d"/>
          <a:stretch xmlns:a="http://schemas.openxmlformats.org/drawingml/2006/main"/>
        </p:blipFill>
        <p:spPr>
          <a:xfrm xmlns:a="http://schemas.openxmlformats.org/drawingml/2006/main">
            <a:off x="1623618" y="1809750"/>
            <a:ext cx="8944765" cy="4476750"/>
          </a:xfrm>
          <a:prstGeom xmlns:a="http://schemas.openxmlformats.org/drawingml/2006/main" prst="rect">
            <a:avLst/>
          </a:prstGeom>
        </p:spPr>
      </p:pic>
    </p:spTree>
    <p:extLst>
      <p:ext uri="{BB962C8B-B14F-4D97-AF65-F5344CB8AC3E}">
        <p14:creationId xmlns:p14="http://schemas.microsoft.com/office/powerpoint/2010/main" val="1017530980"/>
      </p:ext>
    </p:extLst>
  </p:cSld>
</p:sld>
</file>

<file path=ppt/slides/slide3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DBE904-E002-4C92-AB8A-04B52AC2428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7. Data Pipeline Architecture</a:t>
            </a:r>
          </a:p>
        </p:txBody>
      </p:sp>
      <p:sp>
        <p:nvSpPr>
          <p:cNvPr id="2" name="">
            <a:extLst xmlns:a="http://schemas.openxmlformats.org/drawingml/2006/main">
              <a:ext uri="{FF2B5EF4-FFF2-40B4-BE49-F238E27FC236}">
                <a16:creationId xmlns:a16="http://schemas.microsoft.com/office/drawing/2014/main" id="{F1EA8958-F617-463A-905B-D8AE9048BCE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Platform API Details</a:t>
            </a:r>
          </a:p>
        </p:txBody>
      </p:sp>
      <p:sp>
        <p:nvSpPr>
          <p:cNvPr id="3" name="">
            <a:extLst xmlns:a="http://schemas.openxmlformats.org/drawingml/2006/main">
              <a:ext uri="{FF2B5EF4-FFF2-40B4-BE49-F238E27FC236}">
                <a16:creationId xmlns:a16="http://schemas.microsoft.com/office/drawing/2014/main" id="{1C41549B-FF83-498B-9999-53BBFB14F999}"/>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31</a:t>
            </a:r>
          </a:p>
        </p:txBody>
      </p:sp>
      <p:graphicFrame>
        <p:nvGraphicFramePr>
          <p:cNvPr id="8" name=""/>
          <p:cNvGraphicFramePr/>
          <p:nvPr/>
        </p:nvGraphicFramePr>
        <p:xfrm>
          <a:off xmlns:a="http://schemas.openxmlformats.org/drawingml/2006/main" x="609600" y="1847850"/>
          <a:ext xmlns:a="http://schemas.openxmlformats.org/drawingml/2006/main" cx="10820400" cy="3016758"/>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Platform</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API</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Rate Limits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Key Metrics Fetched</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Meta</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Graph API v19.0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200 calls/user/hour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Page followers, post reach, impressions, engagement, post-level likes/comments/shares</a:t>
                      </a:r>
                    </a:p>
                  </a:txBody>
                  <a:tcPr marL="114300" marR="114300" marT="114300" marB="85725" anchor="t">
                    <a:solidFill>
                      <a:srgbClr val="FFFFFF"/>
                    </a:solidFill>
                  </a:tcPr>
                </a:tc>
              </a:tr>
              <a:tr h="1232154">
                <a:tc>
                  <a:txBody>
                    <a:bodyPr/>
                    <a:lstStyle/>
                    <a:p>
                      <a:r>
                        <a:rPr sz="1650" b="1">
                          <a:solidFill>
                            <a:srgbClr val="263D50"/>
                          </a:solidFill>
                          <a:latin typeface="Aptos"/>
                          <a:ea typeface="Aptos"/>
                          <a:cs typeface="Aptos"/>
                        </a:rPr>
                        <a:t>Instagram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Instagram Graph API (via Meta)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Shared with Meta quota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Followers, reach, impressions, profile visits, post engagement, story/reel metrics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27299164"/>
      </p:ext>
    </p:extLst>
  </p:cSld>
</p:sld>
</file>

<file path=ppt/slides/slide3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6C624B-531F-4320-B271-CFB4F6ADECD0}"/>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7. Data Pipeline Architecture</a:t>
            </a:r>
          </a:p>
        </p:txBody>
      </p:sp>
      <p:sp>
        <p:nvSpPr>
          <p:cNvPr id="2" name="">
            <a:extLst xmlns:a="http://schemas.openxmlformats.org/drawingml/2006/main">
              <a:ext uri="{FF2B5EF4-FFF2-40B4-BE49-F238E27FC236}">
                <a16:creationId xmlns:a16="http://schemas.microsoft.com/office/drawing/2014/main" id="{8797F81E-4B10-4AA7-886D-9E19F31333D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Platform API Details</a:t>
            </a:r>
          </a:p>
        </p:txBody>
      </p:sp>
      <p:sp>
        <p:nvSpPr>
          <p:cNvPr id="3" name="">
            <a:extLst xmlns:a="http://schemas.openxmlformats.org/drawingml/2006/main">
              <a:ext uri="{FF2B5EF4-FFF2-40B4-BE49-F238E27FC236}">
                <a16:creationId xmlns:a16="http://schemas.microsoft.com/office/drawing/2014/main" id="{DA496D2C-6B6E-4E5A-A10C-77519F3496C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32</a:t>
            </a:r>
          </a:p>
        </p:txBody>
      </p:sp>
      <p:graphicFrame>
        <p:nvGraphicFramePr>
          <p:cNvPr id="8" name=""/>
          <p:cNvGraphicFramePr/>
          <p:nvPr/>
        </p:nvGraphicFramePr>
        <p:xfrm>
          <a:off xmlns:a="http://schemas.openxmlformats.org/drawingml/2006/main" x="609600" y="1847850"/>
          <a:ext xmlns:a="http://schemas.openxmlformats.org/drawingml/2006/main" cx="10820400" cy="2505456"/>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Platform</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API</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Rate Limits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Key Metrics Fetched</a:t>
                      </a:r>
                    </a:p>
                  </a:txBody>
                  <a:tcPr marL="114300" marR="114300" marT="114300" marB="85725" anchor="t">
                    <a:solidFill>
                      <a:srgbClr val="142C43"/>
                    </a:solidFill>
                  </a:tcPr>
                </a:tc>
              </a:tr>
              <a:tr h="976503">
                <a:tc>
                  <a:txBody>
                    <a:bodyPr/>
                    <a:lstStyle/>
                    <a:p>
                      <a:r>
                        <a:rPr sz="1650" b="1">
                          <a:solidFill>
                            <a:srgbClr val="263D50"/>
                          </a:solidFill>
                          <a:latin typeface="Aptos"/>
                          <a:ea typeface="Aptos"/>
                          <a:cs typeface="Aptos"/>
                        </a:rPr>
                        <a:t>LinkedIn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Marketing API v2</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100 calls/day per app</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Organization followers, post impressions, clicks, reactions, shares, engagement rate</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GA4</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Google Analytics Data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10,000 requests/day per project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Users, sessions, engagement rate, traffic sources, landing pages, device breakdown</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8098565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AA5CBE-015C-4ED9-BC13-4D1279018895}"/>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7. Data Pipeline Architecture</a:t>
            </a:r>
          </a:p>
        </p:txBody>
      </p:sp>
      <p:sp>
        <p:nvSpPr>
          <p:cNvPr id="2" name="">
            <a:extLst xmlns:a="http://schemas.openxmlformats.org/drawingml/2006/main">
              <a:ext uri="{FF2B5EF4-FFF2-40B4-BE49-F238E27FC236}">
                <a16:creationId xmlns:a16="http://schemas.microsoft.com/office/drawing/2014/main" id="{A4959619-A207-46D4-991E-741433BDF7A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Error Handling &amp; Dead Letter Queue</a:t>
            </a:r>
          </a:p>
        </p:txBody>
      </p:sp>
      <p:sp>
        <p:nvSpPr>
          <p:cNvPr id="3" name="">
            <a:extLst xmlns:a="http://schemas.openxmlformats.org/drawingml/2006/main">
              <a:ext uri="{FF2B5EF4-FFF2-40B4-BE49-F238E27FC236}">
                <a16:creationId xmlns:a16="http://schemas.microsoft.com/office/drawing/2014/main" id="{49A606BC-F815-4A0B-82AD-6B46E062531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33</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98107cc82c240df"/>
          <a:stretch xmlns:a="http://schemas.openxmlformats.org/drawingml/2006/main"/>
        </p:blipFill>
        <p:spPr>
          <a:xfrm xmlns:a="http://schemas.openxmlformats.org/drawingml/2006/main">
            <a:off x="5254423" y="1809750"/>
            <a:ext cx="1683153" cy="4476750"/>
          </a:xfrm>
          <a:prstGeom xmlns:a="http://schemas.openxmlformats.org/drawingml/2006/main" prst="rect">
            <a:avLst/>
          </a:prstGeom>
        </p:spPr>
      </p:pic>
    </p:spTree>
    <p:extLst>
      <p:ext uri="{BB962C8B-B14F-4D97-AF65-F5344CB8AC3E}">
        <p14:creationId xmlns:p14="http://schemas.microsoft.com/office/powerpoint/2010/main" val="11280570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47153D-FB89-4893-8B9F-887CCB78359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7. Data Pipeline Architecture</a:t>
            </a:r>
          </a:p>
        </p:txBody>
      </p:sp>
      <p:sp>
        <p:nvSpPr>
          <p:cNvPr id="2" name="">
            <a:extLst xmlns:a="http://schemas.openxmlformats.org/drawingml/2006/main">
              <a:ext uri="{FF2B5EF4-FFF2-40B4-BE49-F238E27FC236}">
                <a16:creationId xmlns:a16="http://schemas.microsoft.com/office/drawing/2014/main" id="{D3E3B420-0970-4CF0-A82E-A2E9D99B06BB}"/>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Error Handling &amp; Dead Letter Queue</a:t>
            </a:r>
          </a:p>
        </p:txBody>
      </p:sp>
      <p:sp>
        <p:nvSpPr>
          <p:cNvPr id="3" name="">
            <a:extLst xmlns:a="http://schemas.openxmlformats.org/drawingml/2006/main">
              <a:ext uri="{FF2B5EF4-FFF2-40B4-BE49-F238E27FC236}">
                <a16:creationId xmlns:a16="http://schemas.microsoft.com/office/drawing/2014/main" id="{B719E3D8-B875-410D-BAB4-D24D9FFEBEB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61910488acb4cc2"/>
          <a:srcRect xmlns:a="http://schemas.openxmlformats.org/drawingml/2006/main" l="0" t="0" r="0" b="62167"/>
          <a:stretch xmlns:a="http://schemas.openxmlformats.org/drawingml/2006/main"/>
        </p:blipFill>
        <p:spPr>
          <a:xfrm xmlns:a="http://schemas.openxmlformats.org/drawingml/2006/main">
            <a:off x="609600" y="1809750"/>
            <a:ext cx="3352800" cy="3373817"/>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634be8618174a17"/>
          <a:srcRect xmlns:a="http://schemas.openxmlformats.org/drawingml/2006/main" l="0" t="28833" r="0" b="28833"/>
          <a:stretch xmlns:a="http://schemas.openxmlformats.org/drawingml/2006/main"/>
        </p:blipFill>
        <p:spPr>
          <a:xfrm xmlns:a="http://schemas.openxmlformats.org/drawingml/2006/main">
            <a:off x="4314825" y="1809750"/>
            <a:ext cx="3352800" cy="3775108"/>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7419720986d4f66"/>
          <a:srcRect xmlns:a="http://schemas.openxmlformats.org/drawingml/2006/main" l="0" t="62167" r="0" b="0"/>
          <a:stretch xmlns:a="http://schemas.openxmlformats.org/drawingml/2006/main"/>
        </p:blipFill>
        <p:spPr>
          <a:xfrm xmlns:a="http://schemas.openxmlformats.org/drawingml/2006/main">
            <a:off x="8020050" y="1809750"/>
            <a:ext cx="3352800" cy="3373817"/>
          </a:xfrm>
          <a:prstGeom xmlns:a="http://schemas.openxmlformats.org/drawingml/2006/main" prst="rect">
            <a:avLst/>
          </a:prstGeom>
        </p:spPr>
      </p:pic>
    </p:spTree>
    <p:extLst>
      <p:ext uri="{BB962C8B-B14F-4D97-AF65-F5344CB8AC3E}">
        <p14:creationId xmlns:p14="http://schemas.microsoft.com/office/powerpoint/2010/main" val="1251628659"/>
      </p:ext>
    </p:extLst>
  </p:cSld>
</p:sld>
</file>

<file path=ppt/slides/slide3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83FD5B-CF96-4848-9020-4C0D1D606B10}"/>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9. Frontend &amp; Dashboard Architecture</a:t>
            </a:r>
          </a:p>
        </p:txBody>
      </p:sp>
      <p:sp>
        <p:nvSpPr>
          <p:cNvPr id="2" name="">
            <a:extLst xmlns:a="http://schemas.openxmlformats.org/drawingml/2006/main">
              <a:ext uri="{FF2B5EF4-FFF2-40B4-BE49-F238E27FC236}">
                <a16:creationId xmlns:a16="http://schemas.microsoft.com/office/drawing/2014/main" id="{35E96642-E2F9-45C9-A339-ACECD45DBDB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Component Architecture</a:t>
            </a:r>
          </a:p>
        </p:txBody>
      </p:sp>
      <p:sp>
        <p:nvSpPr>
          <p:cNvPr id="3" name="">
            <a:extLst xmlns:a="http://schemas.openxmlformats.org/drawingml/2006/main">
              <a:ext uri="{FF2B5EF4-FFF2-40B4-BE49-F238E27FC236}">
                <a16:creationId xmlns:a16="http://schemas.microsoft.com/office/drawing/2014/main" id="{EF6EC3CC-1FBC-456D-AC3F-4DD8343F992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35</a:t>
            </a:r>
          </a:p>
        </p:txBody>
      </p:sp>
      <p:sp>
        <p:nvSpPr>
          <p:cNvPr id="4" name="">
            <a:extLst xmlns:a="http://schemas.openxmlformats.org/drawingml/2006/main">
              <a:ext uri="{FF2B5EF4-FFF2-40B4-BE49-F238E27FC236}">
                <a16:creationId xmlns:a16="http://schemas.microsoft.com/office/drawing/2014/main" id="{6F267FEB-36A3-483F-8B09-9954A107D1A3}"/>
              </a:ext>
            </a:extLst>
          </p:cNvPr>
          <p:cNvSpPr>
            <a:spLocks xmlns:a="http://schemas.openxmlformats.org/drawingml/2006/main" noGrp="1"/>
          </p:cNvSpPr>
          <p:nvPr/>
        </p:nvSpPr>
        <p:spPr>
          <a:xfrm xmlns:a="http://schemas.openxmlformats.org/drawingml/2006/main">
            <a:off x="666750" y="1838325"/>
            <a:ext cx="10858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src/</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app/                          # Next.js App Router</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(auth)/                   # Auth layout group</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login/</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register/</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(dashboard)/              # Dashboard layout group</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layout.tsx            # Sidebar + header + tenant context</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page.tsx              # Overview dashboard</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channels/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 [platform]/       # Platform-specific view</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posts/                # Content performance</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connections/          # Platform connection management</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insights/             # AI natural language query</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sync/                 # Sync status &amp; logs</a:t>
            </a:r>
          </a:p>
        </p:txBody>
      </p:sp>
    </p:spTree>
    <p:extLst>
      <p:ext uri="{BB962C8B-B14F-4D97-AF65-F5344CB8AC3E}">
        <p14:creationId xmlns:p14="http://schemas.microsoft.com/office/powerpoint/2010/main" val="243104783"/>
      </p:ext>
    </p:extLst>
  </p:cSld>
</p:sld>
</file>

<file path=ppt/slides/slide3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0B0D60-A45D-4A75-A0A7-F5DC728A935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9. Frontend &amp; Dashboard Architecture</a:t>
            </a:r>
          </a:p>
        </p:txBody>
      </p:sp>
      <p:sp>
        <p:nvSpPr>
          <p:cNvPr id="2" name="">
            <a:extLst xmlns:a="http://schemas.openxmlformats.org/drawingml/2006/main">
              <a:ext uri="{FF2B5EF4-FFF2-40B4-BE49-F238E27FC236}">
                <a16:creationId xmlns:a16="http://schemas.microsoft.com/office/drawing/2014/main" id="{A8660F45-D4AC-49BD-A3D6-B54DE380E28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Component Architecture</a:t>
            </a:r>
          </a:p>
        </p:txBody>
      </p:sp>
      <p:sp>
        <p:nvSpPr>
          <p:cNvPr id="3" name="">
            <a:extLst xmlns:a="http://schemas.openxmlformats.org/drawingml/2006/main">
              <a:ext uri="{FF2B5EF4-FFF2-40B4-BE49-F238E27FC236}">
                <a16:creationId xmlns:a16="http://schemas.microsoft.com/office/drawing/2014/main" id="{814FBD4B-064E-43BA-AC31-41512D839B4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36</a:t>
            </a:r>
          </a:p>
        </p:txBody>
      </p:sp>
      <p:sp>
        <p:nvSpPr>
          <p:cNvPr id="4" name="">
            <a:extLst xmlns:a="http://schemas.openxmlformats.org/drawingml/2006/main">
              <a:ext uri="{FF2B5EF4-FFF2-40B4-BE49-F238E27FC236}">
                <a16:creationId xmlns:a16="http://schemas.microsoft.com/office/drawing/2014/main" id="{6289C2F4-9D1C-4B0E-9ED0-CDF59D8560FB}"/>
              </a:ext>
            </a:extLst>
          </p:cNvPr>
          <p:cNvSpPr>
            <a:spLocks xmlns:a="http://schemas.openxmlformats.org/drawingml/2006/main" noGrp="1"/>
          </p:cNvSpPr>
          <p:nvPr/>
        </p:nvSpPr>
        <p:spPr>
          <a:xfrm xmlns:a="http://schemas.openxmlformats.org/drawingml/2006/main">
            <a:off x="666750" y="1838325"/>
            <a:ext cx="10858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settings/             # Organization settings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api/                      # BFF API routes (optional)</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components/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charts/                   # Recharts wrappers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MetricLineChart.tsx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ChannelComparisonBar.tsx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EngagementPieChart.tsx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PostPerformanceTable.tsx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dashboard/                # Dashboard-specific components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KPICard.tsx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PlatformStatusBadge.tsx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DateRangePicker.tsx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MetricSparkline.tsx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layout/</a:t>
            </a:r>
          </a:p>
        </p:txBody>
      </p:sp>
    </p:spTree>
    <p:extLst>
      <p:ext uri="{BB962C8B-B14F-4D97-AF65-F5344CB8AC3E}">
        <p14:creationId xmlns:p14="http://schemas.microsoft.com/office/powerpoint/2010/main" val="890383331"/>
      </p:ext>
    </p:extLst>
  </p:cSld>
</p:sld>
</file>

<file path=ppt/slides/slide3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233BA4-2EC0-4C58-AC05-5C0CD4E5948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9. Frontend &amp; Dashboard Architecture</a:t>
            </a:r>
          </a:p>
        </p:txBody>
      </p:sp>
      <p:sp>
        <p:nvSpPr>
          <p:cNvPr id="2" name="">
            <a:extLst xmlns:a="http://schemas.openxmlformats.org/drawingml/2006/main">
              <a:ext uri="{FF2B5EF4-FFF2-40B4-BE49-F238E27FC236}">
                <a16:creationId xmlns:a16="http://schemas.microsoft.com/office/drawing/2014/main" id="{97C161F7-FD85-4369-B1FB-77BB53604CA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Component Architecture</a:t>
            </a:r>
          </a:p>
        </p:txBody>
      </p:sp>
      <p:sp>
        <p:nvSpPr>
          <p:cNvPr id="3" name="">
            <a:extLst xmlns:a="http://schemas.openxmlformats.org/drawingml/2006/main">
              <a:ext uri="{FF2B5EF4-FFF2-40B4-BE49-F238E27FC236}">
                <a16:creationId xmlns:a16="http://schemas.microsoft.com/office/drawing/2014/main" id="{9A5EF12C-40A7-4E89-95C2-BEF81F97D01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37</a:t>
            </a:r>
          </a:p>
        </p:txBody>
      </p:sp>
      <p:sp>
        <p:nvSpPr>
          <p:cNvPr id="4" name="">
            <a:extLst xmlns:a="http://schemas.openxmlformats.org/drawingml/2006/main">
              <a:ext uri="{FF2B5EF4-FFF2-40B4-BE49-F238E27FC236}">
                <a16:creationId xmlns:a16="http://schemas.microsoft.com/office/drawing/2014/main" id="{BDDC22C6-C1E4-4582-8E08-C887426D4CFB}"/>
              </a:ext>
            </a:extLst>
          </p:cNvPr>
          <p:cNvSpPr>
            <a:spLocks xmlns:a="http://schemas.openxmlformats.org/drawingml/2006/main" noGrp="1"/>
          </p:cNvSpPr>
          <p:nvPr/>
        </p:nvSpPr>
        <p:spPr>
          <a:xfrm xmlns:a="http://schemas.openxmlformats.org/drawingml/2006/main">
            <a:off x="666750" y="1838325"/>
            <a:ext cx="10858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Sidebar.tsx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Header.tsx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BreadcrumbNav.tsx</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ui/                       # shadcn/ui primitives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hooks/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useMetrics.ts             # TanStack Query hooks for metrics API</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useSyncStatus.ts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useInsights.ts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lib/</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api-client.ts             # Axios/fetch wrapper with auth</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date-utils.ts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format-metrics.ts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stores/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ui-store.ts               # Zustand for local UI state</a:t>
            </a:r>
          </a:p>
        </p:txBody>
      </p:sp>
    </p:spTree>
    <p:extLst>
      <p:ext uri="{BB962C8B-B14F-4D97-AF65-F5344CB8AC3E}">
        <p14:creationId xmlns:p14="http://schemas.microsoft.com/office/powerpoint/2010/main" val="610811709"/>
      </p:ext>
    </p:extLst>
  </p:cSld>
</p:sld>
</file>

<file path=ppt/slides/slide3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B99A41-28D5-48D1-94E4-1801853190B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9. Frontend &amp; Dashboard Architecture</a:t>
            </a:r>
          </a:p>
        </p:txBody>
      </p:sp>
      <p:sp>
        <p:nvSpPr>
          <p:cNvPr id="2" name="">
            <a:extLst xmlns:a="http://schemas.openxmlformats.org/drawingml/2006/main">
              <a:ext uri="{FF2B5EF4-FFF2-40B4-BE49-F238E27FC236}">
                <a16:creationId xmlns:a16="http://schemas.microsoft.com/office/drawing/2014/main" id="{EAB5C271-68D8-40DC-A8FB-79A7C5333AF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Dashboard Views by Persona</a:t>
            </a:r>
          </a:p>
        </p:txBody>
      </p:sp>
      <p:sp>
        <p:nvSpPr>
          <p:cNvPr id="3" name="">
            <a:extLst xmlns:a="http://schemas.openxmlformats.org/drawingml/2006/main">
              <a:ext uri="{FF2B5EF4-FFF2-40B4-BE49-F238E27FC236}">
                <a16:creationId xmlns:a16="http://schemas.microsoft.com/office/drawing/2014/main" id="{C7230651-A145-42A0-A29E-5C7C947DA03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38</a:t>
            </a:r>
          </a:p>
        </p:txBody>
      </p:sp>
      <p:graphicFrame>
        <p:nvGraphicFramePr>
          <p:cNvPr id="8" name=""/>
          <p:cNvGraphicFramePr/>
          <p:nvPr/>
        </p:nvGraphicFramePr>
        <p:xfrm>
          <a:off xmlns:a="http://schemas.openxmlformats.org/drawingml/2006/main" x="609600" y="1847850"/>
          <a:ext xmlns:a="http://schemas.openxmlformats.org/drawingml/2006/main" cx="10820400" cy="4202811"/>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Persona</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Default View</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Key Metrics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Special Features</a:t>
                      </a:r>
                    </a:p>
                  </a:txBody>
                  <a:tcPr marL="114300" marR="114300" marT="114300" marB="85725" anchor="t">
                    <a:solidFill>
                      <a:srgbClr val="142C43"/>
                    </a:solidFill>
                  </a:tcPr>
                </a:tc>
              </a:tr>
              <a:tr h="976503">
                <a:tc>
                  <a:txBody>
                    <a:bodyPr/>
                    <a:lstStyle/>
                    <a:p>
                      <a:r>
                        <a:rPr sz="1650" b="1">
                          <a:solidFill>
                            <a:srgbClr val="263D50"/>
                          </a:solidFill>
                          <a:latin typeface="Aptos"/>
                          <a:ea typeface="Aptos"/>
                          <a:cs typeface="Aptos"/>
                        </a:rPr>
                        <a:t>Marketing Manager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Channel detail with post-level breakdown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Impressions, engagement, reach by post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Post performance ranking, best time to post analysis</a:t>
                      </a:r>
                    </a:p>
                  </a:txBody>
                  <a:tcPr marL="114300" marR="114300" marT="114300" marB="85725" anchor="t">
                    <a:solidFill>
                      <a:srgbClr val="FFFFFF"/>
                    </a:solidFill>
                  </a:tcPr>
                </a:tc>
              </a:tr>
              <a:tr h="1232154">
                <a:tc>
                  <a:txBody>
                    <a:bodyPr/>
                    <a:lstStyle/>
                    <a:p>
                      <a:r>
                        <a:rPr sz="1650" b="1">
                          <a:solidFill>
                            <a:srgbClr val="263D50"/>
                          </a:solidFill>
                          <a:latin typeface="Aptos"/>
                          <a:ea typeface="Aptos"/>
                          <a:cs typeface="Aptos"/>
                        </a:rPr>
                        <a:t>CMO / Marketing Head</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Executive overview with cross-channel comparison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Total reach, engagement rate, follower growth, ROI trends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Period-over-period comparison, PDF export</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Business Owner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Simplified summary with KPI cards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Total leads, traffic, top engagement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Traffic light indicators (up/down/flat), sparklines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Agency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Multi-client switcher → per-client dashboard</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All above, per client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Client selector dropdown, client-branded reports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73673714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543601-EFF8-4C4E-8E8D-118BC2B4E65B}"/>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10. Natural-Language Insights Layer</a:t>
            </a:r>
          </a:p>
        </p:txBody>
      </p:sp>
      <p:sp>
        <p:nvSpPr>
          <p:cNvPr id="2" name="">
            <a:extLst xmlns:a="http://schemas.openxmlformats.org/drawingml/2006/main">
              <a:ext uri="{FF2B5EF4-FFF2-40B4-BE49-F238E27FC236}">
                <a16:creationId xmlns:a16="http://schemas.microsoft.com/office/drawing/2014/main" id="{1B263CC1-95A8-437A-8246-C97E1F4B8B0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Architecture</a:t>
            </a:r>
          </a:p>
        </p:txBody>
      </p:sp>
      <p:sp>
        <p:nvSpPr>
          <p:cNvPr id="3" name="">
            <a:extLst xmlns:a="http://schemas.openxmlformats.org/drawingml/2006/main">
              <a:ext uri="{FF2B5EF4-FFF2-40B4-BE49-F238E27FC236}">
                <a16:creationId xmlns:a16="http://schemas.microsoft.com/office/drawing/2014/main" id="{E869BD4D-8CB4-4760-8CB8-ED52E0C9B4C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39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c79377be7a74f03"/>
          <a:stretch xmlns:a="http://schemas.openxmlformats.org/drawingml/2006/main"/>
        </p:blipFill>
        <p:spPr>
          <a:xfrm xmlns:a="http://schemas.openxmlformats.org/drawingml/2006/main">
            <a:off x="5577939" y="1809750"/>
            <a:ext cx="1036123" cy="4476750"/>
          </a:xfrm>
          <a:prstGeom xmlns:a="http://schemas.openxmlformats.org/drawingml/2006/main" prst="rect">
            <a:avLst/>
          </a:prstGeom>
        </p:spPr>
      </p:pic>
    </p:spTree>
    <p:extLst>
      <p:ext uri="{BB962C8B-B14F-4D97-AF65-F5344CB8AC3E}">
        <p14:creationId xmlns:p14="http://schemas.microsoft.com/office/powerpoint/2010/main" val="55215907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F1BF92-1D1A-4DC6-932B-919837A66E45}"/>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10. Natural-Language Insights Layer</a:t>
            </a:r>
          </a:p>
        </p:txBody>
      </p:sp>
      <p:sp>
        <p:nvSpPr>
          <p:cNvPr id="2" name="">
            <a:extLst xmlns:a="http://schemas.openxmlformats.org/drawingml/2006/main">
              <a:ext uri="{FF2B5EF4-FFF2-40B4-BE49-F238E27FC236}">
                <a16:creationId xmlns:a16="http://schemas.microsoft.com/office/drawing/2014/main" id="{0CC67D42-9828-443A-9620-347C2C43BA0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Architecture</a:t>
            </a:r>
          </a:p>
        </p:txBody>
      </p:sp>
      <p:sp>
        <p:nvSpPr>
          <p:cNvPr id="3" name="">
            <a:extLst xmlns:a="http://schemas.openxmlformats.org/drawingml/2006/main">
              <a:ext uri="{FF2B5EF4-FFF2-40B4-BE49-F238E27FC236}">
                <a16:creationId xmlns:a16="http://schemas.microsoft.com/office/drawing/2014/main" id="{925ED748-81F2-4EA4-9F65-40533B4C203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3e7c32279841f8"/>
          <a:srcRect xmlns:a="http://schemas.openxmlformats.org/drawingml/2006/main" l="0" t="0" r="0" b="62167"/>
          <a:stretch xmlns:a="http://schemas.openxmlformats.org/drawingml/2006/main"/>
        </p:blipFill>
        <p:spPr>
          <a:xfrm xmlns:a="http://schemas.openxmlformats.org/drawingml/2006/main">
            <a:off x="916675" y="1809750"/>
            <a:ext cx="2738651" cy="447675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d3830c61b9440e4"/>
          <a:srcRect xmlns:a="http://schemas.openxmlformats.org/drawingml/2006/main" l="0" t="28833" r="0" b="28833"/>
          <a:stretch xmlns:a="http://schemas.openxmlformats.org/drawingml/2006/main"/>
        </p:blipFill>
        <p:spPr>
          <a:xfrm xmlns:a="http://schemas.openxmlformats.org/drawingml/2006/main">
            <a:off x="4767458" y="1809750"/>
            <a:ext cx="2447534" cy="447675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a6c87a052e745fa"/>
          <a:srcRect xmlns:a="http://schemas.openxmlformats.org/drawingml/2006/main" l="0" t="62167" r="0" b="0"/>
          <a:stretch xmlns:a="http://schemas.openxmlformats.org/drawingml/2006/main"/>
        </p:blipFill>
        <p:spPr>
          <a:xfrm xmlns:a="http://schemas.openxmlformats.org/drawingml/2006/main">
            <a:off x="8327125" y="1809750"/>
            <a:ext cx="2738651" cy="4476750"/>
          </a:xfrm>
          <a:prstGeom xmlns:a="http://schemas.openxmlformats.org/drawingml/2006/main" prst="rect">
            <a:avLst/>
          </a:prstGeom>
        </p:spPr>
      </p:pic>
    </p:spTree>
    <p:extLst>
      <p:ext uri="{BB962C8B-B14F-4D97-AF65-F5344CB8AC3E}">
        <p14:creationId xmlns:p14="http://schemas.microsoft.com/office/powerpoint/2010/main" val="947328614"/>
      </p:ext>
    </p:extLst>
  </p:cSld>
</p:sld>
</file>

<file path=ppt/slides/slide4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52108D-8D11-4C8F-8286-78BAEA0E961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10. Natural-Language Insights Layer</a:t>
            </a:r>
          </a:p>
        </p:txBody>
      </p:sp>
      <p:sp>
        <p:nvSpPr>
          <p:cNvPr id="2" name="">
            <a:extLst xmlns:a="http://schemas.openxmlformats.org/drawingml/2006/main">
              <a:ext uri="{FF2B5EF4-FFF2-40B4-BE49-F238E27FC236}">
                <a16:creationId xmlns:a16="http://schemas.microsoft.com/office/drawing/2014/main" id="{F442B4A9-44A9-4989-9286-C7E23FCB6DC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Cost Management</a:t>
            </a:r>
          </a:p>
        </p:txBody>
      </p:sp>
      <p:sp>
        <p:nvSpPr>
          <p:cNvPr id="3" name="">
            <a:extLst xmlns:a="http://schemas.openxmlformats.org/drawingml/2006/main">
              <a:ext uri="{FF2B5EF4-FFF2-40B4-BE49-F238E27FC236}">
                <a16:creationId xmlns:a16="http://schemas.microsoft.com/office/drawing/2014/main" id="{14F5E3F5-51DC-4C09-96BF-1F72002450D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41</a:t>
            </a:r>
          </a:p>
        </p:txBody>
      </p:sp>
      <p:graphicFrame>
        <p:nvGraphicFramePr>
          <p:cNvPr id="8" name=""/>
          <p:cNvGraphicFramePr/>
          <p:nvPr/>
        </p:nvGraphicFramePr>
        <p:xfrm>
          <a:off xmlns:a="http://schemas.openxmlformats.org/drawingml/2006/main" x="609600" y="1847850"/>
          <a:ext xmlns:a="http://schemas.openxmlformats.org/drawingml/2006/main" cx="10820400" cy="2100453"/>
        </p:xfrm>
        <a:graphic xmlns:a="http://schemas.openxmlformats.org/drawingml/2006/main">
          <a:graphicData uri="http://schemas.openxmlformats.org/drawingml/2006/table">
            <a:tbl>
              <a:tblPr/>
              <a:tblGrid>
                <a:gridCol w="2705100"/>
                <a:gridCol w="3678936"/>
                <a:gridCol w="4436364"/>
              </a:tblGrid>
              <a:tr h="704850">
                <a:tc>
                  <a:txBody>
                    <a:bodyPr/>
                    <a:lstStyle/>
                    <a:p>
                      <a:r>
                        <a:rPr sz="1500" b="1">
                          <a:solidFill>
                            <a:srgbClr val="FFFFFF"/>
                          </a:solidFill>
                          <a:latin typeface="Aptos"/>
                          <a:ea typeface="Aptos"/>
                          <a:cs typeface="Aptos"/>
                        </a:rPr>
                        <a:t>Model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Cost per 1K tokens (input/output)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Estimated monthly cost (100 tenants, 5 queries/day avg)</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GPT-4o</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$2.50 / $10.00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~$150–250/month</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GPT-4o-mini</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$0.15 / $0.60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~$15–30/month</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Claude 3.5 Sonnet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$3.00 / $15.00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~$200–350/month</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855834859"/>
      </p:ext>
    </p:extLst>
  </p:cSld>
</p:sld>
</file>

<file path=ppt/slides/slide4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5620E3-A548-4D40-9D75-B862BA5F8EB2}"/>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10. Natural-Language Insights Layer</a:t>
            </a:r>
          </a:p>
        </p:txBody>
      </p:sp>
      <p:sp>
        <p:nvSpPr>
          <p:cNvPr id="2" name="">
            <a:extLst xmlns:a="http://schemas.openxmlformats.org/drawingml/2006/main">
              <a:ext uri="{FF2B5EF4-FFF2-40B4-BE49-F238E27FC236}">
                <a16:creationId xmlns:a16="http://schemas.microsoft.com/office/drawing/2014/main" id="{BC0CE8C4-50BE-4064-97A5-08822B24A39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Cost Management</a:t>
            </a:r>
          </a:p>
        </p:txBody>
      </p:sp>
      <p:sp>
        <p:nvSpPr>
          <p:cNvPr id="3" name="">
            <a:extLst xmlns:a="http://schemas.openxmlformats.org/drawingml/2006/main">
              <a:ext uri="{FF2B5EF4-FFF2-40B4-BE49-F238E27FC236}">
                <a16:creationId xmlns:a16="http://schemas.microsoft.com/office/drawing/2014/main" id="{9CA1E3F2-0285-4ECA-83E0-288BA28C1AB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42</a:t>
            </a:r>
          </a:p>
        </p:txBody>
      </p:sp>
      <p:sp>
        <p:nvSpPr>
          <p:cNvPr id="4" name="">
            <a:extLst xmlns:a="http://schemas.openxmlformats.org/drawingml/2006/main">
              <a:ext uri="{FF2B5EF4-FFF2-40B4-BE49-F238E27FC236}">
                <a16:creationId xmlns:a16="http://schemas.microsoft.com/office/drawing/2014/main" id="{6AB04022-7513-4222-83CA-87F595830014}"/>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Strategy: Use GPT-4o for SQL generation (accuracy matters), GPT-4o-mini for response synthesis (less complex). Cache aggressively. Set per-tenant daily query limits (free: 10, pro: 100, enterprise: unlimited).</a:t>
            </a:r>
          </a:p>
        </p:txBody>
      </p:sp>
    </p:spTree>
    <p:extLst>
      <p:ext uri="{BB962C8B-B14F-4D97-AF65-F5344CB8AC3E}">
        <p14:creationId xmlns:p14="http://schemas.microsoft.com/office/powerpoint/2010/main" val="613704676"/>
      </p:ext>
    </p:extLst>
  </p:cSld>
</p:sld>
</file>

<file path=ppt/slides/slide4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3071D5-092D-40AB-AC36-DBFD3FF3BB3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10. Natural-Language Insights Layer</a:t>
            </a:r>
          </a:p>
        </p:txBody>
      </p:sp>
      <p:sp>
        <p:nvSpPr>
          <p:cNvPr id="2" name="">
            <a:extLst xmlns:a="http://schemas.openxmlformats.org/drawingml/2006/main">
              <a:ext uri="{FF2B5EF4-FFF2-40B4-BE49-F238E27FC236}">
                <a16:creationId xmlns:a16="http://schemas.microsoft.com/office/drawing/2014/main" id="{0FDEC47E-9CF1-47B4-A993-75491C00BD6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Hallucination Mitigation</a:t>
            </a:r>
          </a:p>
        </p:txBody>
      </p:sp>
      <p:sp>
        <p:nvSpPr>
          <p:cNvPr id="3" name="">
            <a:extLst xmlns:a="http://schemas.openxmlformats.org/drawingml/2006/main">
              <a:ext uri="{FF2B5EF4-FFF2-40B4-BE49-F238E27FC236}">
                <a16:creationId xmlns:a16="http://schemas.microsoft.com/office/drawing/2014/main" id="{C69A78A6-D74C-442F-B083-11926661DEEB}"/>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43</a:t>
            </a:r>
          </a:p>
        </p:txBody>
      </p:sp>
      <p:sp>
        <p:nvSpPr>
          <p:cNvPr id="4" name="">
            <a:extLst xmlns:a="http://schemas.openxmlformats.org/drawingml/2006/main">
              <a:ext uri="{FF2B5EF4-FFF2-40B4-BE49-F238E27FC236}">
                <a16:creationId xmlns:a16="http://schemas.microsoft.com/office/drawing/2014/main" id="{8EA7E922-431A-4863-B38C-ABAC9C00C8AF}"/>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Schema-constrained prompting: LLM only sees the exact table/column definitions, not the full database</a:t>
            </a:r>
          </a:p>
        </p:txBody>
      </p:sp>
      <p:sp>
        <p:nvSpPr>
          <p:cNvPr id="5" name="">
            <a:extLst xmlns:a="http://schemas.openxmlformats.org/drawingml/2006/main">
              <a:ext uri="{FF2B5EF4-FFF2-40B4-BE49-F238E27FC236}">
                <a16:creationId xmlns:a16="http://schemas.microsoft.com/office/drawing/2014/main" id="{EBC7AFC5-10EA-434F-826E-B82CA8299C06}"/>
              </a:ext>
            </a:extLst>
          </p:cNvPr>
          <p:cNvSpPr>
            <a:spLocks xmlns:a="http://schemas.openxmlformats.org/drawingml/2006/main" noGrp="1"/>
          </p:cNvSpPr>
          <p:nvPr/>
        </p:nvSpPr>
        <p:spPr>
          <a:xfrm xmlns:a="http://schemas.openxmlformats.org/drawingml/2006/main">
            <a:off x="609600" y="277558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SQL validation: Generated SQL is parsed and validated before execution</a:t>
            </a:r>
          </a:p>
        </p:txBody>
      </p:sp>
      <p:sp>
        <p:nvSpPr>
          <p:cNvPr id="6" name="">
            <a:extLst xmlns:a="http://schemas.openxmlformats.org/drawingml/2006/main">
              <a:ext uri="{FF2B5EF4-FFF2-40B4-BE49-F238E27FC236}">
                <a16:creationId xmlns:a16="http://schemas.microsoft.com/office/drawing/2014/main" id="{CFBD6137-858C-40D2-8B8B-2508FAA9E7B4}"/>
              </a:ext>
            </a:extLst>
          </p:cNvPr>
          <p:cNvSpPr>
            <a:spLocks xmlns:a="http://schemas.openxmlformats.org/drawingml/2006/main" noGrp="1"/>
          </p:cNvSpPr>
          <p:nvPr/>
        </p:nvSpPr>
        <p:spPr>
          <a:xfrm xmlns:a="http://schemas.openxmlformats.org/drawingml/2006/main">
            <a:off x="609600" y="330136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Result grounding: The synthesis prompt includes the raw query results — the LLM explains actual data, not hallucinated numbers</a:t>
            </a:r>
          </a:p>
        </p:txBody>
      </p:sp>
      <p:sp>
        <p:nvSpPr>
          <p:cNvPr id="7" name="">
            <a:extLst xmlns:a="http://schemas.openxmlformats.org/drawingml/2006/main">
              <a:ext uri="{FF2B5EF4-FFF2-40B4-BE49-F238E27FC236}">
                <a16:creationId xmlns:a16="http://schemas.microsoft.com/office/drawing/2014/main" id="{FC4C7BF4-88EF-44D8-813C-96068C0DFCBA}"/>
              </a:ext>
            </a:extLst>
          </p:cNvPr>
          <p:cNvSpPr>
            <a:spLocks xmlns:a="http://schemas.openxmlformats.org/drawingml/2006/main" noGrp="1"/>
          </p:cNvSpPr>
          <p:nvPr/>
        </p:nvSpPr>
        <p:spPr>
          <a:xfrm xmlns:a="http://schemas.openxmlformats.org/drawingml/2006/main">
            <a:off x="609600" y="41243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Confidence scoring: If the query returns zero rows or the question doesn’t map to available columns, the system says “I don’t have enough data to answer that” rather than guessing</a:t>
            </a:r>
          </a:p>
        </p:txBody>
      </p:sp>
      <p:sp>
        <p:nvSpPr>
          <p:cNvPr id="8" name="">
            <a:extLst xmlns:a="http://schemas.openxmlformats.org/drawingml/2006/main">
              <a:ext uri="{FF2B5EF4-FFF2-40B4-BE49-F238E27FC236}">
                <a16:creationId xmlns:a16="http://schemas.microsoft.com/office/drawing/2014/main" id="{E09DC50E-429C-4741-84F5-4394D8519DAC}"/>
              </a:ext>
            </a:extLst>
          </p:cNvPr>
          <p:cNvSpPr>
            <a:spLocks xmlns:a="http://schemas.openxmlformats.org/drawingml/2006/main" noGrp="1"/>
          </p:cNvSpPr>
          <p:nvPr/>
        </p:nvSpPr>
        <p:spPr>
          <a:xfrm xmlns:a="http://schemas.openxmlformats.org/drawingml/2006/main">
            <a:off x="609600" y="49472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Show your work: Users can expand to see the generated SQL and raw data table alongside the natural language answer</a:t>
            </a:r>
          </a:p>
        </p:txBody>
      </p:sp>
    </p:spTree>
    <p:extLst>
      <p:ext uri="{BB962C8B-B14F-4D97-AF65-F5344CB8AC3E}">
        <p14:creationId xmlns:p14="http://schemas.microsoft.com/office/powerpoint/2010/main" val="52066781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0CB1A2-4755-4F55-8993-95FE61B2835B}"/>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11. Security Architecture</a:t>
            </a:r>
          </a:p>
        </p:txBody>
      </p:sp>
      <p:sp>
        <p:nvSpPr>
          <p:cNvPr id="2" name="">
            <a:extLst xmlns:a="http://schemas.openxmlformats.org/drawingml/2006/main">
              <a:ext uri="{FF2B5EF4-FFF2-40B4-BE49-F238E27FC236}">
                <a16:creationId xmlns:a16="http://schemas.microsoft.com/office/drawing/2014/main" id="{26B20B19-E35B-4005-84C0-1FED124BC94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Security Layers</a:t>
            </a:r>
          </a:p>
        </p:txBody>
      </p:sp>
      <p:sp>
        <p:nvSpPr>
          <p:cNvPr id="3" name="">
            <a:extLst xmlns:a="http://schemas.openxmlformats.org/drawingml/2006/main">
              <a:ext uri="{FF2B5EF4-FFF2-40B4-BE49-F238E27FC236}">
                <a16:creationId xmlns:a16="http://schemas.microsoft.com/office/drawing/2014/main" id="{9CD69BFA-88A6-4054-AE90-9DD24DFDE78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22070074ea247fc"/>
          <a:stretch xmlns:a="http://schemas.openxmlformats.org/drawingml/2006/main"/>
        </p:blipFill>
        <p:spPr>
          <a:xfrm xmlns:a="http://schemas.openxmlformats.org/drawingml/2006/main">
            <a:off x="985418" y="1809750"/>
            <a:ext cx="10221164" cy="4476750"/>
          </a:xfrm>
          <a:prstGeom xmlns:a="http://schemas.openxmlformats.org/drawingml/2006/main" prst="rect">
            <a:avLst/>
          </a:prstGeom>
        </p:spPr>
      </p:pic>
    </p:spTree>
    <p:extLst>
      <p:ext uri="{BB962C8B-B14F-4D97-AF65-F5344CB8AC3E}">
        <p14:creationId xmlns:p14="http://schemas.microsoft.com/office/powerpoint/2010/main" val="1763499940"/>
      </p:ext>
    </p:extLst>
  </p:cSld>
</p:sld>
</file>

<file path=ppt/slides/slide4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602B90-8014-4E77-A4E3-60A01A2FCCB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11. Security Architecture</a:t>
            </a:r>
          </a:p>
        </p:txBody>
      </p:sp>
      <p:sp>
        <p:nvSpPr>
          <p:cNvPr id="2" name="">
            <a:extLst xmlns:a="http://schemas.openxmlformats.org/drawingml/2006/main">
              <a:ext uri="{FF2B5EF4-FFF2-40B4-BE49-F238E27FC236}">
                <a16:creationId xmlns:a16="http://schemas.microsoft.com/office/drawing/2014/main" id="{C8047875-1602-4A72-9969-BF5F005F0BF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OWASP Top 10 Mitigations</a:t>
            </a:r>
          </a:p>
        </p:txBody>
      </p:sp>
      <p:sp>
        <p:nvSpPr>
          <p:cNvPr id="3" name="">
            <a:extLst xmlns:a="http://schemas.openxmlformats.org/drawingml/2006/main">
              <a:ext uri="{FF2B5EF4-FFF2-40B4-BE49-F238E27FC236}">
                <a16:creationId xmlns:a16="http://schemas.microsoft.com/office/drawing/2014/main" id="{65F11F90-A49A-49AD-A4A8-17E1D95208B9}"/>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45</a:t>
            </a:r>
          </a:p>
        </p:txBody>
      </p:sp>
      <p:graphicFrame>
        <p:nvGraphicFramePr>
          <p:cNvPr id="8" name=""/>
          <p:cNvGraphicFramePr/>
          <p:nvPr/>
        </p:nvGraphicFramePr>
        <p:xfrm>
          <a:off xmlns:a="http://schemas.openxmlformats.org/drawingml/2006/main" x="609600" y="1847850"/>
          <a:ext xmlns:a="http://schemas.openxmlformats.org/drawingml/2006/main" cx="10820400" cy="3134106"/>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OWASP Risk</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Mitigation</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A01: Broken Access Control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RLS + RBAC + tenant context middleware + automated isolation tests</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A02: Cryptographic Failures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AES-256-GCM for tokens, TLS 1.3 in transit, bcrypt for passwords</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A03: Injection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Prisma parameterized queries, Zod input validation, AI SQL validation</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A04: Insecure Design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Threat modeling during design phase, principle of least privilege</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A05: Security Misconfiguration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Terraform-managed infra, security headers (HSTS, CSP, X-Frame-Options), no default credentials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798963634"/>
      </p:ext>
    </p:extLst>
  </p:cSld>
</p:sld>
</file>

<file path=ppt/slides/slide4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4D7D49-3FCE-4852-9ED5-036FCB0A6668}"/>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11. Security Architecture</a:t>
            </a:r>
          </a:p>
        </p:txBody>
      </p:sp>
      <p:sp>
        <p:nvSpPr>
          <p:cNvPr id="2" name="">
            <a:extLst xmlns:a="http://schemas.openxmlformats.org/drawingml/2006/main">
              <a:ext uri="{FF2B5EF4-FFF2-40B4-BE49-F238E27FC236}">
                <a16:creationId xmlns:a16="http://schemas.microsoft.com/office/drawing/2014/main" id="{5EB7891F-364D-4D6C-BE19-7793D083DDD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OWASP Top 10 Mitigations</a:t>
            </a:r>
          </a:p>
        </p:txBody>
      </p:sp>
      <p:sp>
        <p:nvSpPr>
          <p:cNvPr id="3" name="">
            <a:extLst xmlns:a="http://schemas.openxmlformats.org/drawingml/2006/main">
              <a:ext uri="{FF2B5EF4-FFF2-40B4-BE49-F238E27FC236}">
                <a16:creationId xmlns:a16="http://schemas.microsoft.com/office/drawing/2014/main" id="{9F34E020-E992-4684-A1B6-549CD470581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46</a:t>
            </a:r>
          </a:p>
        </p:txBody>
      </p:sp>
      <p:graphicFrame>
        <p:nvGraphicFramePr>
          <p:cNvPr id="8" name=""/>
          <p:cNvGraphicFramePr/>
          <p:nvPr/>
        </p:nvGraphicFramePr>
        <p:xfrm>
          <a:off xmlns:a="http://schemas.openxmlformats.org/drawingml/2006/main" x="609600" y="1847850"/>
          <a:ext xmlns:a="http://schemas.openxmlformats.org/drawingml/2006/main" cx="10820400" cy="3389757"/>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OWASP Risk</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Mitigation</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A06: Vulnerable Components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Dependabot/Snyk automated dependency scanning, weekly updates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A07: Auth Failures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Short-lived JWTs (15m), refresh token rotation, rate-limited login, account lockout</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A08: Data Integrity Failures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Signed JWTs, verified OAuth state tokens, pipeline data validation</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A09: Logging Failures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Structured audit logging for all admin actions, log integrity monitoring</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A10: SSRF</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URL allowlisting for platform API calls, no user-controlled URL fetching</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44661097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EF2EA2-4275-4DBE-A6DF-87E51F4A223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12. Scalability &amp; Performance</a:t>
            </a:r>
          </a:p>
        </p:txBody>
      </p:sp>
      <p:sp>
        <p:nvSpPr>
          <p:cNvPr id="2" name="">
            <a:extLst xmlns:a="http://schemas.openxmlformats.org/drawingml/2006/main">
              <a:ext uri="{FF2B5EF4-FFF2-40B4-BE49-F238E27FC236}">
                <a16:creationId xmlns:a16="http://schemas.microsoft.com/office/drawing/2014/main" id="{DDD399B5-D767-4C2B-9FAC-1E3A5464B25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Caching Strategy</a:t>
            </a:r>
          </a:p>
        </p:txBody>
      </p:sp>
      <p:sp>
        <p:nvSpPr>
          <p:cNvPr id="3" name="">
            <a:extLst xmlns:a="http://schemas.openxmlformats.org/drawingml/2006/main">
              <a:ext uri="{FF2B5EF4-FFF2-40B4-BE49-F238E27FC236}">
                <a16:creationId xmlns:a16="http://schemas.microsoft.com/office/drawing/2014/main" id="{258AFF7E-1CD9-487B-9724-8163608256AB}"/>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47</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63e70d707e94333"/>
          <a:stretch xmlns:a="http://schemas.openxmlformats.org/drawingml/2006/main"/>
        </p:blipFill>
        <p:spPr>
          <a:xfrm xmlns:a="http://schemas.openxmlformats.org/drawingml/2006/main">
            <a:off x="5322187" y="1809750"/>
            <a:ext cx="1547626" cy="4476750"/>
          </a:xfrm>
          <a:prstGeom xmlns:a="http://schemas.openxmlformats.org/drawingml/2006/main" prst="rect">
            <a:avLst/>
          </a:prstGeom>
        </p:spPr>
      </p:pic>
    </p:spTree>
    <p:extLst>
      <p:ext uri="{BB962C8B-B14F-4D97-AF65-F5344CB8AC3E}">
        <p14:creationId xmlns:p14="http://schemas.microsoft.com/office/powerpoint/2010/main" val="75254724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8807F6-86CF-470D-8998-4125BEFF0B0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12. Scalability &amp; Performance</a:t>
            </a:r>
          </a:p>
        </p:txBody>
      </p:sp>
      <p:sp>
        <p:nvSpPr>
          <p:cNvPr id="2" name="">
            <a:extLst xmlns:a="http://schemas.openxmlformats.org/drawingml/2006/main">
              <a:ext uri="{FF2B5EF4-FFF2-40B4-BE49-F238E27FC236}">
                <a16:creationId xmlns:a16="http://schemas.microsoft.com/office/drawing/2014/main" id="{5020E056-8A4F-4D68-AA5F-3922EC62B36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Caching Strategy</a:t>
            </a:r>
          </a:p>
        </p:txBody>
      </p:sp>
      <p:sp>
        <p:nvSpPr>
          <p:cNvPr id="3" name="">
            <a:extLst xmlns:a="http://schemas.openxmlformats.org/drawingml/2006/main">
              <a:ext uri="{FF2B5EF4-FFF2-40B4-BE49-F238E27FC236}">
                <a16:creationId xmlns:a16="http://schemas.microsoft.com/office/drawing/2014/main" id="{024E10B8-9661-40AE-9978-A4EAC46B13D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515b3ca8a2d458c"/>
          <a:srcRect xmlns:a="http://schemas.openxmlformats.org/drawingml/2006/main" l="0" t="0" r="0" b="62167"/>
          <a:stretch xmlns:a="http://schemas.openxmlformats.org/drawingml/2006/main"/>
        </p:blipFill>
        <p:spPr>
          <a:xfrm xmlns:a="http://schemas.openxmlformats.org/drawingml/2006/main">
            <a:off x="609600" y="1809750"/>
            <a:ext cx="3352800" cy="3669264"/>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5311730190c473e"/>
          <a:srcRect xmlns:a="http://schemas.openxmlformats.org/drawingml/2006/main" l="0" t="28833" r="0" b="28833"/>
          <a:stretch xmlns:a="http://schemas.openxmlformats.org/drawingml/2006/main"/>
        </p:blipFill>
        <p:spPr>
          <a:xfrm xmlns:a="http://schemas.openxmlformats.org/drawingml/2006/main">
            <a:off x="4314825" y="1809750"/>
            <a:ext cx="3352800" cy="4105696"/>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a2f5478fc34930"/>
          <a:srcRect xmlns:a="http://schemas.openxmlformats.org/drawingml/2006/main" l="0" t="62167" r="0" b="0"/>
          <a:stretch xmlns:a="http://schemas.openxmlformats.org/drawingml/2006/main"/>
        </p:blipFill>
        <p:spPr>
          <a:xfrm xmlns:a="http://schemas.openxmlformats.org/drawingml/2006/main">
            <a:off x="8020050" y="1809750"/>
            <a:ext cx="3352800" cy="3669264"/>
          </a:xfrm>
          <a:prstGeom xmlns:a="http://schemas.openxmlformats.org/drawingml/2006/main" prst="rect">
            <a:avLst/>
          </a:prstGeom>
        </p:spPr>
      </p:pic>
    </p:spTree>
    <p:extLst>
      <p:ext uri="{BB962C8B-B14F-4D97-AF65-F5344CB8AC3E}">
        <p14:creationId xmlns:p14="http://schemas.microsoft.com/office/powerpoint/2010/main" val="974034817"/>
      </p:ext>
    </p:extLst>
  </p:cSld>
</p:sld>
</file>

<file path=ppt/slides/slide4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7E234D-E2C9-4127-89C7-95AB643ACB26}"/>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12. Scalability &amp; Performance</a:t>
            </a:r>
          </a:p>
        </p:txBody>
      </p:sp>
      <p:sp>
        <p:nvSpPr>
          <p:cNvPr id="2" name="">
            <a:extLst xmlns:a="http://schemas.openxmlformats.org/drawingml/2006/main">
              <a:ext uri="{FF2B5EF4-FFF2-40B4-BE49-F238E27FC236}">
                <a16:creationId xmlns:a16="http://schemas.microsoft.com/office/drawing/2014/main" id="{6FB6A64F-EC19-448C-AFFC-8B10F6E07A7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Database Performance</a:t>
            </a:r>
          </a:p>
        </p:txBody>
      </p:sp>
      <p:sp>
        <p:nvSpPr>
          <p:cNvPr id="3" name="">
            <a:extLst xmlns:a="http://schemas.openxmlformats.org/drawingml/2006/main">
              <a:ext uri="{FF2B5EF4-FFF2-40B4-BE49-F238E27FC236}">
                <a16:creationId xmlns:a16="http://schemas.microsoft.com/office/drawing/2014/main" id="{9F5B1AAB-0AF6-4FE2-BCB3-1CEF1B76376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49</a:t>
            </a:r>
          </a:p>
        </p:txBody>
      </p:sp>
      <p:graphicFrame>
        <p:nvGraphicFramePr>
          <p:cNvPr id="8" name=""/>
          <p:cNvGraphicFramePr/>
          <p:nvPr/>
        </p:nvGraphicFramePr>
        <p:xfrm>
          <a:off xmlns:a="http://schemas.openxmlformats.org/drawingml/2006/main" x="609600" y="1847850"/>
          <a:ext xmlns:a="http://schemas.openxmlformats.org/drawingml/2006/main" cx="10820400" cy="3134106"/>
        </p:xfrm>
        <a:graphic xmlns:a="http://schemas.openxmlformats.org/drawingml/2006/main">
          <a:graphicData uri="http://schemas.openxmlformats.org/drawingml/2006/table">
            <a:tbl>
              <a:tblPr/>
              <a:tblGrid>
                <a:gridCol w="3029712"/>
                <a:gridCol w="7790688"/>
              </a:tblGrid>
              <a:tr h="552450">
                <a:tc>
                  <a:txBody>
                    <a:bodyPr/>
                    <a:lstStyle/>
                    <a:p>
                      <a:r>
                        <a:rPr sz="1500" b="1">
                          <a:solidFill>
                            <a:srgbClr val="FFFFFF"/>
                          </a:solidFill>
                          <a:latin typeface="Aptos"/>
                          <a:ea typeface="Aptos"/>
                          <a:cs typeface="Aptos"/>
                        </a:rPr>
                        <a:t>Technique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Implementation</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Connection Pooling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PgBouncer (transaction mode, max 100 connections per pool)</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Read Replicas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AI query engine and heavy analytics queries routed to read replica</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Materialized Views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Pre-computed monthly/weekly rollups refreshed after sync completion</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Table Partitioning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daily_metrics partitioned by month; old partitions detached and archived</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Query Optimization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Covering indexes on (org_id, date, platform); EXPLAIN ANALYZE on all key queries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2093058515"/>
      </p:ext>
    </p:extLst>
  </p:cSld>
</p:sld>
</file>

<file path=ppt/slides/slide5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AEA292-8ECA-4180-BD5A-B6927FC958CC}"/>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12. Scalability &amp; Performance</a:t>
            </a:r>
          </a:p>
        </p:txBody>
      </p:sp>
      <p:sp>
        <p:nvSpPr>
          <p:cNvPr id="2" name="">
            <a:extLst xmlns:a="http://schemas.openxmlformats.org/drawingml/2006/main">
              <a:ext uri="{FF2B5EF4-FFF2-40B4-BE49-F238E27FC236}">
                <a16:creationId xmlns:a16="http://schemas.microsoft.com/office/drawing/2014/main" id="{E42B5DED-06A0-4B56-A443-F98FD44439A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Horizontal Scaling</a:t>
            </a:r>
          </a:p>
        </p:txBody>
      </p:sp>
      <p:sp>
        <p:nvSpPr>
          <p:cNvPr id="3" name="">
            <a:extLst xmlns:a="http://schemas.openxmlformats.org/drawingml/2006/main">
              <a:ext uri="{FF2B5EF4-FFF2-40B4-BE49-F238E27FC236}">
                <a16:creationId xmlns:a16="http://schemas.microsoft.com/office/drawing/2014/main" id="{1AF7FA71-2851-499E-BAAB-78BF339EE98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50</a:t>
            </a:r>
          </a:p>
        </p:txBody>
      </p:sp>
      <p:graphicFrame>
        <p:nvGraphicFramePr>
          <p:cNvPr id="8" name=""/>
          <p:cNvGraphicFramePr/>
          <p:nvPr/>
        </p:nvGraphicFramePr>
        <p:xfrm>
          <a:off xmlns:a="http://schemas.openxmlformats.org/drawingml/2006/main" x="609600" y="1847850"/>
          <a:ext xmlns:a="http://schemas.openxmlformats.org/drawingml/2006/main" cx="10820400" cy="292455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Component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Scaling Trigger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Strategy</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API Servers (ECS)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CPU &gt; 70% or P95 latency &gt; 500ms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Auto-scale 2→8 tasks</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Pipeline Workers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Queue depth &gt; 100 jobs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Auto-scale 1→4 tasks</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PostgreSQL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Read IOPS &gt; 80% capacity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Add read replicas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Redis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Memory &gt; 80%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Upgrade instance size or add cluster nodes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323940522"/>
      </p:ext>
    </p:extLst>
  </p:cSld>
</p:sld>
</file>

<file path=ppt/slides/slide5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BE8BBE-777F-4CCD-B172-F57A5DF0174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12. Scalability &amp; Performance</a:t>
            </a:r>
          </a:p>
        </p:txBody>
      </p:sp>
      <p:sp>
        <p:nvSpPr>
          <p:cNvPr id="2" name="">
            <a:extLst xmlns:a="http://schemas.openxmlformats.org/drawingml/2006/main">
              <a:ext uri="{FF2B5EF4-FFF2-40B4-BE49-F238E27FC236}">
                <a16:creationId xmlns:a16="http://schemas.microsoft.com/office/drawing/2014/main" id="{839DA833-C5CE-46CE-83FA-0DD66D9AE9C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Performance SLAs</a:t>
            </a:r>
          </a:p>
        </p:txBody>
      </p:sp>
      <p:sp>
        <p:nvSpPr>
          <p:cNvPr id="3" name="">
            <a:extLst xmlns:a="http://schemas.openxmlformats.org/drawingml/2006/main">
              <a:ext uri="{FF2B5EF4-FFF2-40B4-BE49-F238E27FC236}">
                <a16:creationId xmlns:a16="http://schemas.microsoft.com/office/drawing/2014/main" id="{510AF417-A14B-4CB7-8BEE-2BF171556C2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51</a:t>
            </a:r>
          </a:p>
        </p:txBody>
      </p:sp>
      <p:graphicFrame>
        <p:nvGraphicFramePr>
          <p:cNvPr id="8" name=""/>
          <p:cNvGraphicFramePr/>
          <p:nvPr/>
        </p:nvGraphicFramePr>
        <p:xfrm>
          <a:off xmlns:a="http://schemas.openxmlformats.org/drawingml/2006/main" x="609600" y="1847850"/>
          <a:ext xmlns:a="http://schemas.openxmlformats.org/drawingml/2006/main" cx="10820400" cy="292455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Metric</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Target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Measurement</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Dashboard page load (P50)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1.5 seconds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Datadog RUM</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Dashboard page load (P95)</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&lt; 3.0 seconds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Datadog RUM</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API response time (P50)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200ms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Datadog APM</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API response time (P95)</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&lt; 500ms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Datadog APM</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048015523"/>
      </p:ext>
    </p:extLst>
  </p:cSld>
</p:sld>
</file>

<file path=ppt/slides/slide5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0F9466-FE4E-4EB7-81B2-9C792FE4880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12. Scalability &amp; Performance</a:t>
            </a:r>
          </a:p>
        </p:txBody>
      </p:sp>
      <p:sp>
        <p:nvSpPr>
          <p:cNvPr id="2" name="">
            <a:extLst xmlns:a="http://schemas.openxmlformats.org/drawingml/2006/main">
              <a:ext uri="{FF2B5EF4-FFF2-40B4-BE49-F238E27FC236}">
                <a16:creationId xmlns:a16="http://schemas.microsoft.com/office/drawing/2014/main" id="{41956366-A7F2-452F-8AEE-A6EC48436EB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Performance SLAs</a:t>
            </a:r>
          </a:p>
        </p:txBody>
      </p:sp>
      <p:sp>
        <p:nvSpPr>
          <p:cNvPr id="3" name="">
            <a:extLst xmlns:a="http://schemas.openxmlformats.org/drawingml/2006/main">
              <a:ext uri="{FF2B5EF4-FFF2-40B4-BE49-F238E27FC236}">
                <a16:creationId xmlns:a16="http://schemas.microsoft.com/office/drawing/2014/main" id="{9C8602A3-02F4-49B6-BC2F-3F8A130CCE1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52</a:t>
            </a:r>
          </a:p>
        </p:txBody>
      </p:sp>
      <p:graphicFrame>
        <p:nvGraphicFramePr>
          <p:cNvPr id="8" name=""/>
          <p:cNvGraphicFramePr/>
          <p:nvPr/>
        </p:nvGraphicFramePr>
        <p:xfrm>
          <a:off xmlns:a="http://schemas.openxmlformats.org/drawingml/2006/main" x="609600" y="1847850"/>
          <a:ext xmlns:a="http://schemas.openxmlformats.org/drawingml/2006/main" cx="10820400" cy="1948053"/>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Metric</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Target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Measurement</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AI query response (P50)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5 seconds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Custom metric</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Data sync latency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&lt; configured frequency + 30min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Sync log analysis</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Availability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99.9% monthly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Uptime monitoring</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923222974"/>
      </p:ext>
    </p:extLst>
  </p:cSld>
</p:sld>
</file>

<file path=ppt/slides/slide5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175373-0EF6-4F5D-8713-BC705DD41168}"/>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14. Testing Strategy</a:t>
            </a:r>
          </a:p>
        </p:txBody>
      </p:sp>
      <p:sp>
        <p:nvSpPr>
          <p:cNvPr id="2" name="">
            <a:extLst xmlns:a="http://schemas.openxmlformats.org/drawingml/2006/main">
              <a:ext uri="{FF2B5EF4-FFF2-40B4-BE49-F238E27FC236}">
                <a16:creationId xmlns:a16="http://schemas.microsoft.com/office/drawing/2014/main" id="{EAB5D273-C2E4-40CE-980A-0C4E74F88F1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Test Pyramid</a:t>
            </a:r>
          </a:p>
        </p:txBody>
      </p:sp>
      <p:sp>
        <p:nvSpPr>
          <p:cNvPr id="3" name="">
            <a:extLst xmlns:a="http://schemas.openxmlformats.org/drawingml/2006/main">
              <a:ext uri="{FF2B5EF4-FFF2-40B4-BE49-F238E27FC236}">
                <a16:creationId xmlns:a16="http://schemas.microsoft.com/office/drawing/2014/main" id="{2B1C0DA3-7BF3-4250-BCD4-33C6AFAA32E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53</a:t>
            </a:r>
          </a:p>
        </p:txBody>
      </p:sp>
      <p:graphicFrame>
        <p:nvGraphicFramePr>
          <p:cNvPr id="8" name=""/>
          <p:cNvGraphicFramePr/>
          <p:nvPr/>
        </p:nvGraphicFramePr>
        <p:xfrm>
          <a:off xmlns:a="http://schemas.openxmlformats.org/drawingml/2006/main" x="609600" y="1847850"/>
          <a:ext xmlns:a="http://schemas.openxmlformats.org/drawingml/2006/main" cx="10820400" cy="3272409"/>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Level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Tool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Coverage Target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What We Test</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Unit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Jest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&gt; 80% line coverage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Normalization logic, date calculations, permission checks, encryption/decryption, data transformations</a:t>
                      </a:r>
                    </a:p>
                  </a:txBody>
                  <a:tcPr marL="114300" marR="114300" marT="114300" marB="85725" anchor="t">
                    <a:solidFill>
                      <a:srgbClr val="FFFFFF"/>
                    </a:solidFill>
                  </a:tcPr>
                </a:tc>
              </a:tr>
              <a:tr h="1487805">
                <a:tc>
                  <a:txBody>
                    <a:bodyPr/>
                    <a:lstStyle/>
                    <a:p>
                      <a:r>
                        <a:rPr sz="1650" b="1">
                          <a:solidFill>
                            <a:srgbClr val="263D50"/>
                          </a:solidFill>
                          <a:latin typeface="Aptos"/>
                          <a:ea typeface="Aptos"/>
                          <a:cs typeface="Aptos"/>
                        </a:rPr>
                        <a:t>Integration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Jest + Testcontainers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Key flows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API endpoints with real PostgreSQL (RLS verification), Redis interactions, OAuth flows (mocked platforms)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740097365"/>
      </p:ext>
    </p:extLst>
  </p:cSld>
</p:sld>
</file>

<file path=ppt/slides/slide5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7C83F7-CADB-4D34-AC30-B40DA948C71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14. Testing Strategy</a:t>
            </a:r>
          </a:p>
        </p:txBody>
      </p:sp>
      <p:sp>
        <p:nvSpPr>
          <p:cNvPr id="2" name="">
            <a:extLst xmlns:a="http://schemas.openxmlformats.org/drawingml/2006/main">
              <a:ext uri="{FF2B5EF4-FFF2-40B4-BE49-F238E27FC236}">
                <a16:creationId xmlns:a16="http://schemas.microsoft.com/office/drawing/2014/main" id="{F40BB311-632F-420E-A271-AED09E289AE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Test Pyramid</a:t>
            </a:r>
          </a:p>
        </p:txBody>
      </p:sp>
      <p:sp>
        <p:nvSpPr>
          <p:cNvPr id="3" name="">
            <a:extLst xmlns:a="http://schemas.openxmlformats.org/drawingml/2006/main">
              <a:ext uri="{FF2B5EF4-FFF2-40B4-BE49-F238E27FC236}">
                <a16:creationId xmlns:a16="http://schemas.microsoft.com/office/drawing/2014/main" id="{7C9438F7-3E35-4E2F-A1DE-67D05F5007B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54</a:t>
            </a:r>
          </a:p>
        </p:txBody>
      </p:sp>
      <p:graphicFrame>
        <p:nvGraphicFramePr>
          <p:cNvPr id="8" name=""/>
          <p:cNvGraphicFramePr/>
          <p:nvPr/>
        </p:nvGraphicFramePr>
        <p:xfrm>
          <a:off xmlns:a="http://schemas.openxmlformats.org/drawingml/2006/main" x="609600" y="1847850"/>
          <a:ext xmlns:a="http://schemas.openxmlformats.org/drawingml/2006/main" cx="10820400" cy="2505456"/>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Level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Tool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Coverage Target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What We Test</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E2E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Playwright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Critical paths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Login → Connect platform → View dashboard → Filter data → Trigger sync → Ask AI question</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API Contract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Jest + OpenAPI</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100% of endpoints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Request/response shape matches OpenAPI spec</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46718775"/>
      </p:ext>
    </p:extLst>
  </p:cSld>
</p:sld>
</file>

<file path=ppt/slides/slide5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66E188-601A-4BAD-A382-16AD774E625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14. Testing Strategy</a:t>
            </a:r>
          </a:p>
        </p:txBody>
      </p:sp>
      <p:sp>
        <p:nvSpPr>
          <p:cNvPr id="2" name="">
            <a:extLst xmlns:a="http://schemas.openxmlformats.org/drawingml/2006/main">
              <a:ext uri="{FF2B5EF4-FFF2-40B4-BE49-F238E27FC236}">
                <a16:creationId xmlns:a16="http://schemas.microsoft.com/office/drawing/2014/main" id="{1023D010-5DB8-4983-93D3-F0218FFCA04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Test Pyramid</a:t>
            </a:r>
          </a:p>
        </p:txBody>
      </p:sp>
      <p:sp>
        <p:nvSpPr>
          <p:cNvPr id="3" name="">
            <a:extLst xmlns:a="http://schemas.openxmlformats.org/drawingml/2006/main">
              <a:ext uri="{FF2B5EF4-FFF2-40B4-BE49-F238E27FC236}">
                <a16:creationId xmlns:a16="http://schemas.microsoft.com/office/drawing/2014/main" id="{6FC4913C-A4AF-4B51-B4AF-9FFF956C383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55</a:t>
            </a:r>
          </a:p>
        </p:txBody>
      </p:sp>
      <p:graphicFrame>
        <p:nvGraphicFramePr>
          <p:cNvPr id="8" name=""/>
          <p:cNvGraphicFramePr/>
          <p:nvPr/>
        </p:nvGraphicFramePr>
        <p:xfrm>
          <a:off xmlns:a="http://schemas.openxmlformats.org/drawingml/2006/main" x="609600" y="1847850"/>
          <a:ext xmlns:a="http://schemas.openxmlformats.org/drawingml/2006/main" cx="10820400" cy="2761107"/>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Level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Tool</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Coverage Target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What We Test</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Security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Custom + OWASP ZAP</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All endpoints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Tenant isolation, RBAC enforcement, injection attempts, auth bypass attempts</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Performance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k6</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Key endpoints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Dashboard load &lt; 3s P95, API &lt; 500ms P95, 100 concurrent users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126162771"/>
      </p:ext>
    </p:extLst>
  </p:cSld>
</p:sld>
</file>

<file path=ppt/slides/slide5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DECBB7-0C39-4237-8D40-925E016CC70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15. CI/CD &amp; Deployment</a:t>
            </a:r>
          </a:p>
        </p:txBody>
      </p:sp>
      <p:sp>
        <p:nvSpPr>
          <p:cNvPr id="2" name="">
            <a:extLst xmlns:a="http://schemas.openxmlformats.org/drawingml/2006/main">
              <a:ext uri="{FF2B5EF4-FFF2-40B4-BE49-F238E27FC236}">
                <a16:creationId xmlns:a16="http://schemas.microsoft.com/office/drawing/2014/main" id="{1652F763-1D37-4026-BE9F-35F5E495946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Repository Structure</a:t>
            </a:r>
          </a:p>
        </p:txBody>
      </p:sp>
      <p:sp>
        <p:nvSpPr>
          <p:cNvPr id="3" name="">
            <a:extLst xmlns:a="http://schemas.openxmlformats.org/drawingml/2006/main">
              <a:ext uri="{FF2B5EF4-FFF2-40B4-BE49-F238E27FC236}">
                <a16:creationId xmlns:a16="http://schemas.microsoft.com/office/drawing/2014/main" id="{A6A0B459-AED3-4F01-A053-E7E51ED3CDC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56</a:t>
            </a:r>
          </a:p>
        </p:txBody>
      </p:sp>
      <p:sp>
        <p:nvSpPr>
          <p:cNvPr id="4" name="">
            <a:extLst xmlns:a="http://schemas.openxmlformats.org/drawingml/2006/main">
              <a:ext uri="{FF2B5EF4-FFF2-40B4-BE49-F238E27FC236}">
                <a16:creationId xmlns:a16="http://schemas.microsoft.com/office/drawing/2014/main" id="{BEB2C185-707B-4DEF-9634-83E530EDD864}"/>
              </a:ext>
            </a:extLst>
          </p:cNvPr>
          <p:cNvSpPr>
            <a:spLocks xmlns:a="http://schemas.openxmlformats.org/drawingml/2006/main" noGrp="1"/>
          </p:cNvSpPr>
          <p:nvPr/>
        </p:nvSpPr>
        <p:spPr>
          <a:xfrm xmlns:a="http://schemas.openxmlformats.org/drawingml/2006/main">
            <a:off x="666750" y="1838325"/>
            <a:ext cx="10858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marketing-intelligence-platform/</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apps/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api/                  # NestJS backend</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src/</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prisma/           # Schema + migrations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Dockerfile</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package.json</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web/                  # Next.js frontend</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src/</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Dockerfile</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package.json</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packages/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shared/               # Shared types, utils, constants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connectors/           # Platform connector library</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infra/</a:t>
            </a:r>
          </a:p>
        </p:txBody>
      </p:sp>
    </p:spTree>
    <p:extLst>
      <p:ext uri="{BB962C8B-B14F-4D97-AF65-F5344CB8AC3E}">
        <p14:creationId xmlns:p14="http://schemas.microsoft.com/office/powerpoint/2010/main" val="923615732"/>
      </p:ext>
    </p:extLst>
  </p:cSld>
</p:sld>
</file>

<file path=ppt/slides/slide5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835DAA-3EEB-4844-A213-F206392B55F2}"/>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15. CI/CD &amp; Deployment</a:t>
            </a:r>
          </a:p>
        </p:txBody>
      </p:sp>
      <p:sp>
        <p:nvSpPr>
          <p:cNvPr id="2" name="">
            <a:extLst xmlns:a="http://schemas.openxmlformats.org/drawingml/2006/main">
              <a:ext uri="{FF2B5EF4-FFF2-40B4-BE49-F238E27FC236}">
                <a16:creationId xmlns:a16="http://schemas.microsoft.com/office/drawing/2014/main" id="{78F0087C-0CE6-4E56-BA29-06D2BE343E7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Repository Structure</a:t>
            </a:r>
          </a:p>
        </p:txBody>
      </p:sp>
      <p:sp>
        <p:nvSpPr>
          <p:cNvPr id="3" name="">
            <a:extLst xmlns:a="http://schemas.openxmlformats.org/drawingml/2006/main">
              <a:ext uri="{FF2B5EF4-FFF2-40B4-BE49-F238E27FC236}">
                <a16:creationId xmlns:a16="http://schemas.microsoft.com/office/drawing/2014/main" id="{BF9D3DA7-2996-4FC7-A164-A9977C11D2C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57</a:t>
            </a:r>
          </a:p>
        </p:txBody>
      </p:sp>
      <p:sp>
        <p:nvSpPr>
          <p:cNvPr id="4" name="">
            <a:extLst xmlns:a="http://schemas.openxmlformats.org/drawingml/2006/main">
              <a:ext uri="{FF2B5EF4-FFF2-40B4-BE49-F238E27FC236}">
                <a16:creationId xmlns:a16="http://schemas.microsoft.com/office/drawing/2014/main" id="{3003EB24-9479-45A1-99FF-ED0E5DB422E4}"/>
              </a:ext>
            </a:extLst>
          </p:cNvPr>
          <p:cNvSpPr>
            <a:spLocks xmlns:a="http://schemas.openxmlformats.org/drawingml/2006/main" noGrp="1"/>
          </p:cNvSpPr>
          <p:nvPr/>
        </p:nvSpPr>
        <p:spPr>
          <a:xfrm xmlns:a="http://schemas.openxmlformats.org/drawingml/2006/main">
            <a:off x="666750" y="1838325"/>
            <a:ext cx="10858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terraform/            # IaC definitions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modules/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environments/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 dev/</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 staging/</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 production/</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 main.tf</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docker-compose.yml    # Local development</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.github/</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workflows/</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ci.yml</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deploy-staging.yml</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 deploy-production.yml</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turbo.json                # Turborepo config</a:t>
            </a:r>
          </a:p>
          <a:p xmlns:a="http://schemas.openxmlformats.org/drawingml/2006/main">
            <a:pPr>
              <a:defRPr sz="1575" b="0">
                <a:solidFill>
                  <a:srgbClr val="263D50"/>
                </a:solidFill>
                <a:latin typeface="Consolas"/>
                <a:ea typeface="Consolas"/>
                <a:cs typeface="Consolas"/>
              </a:defRPr>
            </a:pPr>
            <a:r>
              <a:rPr sz="1575" b="0">
                <a:solidFill>
                  <a:srgbClr val="263D50"/>
                </a:solidFill>
                <a:latin typeface="Consolas"/>
                <a:ea typeface="Consolas"/>
                <a:cs typeface="Consolas"/>
              </a:rPr>
              <a:t>└── package.json              # Root workspace</a:t>
            </a:r>
          </a:p>
        </p:txBody>
      </p:sp>
    </p:spTree>
    <p:extLst>
      <p:ext uri="{BB962C8B-B14F-4D97-AF65-F5344CB8AC3E}">
        <p14:creationId xmlns:p14="http://schemas.microsoft.com/office/powerpoint/2010/main" val="195680230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6FC8D7-FC64-4DE5-A301-C7C588680CEC}"/>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15. CI/CD &amp; Deployment</a:t>
            </a:r>
          </a:p>
        </p:txBody>
      </p:sp>
      <p:sp>
        <p:nvSpPr>
          <p:cNvPr id="2" name="">
            <a:extLst xmlns:a="http://schemas.openxmlformats.org/drawingml/2006/main">
              <a:ext uri="{FF2B5EF4-FFF2-40B4-BE49-F238E27FC236}">
                <a16:creationId xmlns:a16="http://schemas.microsoft.com/office/drawing/2014/main" id="{E3BC6D63-CD5C-4B15-82BC-00146AEC01A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Deployment Pipeline</a:t>
            </a:r>
          </a:p>
        </p:txBody>
      </p:sp>
      <p:sp>
        <p:nvSpPr>
          <p:cNvPr id="3" name="">
            <a:extLst xmlns:a="http://schemas.openxmlformats.org/drawingml/2006/main">
              <a:ext uri="{FF2B5EF4-FFF2-40B4-BE49-F238E27FC236}">
                <a16:creationId xmlns:a16="http://schemas.microsoft.com/office/drawing/2014/main" id="{69703A27-4E67-4A63-A3AF-BDC6C59B59F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cb80f83de1248d8"/>
          <a:stretch xmlns:a="http://schemas.openxmlformats.org/drawingml/2006/main"/>
        </p:blipFill>
        <p:spPr>
          <a:xfrm xmlns:a="http://schemas.openxmlformats.org/drawingml/2006/main">
            <a:off x="690563" y="3631104"/>
            <a:ext cx="10810875" cy="834042"/>
          </a:xfrm>
          <a:prstGeom xmlns:a="http://schemas.openxmlformats.org/drawingml/2006/main" prst="rect">
            <a:avLst/>
          </a:prstGeom>
        </p:spPr>
      </p:pic>
    </p:spTree>
    <p:extLst>
      <p:ext uri="{BB962C8B-B14F-4D97-AF65-F5344CB8AC3E}">
        <p14:creationId xmlns:p14="http://schemas.microsoft.com/office/powerpoint/2010/main" val="121683849"/>
      </p:ext>
    </p:extLst>
  </p:cSld>
</p:sld>
</file>

<file path=ppt/slides/slide5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6D6F6B-3375-475D-BE00-2EFF304E50DF}"/>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15. CI/CD &amp; Deployment</a:t>
            </a:r>
          </a:p>
        </p:txBody>
      </p:sp>
      <p:sp>
        <p:nvSpPr>
          <p:cNvPr id="2" name="">
            <a:extLst xmlns:a="http://schemas.openxmlformats.org/drawingml/2006/main">
              <a:ext uri="{FF2B5EF4-FFF2-40B4-BE49-F238E27FC236}">
                <a16:creationId xmlns:a16="http://schemas.microsoft.com/office/drawing/2014/main" id="{D66EE919-1B5D-4BAB-A896-8E9E5CF7B1A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Environment Management</a:t>
            </a:r>
          </a:p>
        </p:txBody>
      </p:sp>
      <p:sp>
        <p:nvSpPr>
          <p:cNvPr id="3" name="">
            <a:extLst xmlns:a="http://schemas.openxmlformats.org/drawingml/2006/main">
              <a:ext uri="{FF2B5EF4-FFF2-40B4-BE49-F238E27FC236}">
                <a16:creationId xmlns:a16="http://schemas.microsoft.com/office/drawing/2014/main" id="{5086C56C-177D-4485-A2C8-747E0073A74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59</a:t>
            </a:r>
          </a:p>
        </p:txBody>
      </p:sp>
      <p:graphicFrame>
        <p:nvGraphicFramePr>
          <p:cNvPr id="8" name=""/>
          <p:cNvGraphicFramePr/>
          <p:nvPr/>
        </p:nvGraphicFramePr>
        <p:xfrm>
          <a:off xmlns:a="http://schemas.openxmlformats.org/drawingml/2006/main" x="609600" y="1847850"/>
          <a:ext xmlns:a="http://schemas.openxmlformats.org/drawingml/2006/main" cx="10820400" cy="3691509"/>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Environment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Purpose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Infrastructure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Data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Local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Developer workstation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Docker Compose (PG + Redis + MinIO)</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Seed data</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Dev</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Feature testing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Shared AWS (small instances)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Synthetic data</a:t>
                      </a:r>
                    </a:p>
                  </a:txBody>
                  <a:tcPr marL="114300" marR="114300" marT="114300" marB="85725" anchor="t">
                    <a:solidFill>
                      <a:srgbClr val="EAF1F4"/>
                    </a:solidFill>
                  </a:tcPr>
                </a:tc>
              </a:tr>
              <a:tr h="976503">
                <a:tc>
                  <a:txBody>
                    <a:bodyPr/>
                    <a:lstStyle/>
                    <a:p>
                      <a:r>
                        <a:rPr sz="1650" b="1">
                          <a:solidFill>
                            <a:srgbClr val="263D50"/>
                          </a:solidFill>
                          <a:latin typeface="Aptos"/>
                          <a:ea typeface="Aptos"/>
                          <a:cs typeface="Aptos"/>
                        </a:rPr>
                        <a:t>Staging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Pre-production validation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AWS (mirrors prod topology, smaller instances)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Anonymized prod snapshot</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Production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Live system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AWS (full-scale, multi-AZ)</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Real data</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03721513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BD5FB9-721B-476C-938E-2D67B5BC412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94AD033E-DAA8-4C66-9BBC-FCABC93F478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Overview Timeline</a:t>
            </a:r>
          </a:p>
        </p:txBody>
      </p:sp>
      <p:sp>
        <p:nvSpPr>
          <p:cNvPr id="3" name="">
            <a:extLst xmlns:a="http://schemas.openxmlformats.org/drawingml/2006/main">
              <a:ext uri="{FF2B5EF4-FFF2-40B4-BE49-F238E27FC236}">
                <a16:creationId xmlns:a16="http://schemas.microsoft.com/office/drawing/2014/main" id="{61267A06-0EF4-4D99-8EA4-978E895A050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5be034606ad4e7f"/>
          <a:stretch xmlns:a="http://schemas.openxmlformats.org/drawingml/2006/main"/>
        </p:blipFill>
        <p:spPr>
          <a:xfrm xmlns:a="http://schemas.openxmlformats.org/drawingml/2006/main">
            <a:off x="2046360" y="1809750"/>
            <a:ext cx="8099279" cy="4476750"/>
          </a:xfrm>
          <a:prstGeom xmlns:a="http://schemas.openxmlformats.org/drawingml/2006/main" prst="rect">
            <a:avLst/>
          </a:prstGeom>
        </p:spPr>
      </p:pic>
    </p:spTree>
    <p:extLst>
      <p:ext uri="{BB962C8B-B14F-4D97-AF65-F5344CB8AC3E}">
        <p14:creationId xmlns:p14="http://schemas.microsoft.com/office/powerpoint/2010/main" val="440195905"/>
      </p:ext>
    </p:extLst>
  </p:cSld>
</p:sld>
</file>

<file path=ppt/slides/slide6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6A86CB1-69A7-419F-AB5B-A685316E3500}"/>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ACC430E1-B6DA-4648-B720-EBAC8A06DE7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Detail</a:t>
            </a:r>
          </a:p>
        </p:txBody>
      </p:sp>
      <p:sp>
        <p:nvSpPr>
          <p:cNvPr id="3" name="">
            <a:extLst xmlns:a="http://schemas.openxmlformats.org/drawingml/2006/main">
              <a:ext uri="{FF2B5EF4-FFF2-40B4-BE49-F238E27FC236}">
                <a16:creationId xmlns:a16="http://schemas.microsoft.com/office/drawing/2014/main" id="{200147A2-C7E3-4AB3-B2CC-1CF63353BF2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61</a:t>
            </a:r>
          </a:p>
        </p:txBody>
      </p:sp>
    </p:spTree>
    <p:extLst>
      <p:ext uri="{BB962C8B-B14F-4D97-AF65-F5344CB8AC3E}">
        <p14:creationId xmlns:p14="http://schemas.microsoft.com/office/powerpoint/2010/main" val="1851665810"/>
      </p:ext>
    </p:extLst>
  </p:cSld>
</p:sld>
</file>

<file path=ppt/slides/slide62.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BFF6D4-5608-4A10-AA6B-8A683E6F5DB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1C83AA20-E0BA-43F7-BAB2-000A504A215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1: Foundation (Weeks 1–3)</a:t>
            </a:r>
          </a:p>
        </p:txBody>
      </p:sp>
      <p:sp>
        <p:nvSpPr>
          <p:cNvPr id="3" name="">
            <a:extLst xmlns:a="http://schemas.openxmlformats.org/drawingml/2006/main">
              <a:ext uri="{FF2B5EF4-FFF2-40B4-BE49-F238E27FC236}">
                <a16:creationId xmlns:a16="http://schemas.microsoft.com/office/drawing/2014/main" id="{A7D5FAF5-AFA2-4DB0-B39C-061054108CF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62</a:t>
            </a:r>
          </a:p>
        </p:txBody>
      </p:sp>
      <p:sp>
        <p:nvSpPr>
          <p:cNvPr id="4" name="">
            <a:extLst xmlns:a="http://schemas.openxmlformats.org/drawingml/2006/main">
              <a:ext uri="{FF2B5EF4-FFF2-40B4-BE49-F238E27FC236}">
                <a16:creationId xmlns:a16="http://schemas.microsoft.com/office/drawing/2014/main" id="{B293F14A-EB16-4C12-A6AC-007C30AAAC30}"/>
              </a:ext>
            </a:extLst>
          </p:cNvPr>
          <p:cNvSpPr>
            <a:spLocks xmlns:a="http://schemas.openxmlformats.org/drawingml/2006/main" noGrp="1"/>
          </p:cNvSpPr>
          <p:nvPr/>
        </p:nvSpPr>
        <p:spPr>
          <a:xfrm xmlns:a="http://schemas.openxmlformats.org/drawingml/2006/main">
            <a:off x="628650" y="2809875"/>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Aptos"/>
                <a:ea typeface="Aptos"/>
                <a:cs typeface="Aptos"/>
              </a:defRPr>
            </a:pPr>
            <a:r>
              <a:rPr sz="3150" b="0">
                <a:solidFill>
                  <a:srgbClr val="FFFFFF"/>
                </a:solidFill>
                <a:latin typeface="Aptos"/>
                <a:ea typeface="Aptos"/>
                <a:cs typeface="Aptos"/>
              </a:rPr>
              <a:t>Goal: Establish the multi-tenant core, authentication, and organizational management</a:t>
            </a:r>
          </a:p>
        </p:txBody>
      </p:sp>
    </p:spTree>
    <p:extLst>
      <p:ext uri="{BB962C8B-B14F-4D97-AF65-F5344CB8AC3E}">
        <p14:creationId xmlns:p14="http://schemas.microsoft.com/office/powerpoint/2010/main" val="504613844"/>
      </p:ext>
    </p:extLst>
  </p:cSld>
</p:sld>
</file>

<file path=ppt/slides/slide6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5C8D6A-B789-4BEE-9794-E955A0319728}"/>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157828AD-C68F-4F8D-8C5A-26609ABFD8E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1: Foundation (Weeks 1–3)</a:t>
            </a:r>
          </a:p>
        </p:txBody>
      </p:sp>
      <p:sp>
        <p:nvSpPr>
          <p:cNvPr id="3" name="">
            <a:extLst xmlns:a="http://schemas.openxmlformats.org/drawingml/2006/main">
              <a:ext uri="{FF2B5EF4-FFF2-40B4-BE49-F238E27FC236}">
                <a16:creationId xmlns:a16="http://schemas.microsoft.com/office/drawing/2014/main" id="{4705DC12-3F06-4DFD-8178-E0A643784E1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63</a:t>
            </a:r>
          </a:p>
        </p:txBody>
      </p:sp>
      <p:graphicFrame>
        <p:nvGraphicFramePr>
          <p:cNvPr id="8" name=""/>
          <p:cNvGraphicFramePr/>
          <p:nvPr/>
        </p:nvGraphicFramePr>
        <p:xfrm>
          <a:off xmlns:a="http://schemas.openxmlformats.org/drawingml/2006/main" x="609600" y="1847850"/>
          <a:ext xmlns:a="http://schemas.openxmlformats.org/drawingml/2006/main" cx="10820400" cy="3947160"/>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Project scaffold</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Turborepo monorepo with NestJS API + Next.js frontend, Docker Compose for local dev, Terraform for AWS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docker-compose up boots full local stack</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Database schema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All core tables created with RLS policies enabled</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RLS isolation tests pass (Tenant A cannot see Tenant B)</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Auth system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JWT login/logout, refresh token rotation, HttpOnly cookies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Login flow works, tokens rotate correctly</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RBAC</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Admin/Manager/Viewer role enforcement on all endpoints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Viewer cannot access admin endpoints (403)</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790703925"/>
      </p:ext>
    </p:extLst>
  </p:cSld>
</p:sld>
</file>

<file path=ppt/slides/slide6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0CC4D3-2546-41A6-ABBC-34E599A6449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767D8BD8-4033-4E1B-A89D-978CECB6BC2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1: Foundation (Weeks 1–3)</a:t>
            </a:r>
          </a:p>
        </p:txBody>
      </p:sp>
      <p:sp>
        <p:nvSpPr>
          <p:cNvPr id="3" name="">
            <a:extLst xmlns:a="http://schemas.openxmlformats.org/drawingml/2006/main">
              <a:ext uri="{FF2B5EF4-FFF2-40B4-BE49-F238E27FC236}">
                <a16:creationId xmlns:a16="http://schemas.microsoft.com/office/drawing/2014/main" id="{23C8AB12-EF58-4D6D-9206-8BDC39D898E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64</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Tenant middleware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Automatic tenant context setting on every authenticated request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All queries scoped to correct org</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Org management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Create org, update settings, view org details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API endpoints functional with tests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User management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Invite user, list users, change role, remove user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Email invitations sent, role changes applied</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2066512926"/>
      </p:ext>
    </p:extLst>
  </p:cSld>
</p:sld>
</file>

<file path=ppt/slides/slide6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B87732-5C21-4EBA-A501-12C95B17E42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F51C1508-5381-42D7-BD3C-4F4B10D3D85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1: Foundation (Weeks 1–3)</a:t>
            </a:r>
          </a:p>
        </p:txBody>
      </p:sp>
      <p:sp>
        <p:nvSpPr>
          <p:cNvPr id="3" name="">
            <a:extLst xmlns:a="http://schemas.openxmlformats.org/drawingml/2006/main">
              <a:ext uri="{FF2B5EF4-FFF2-40B4-BE49-F238E27FC236}">
                <a16:creationId xmlns:a16="http://schemas.microsoft.com/office/drawing/2014/main" id="{AB9145D6-D25D-4E39-8341-ED2393D07A49}"/>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65</a:t>
            </a:r>
          </a:p>
        </p:txBody>
      </p:sp>
      <p:sp>
        <p:nvSpPr>
          <p:cNvPr id="4" name="">
            <a:extLst xmlns:a="http://schemas.openxmlformats.org/drawingml/2006/main">
              <a:ext uri="{FF2B5EF4-FFF2-40B4-BE49-F238E27FC236}">
                <a16:creationId xmlns:a16="http://schemas.microsoft.com/office/drawing/2014/main" id="{CB920B62-72FA-4950-98E9-96E21AEAEB57}"/>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1 Senior Backend + 1 Backend + 1 DevOps</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Risk: RLS policy design errors → Mitigated by isolation test suite run on every PR</a:t>
            </a:r>
          </a:p>
        </p:txBody>
      </p:sp>
    </p:spTree>
    <p:extLst>
      <p:ext uri="{BB962C8B-B14F-4D97-AF65-F5344CB8AC3E}">
        <p14:creationId xmlns:p14="http://schemas.microsoft.com/office/powerpoint/2010/main" val="594529893"/>
      </p:ext>
    </p:extLst>
  </p:cSld>
</p:sld>
</file>

<file path=ppt/slides/slide66.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B466D2-B829-4E59-9194-F878E34ACE1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177C33D2-7A7F-4D49-9A7D-8E1FDC51D87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2: Platform Integrations (Weeks 4–6)</a:t>
            </a:r>
          </a:p>
        </p:txBody>
      </p:sp>
      <p:sp>
        <p:nvSpPr>
          <p:cNvPr id="3" name="">
            <a:extLst xmlns:a="http://schemas.openxmlformats.org/drawingml/2006/main">
              <a:ext uri="{FF2B5EF4-FFF2-40B4-BE49-F238E27FC236}">
                <a16:creationId xmlns:a16="http://schemas.microsoft.com/office/drawing/2014/main" id="{03ADF9AD-C5BB-49C4-8C43-31695A72D9F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66</a:t>
            </a:r>
          </a:p>
        </p:txBody>
      </p:sp>
      <p:sp>
        <p:nvSpPr>
          <p:cNvPr id="4" name="">
            <a:extLst xmlns:a="http://schemas.openxmlformats.org/drawingml/2006/main">
              <a:ext uri="{FF2B5EF4-FFF2-40B4-BE49-F238E27FC236}">
                <a16:creationId xmlns:a16="http://schemas.microsoft.com/office/drawing/2014/main" id="{56E6D72E-0DEC-476B-98B5-99D1AF071392}"/>
              </a:ext>
            </a:extLst>
          </p:cNvPr>
          <p:cNvSpPr>
            <a:spLocks xmlns:a="http://schemas.openxmlformats.org/drawingml/2006/main" noGrp="1"/>
          </p:cNvSpPr>
          <p:nvPr/>
        </p:nvSpPr>
        <p:spPr>
          <a:xfrm xmlns:a="http://schemas.openxmlformats.org/drawingml/2006/main">
            <a:off x="628650" y="2809875"/>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Aptos"/>
                <a:ea typeface="Aptos"/>
                <a:cs typeface="Aptos"/>
              </a:defRPr>
            </a:pPr>
            <a:r>
              <a:rPr sz="3150" b="0">
                <a:solidFill>
                  <a:srgbClr val="FFFFFF"/>
                </a:solidFill>
                <a:latin typeface="Aptos"/>
                <a:ea typeface="Aptos"/>
                <a:cs typeface="Aptos"/>
              </a:rPr>
              <a:t>Goal: Connect to all four platforms with robust OAuth and token management</a:t>
            </a:r>
          </a:p>
        </p:txBody>
      </p:sp>
    </p:spTree>
    <p:extLst>
      <p:ext uri="{BB962C8B-B14F-4D97-AF65-F5344CB8AC3E}">
        <p14:creationId xmlns:p14="http://schemas.microsoft.com/office/powerpoint/2010/main" val="2133238861"/>
      </p:ext>
    </p:extLst>
  </p:cSld>
</p:sld>
</file>

<file path=ppt/slides/slide6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DAF226-4AA4-4C3F-82A5-91200BF7A79F}"/>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8AEEF600-9A70-43F3-881D-D176B994498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2: Platform Integrations (Weeks 4–6)</a:t>
            </a:r>
          </a:p>
        </p:txBody>
      </p:sp>
      <p:sp>
        <p:nvSpPr>
          <p:cNvPr id="3" name="">
            <a:extLst xmlns:a="http://schemas.openxmlformats.org/drawingml/2006/main">
              <a:ext uri="{FF2B5EF4-FFF2-40B4-BE49-F238E27FC236}">
                <a16:creationId xmlns:a16="http://schemas.microsoft.com/office/drawing/2014/main" id="{80ACF5C7-78D9-44C8-A5DA-8971BF36E0E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67</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OAuth framework</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Reusable OAuth flow handler supporting any platform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Connect → consent → callback → tokens stored encrypted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Meta connector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Fetch page metrics + post performance via Graph API</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30 days of historical data fetched and normalized</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Instagram connector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Fetch account metrics + post performance via IG Graph API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Same as Meta</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496878346"/>
      </p:ext>
    </p:extLst>
  </p:cSld>
</p:sld>
</file>

<file path=ppt/slides/slide6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B7A3BF-A402-454C-9561-300F5E40641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89721AE9-8885-4170-91B3-C3A5B5FDB01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2: Platform Integrations (Weeks 4–6)</a:t>
            </a:r>
          </a:p>
        </p:txBody>
      </p:sp>
      <p:sp>
        <p:nvSpPr>
          <p:cNvPr id="3" name="">
            <a:extLst xmlns:a="http://schemas.openxmlformats.org/drawingml/2006/main">
              <a:ext uri="{FF2B5EF4-FFF2-40B4-BE49-F238E27FC236}">
                <a16:creationId xmlns:a16="http://schemas.microsoft.com/office/drawing/2014/main" id="{17499C35-9B67-46C1-86D8-3FFA89DDFD8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68</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LinkedIn connector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Fetch org metrics + post performance via Marketing API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Same, accounting for LinkedIn’s stricter rate limits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GA4 connector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Fetch analytics data via Data API</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Sessions, users, traffic sources, landing pages fetched</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Token management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Auto-refresh, expiry detection, reconnect flow</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Expired tokens trigger user notification, not silent failure</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956253604"/>
      </p:ext>
    </p:extLst>
  </p:cSld>
</p:sld>
</file>

<file path=ppt/slides/slide6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18E8B4-8552-43A7-95AB-BC7C2B88859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A0FCC5FA-27CD-4A19-902B-FCE461FC200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2: Platform Integrations (Weeks 4–6)</a:t>
            </a:r>
          </a:p>
        </p:txBody>
      </p:sp>
      <p:sp>
        <p:nvSpPr>
          <p:cNvPr id="3" name="">
            <a:extLst xmlns:a="http://schemas.openxmlformats.org/drawingml/2006/main">
              <a:ext uri="{FF2B5EF4-FFF2-40B4-BE49-F238E27FC236}">
                <a16:creationId xmlns:a16="http://schemas.microsoft.com/office/drawing/2014/main" id="{35153E81-1E28-477D-829B-90BD164859C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69</a:t>
            </a:r>
          </a:p>
        </p:txBody>
      </p:sp>
      <p:sp>
        <p:nvSpPr>
          <p:cNvPr id="4" name="">
            <a:extLst xmlns:a="http://schemas.openxmlformats.org/drawingml/2006/main">
              <a:ext uri="{FF2B5EF4-FFF2-40B4-BE49-F238E27FC236}">
                <a16:creationId xmlns:a16="http://schemas.microsoft.com/office/drawing/2014/main" id="{238CCD5E-2C08-4853-93EC-A4D7F6D92AC8}"/>
              </a:ext>
            </a:extLst>
          </p:cNvPr>
          <p:cNvSpPr>
            <a:spLocks xmlns:a="http://schemas.openxmlformats.org/drawingml/2006/main" noGrp="1"/>
          </p:cNvSpPr>
          <p:nvPr/>
        </p:nvSpPr>
        <p:spPr>
          <a:xfrm xmlns:a="http://schemas.openxmlformats.org/drawingml/2006/main">
            <a:off x="609600" y="195262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2 Backend + 1 Senior Backend (oversight)</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Dependencies: Phase 1 auth and tenant system complete</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Risk: Platform API rate limits and approval delays → Each connector designed with configurable backoff; developer app registrations started in Week 1</a:t>
            </a:r>
          </a:p>
        </p:txBody>
      </p:sp>
    </p:spTree>
    <p:extLst>
      <p:ext uri="{BB962C8B-B14F-4D97-AF65-F5344CB8AC3E}">
        <p14:creationId xmlns:p14="http://schemas.microsoft.com/office/powerpoint/2010/main" val="1740173715"/>
      </p:ext>
    </p:extLst>
  </p:cSld>
</p:sld>
</file>

<file path=ppt/slides/slide70.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B43C95-74B7-46FE-A63E-22242E9FB67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E6FCAF6B-9A2C-49AA-8D35-B4B07C80953B}"/>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3: Data Pipeline (Weeks 7–8)</a:t>
            </a:r>
          </a:p>
        </p:txBody>
      </p:sp>
      <p:sp>
        <p:nvSpPr>
          <p:cNvPr id="3" name="">
            <a:extLst xmlns:a="http://schemas.openxmlformats.org/drawingml/2006/main">
              <a:ext uri="{FF2B5EF4-FFF2-40B4-BE49-F238E27FC236}">
                <a16:creationId xmlns:a16="http://schemas.microsoft.com/office/drawing/2014/main" id="{D07387DB-62C4-4C66-A6BD-49242D87832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70</a:t>
            </a:r>
          </a:p>
        </p:txBody>
      </p:sp>
      <p:sp>
        <p:nvSpPr>
          <p:cNvPr id="4" name="">
            <a:extLst xmlns:a="http://schemas.openxmlformats.org/drawingml/2006/main">
              <a:ext uri="{FF2B5EF4-FFF2-40B4-BE49-F238E27FC236}">
                <a16:creationId xmlns:a16="http://schemas.microsoft.com/office/drawing/2014/main" id="{6A620E52-DD07-4C3C-83D4-6D5DF1E16D7B}"/>
              </a:ext>
            </a:extLst>
          </p:cNvPr>
          <p:cNvSpPr>
            <a:spLocks xmlns:a="http://schemas.openxmlformats.org/drawingml/2006/main" noGrp="1"/>
          </p:cNvSpPr>
          <p:nvPr/>
        </p:nvSpPr>
        <p:spPr>
          <a:xfrm xmlns:a="http://schemas.openxmlformats.org/drawingml/2006/main">
            <a:off x="628650" y="2809875"/>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Aptos"/>
                <a:ea typeface="Aptos"/>
                <a:cs typeface="Aptos"/>
              </a:defRPr>
            </a:pPr>
            <a:r>
              <a:rPr sz="3150" b="0">
                <a:solidFill>
                  <a:srgbClr val="FFFFFF"/>
                </a:solidFill>
                <a:latin typeface="Aptos"/>
                <a:ea typeface="Aptos"/>
                <a:cs typeface="Aptos"/>
              </a:rPr>
              <a:t>Goal: Reliable, automated data ingestion with error handling</a:t>
            </a:r>
          </a:p>
        </p:txBody>
      </p:sp>
    </p:spTree>
    <p:extLst>
      <p:ext uri="{BB962C8B-B14F-4D97-AF65-F5344CB8AC3E}">
        <p14:creationId xmlns:p14="http://schemas.microsoft.com/office/powerpoint/2010/main" val="1685952493"/>
      </p:ext>
    </p:extLst>
  </p:cSld>
</p:sld>
</file>

<file path=ppt/slides/slide7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88588E-2607-45DA-90AD-3092AD33277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4B9F3FD3-726C-4E38-B89F-961CFFE4A3C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3: Data Pipeline (Weeks 7–8)</a:t>
            </a:r>
          </a:p>
        </p:txBody>
      </p:sp>
      <p:sp>
        <p:nvSpPr>
          <p:cNvPr id="3" name="">
            <a:extLst xmlns:a="http://schemas.openxmlformats.org/drawingml/2006/main">
              <a:ext uri="{FF2B5EF4-FFF2-40B4-BE49-F238E27FC236}">
                <a16:creationId xmlns:a16="http://schemas.microsoft.com/office/drawing/2014/main" id="{DDA20692-423D-4C6D-B9ED-157D880ABB0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71</a:t>
            </a:r>
          </a:p>
        </p:txBody>
      </p:sp>
      <p:graphicFrame>
        <p:nvGraphicFramePr>
          <p:cNvPr id="8" name=""/>
          <p:cNvGraphicFramePr/>
          <p:nvPr/>
        </p:nvGraphicFramePr>
        <p:xfrm>
          <a:off xmlns:a="http://schemas.openxmlformats.org/drawingml/2006/main" x="609600" y="1847850"/>
          <a:ext xmlns:a="http://schemas.openxmlformats.org/drawingml/2006/main" cx="10820400" cy="4156710"/>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Scheduler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BullMQ-based configurable scheduler (1–24hr, default 6)</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Jobs dispatched on schedule, configurable per account</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Normalization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Platform-specific data mapped to unified daily_metrics schema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All four platforms normalize to identical format</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Retry logic</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Exponential backoff, DLQ for persistent failures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Failed jobs retry 3x, then land in DLQ with alert</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Sync logging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Complete sync history with status, duration, record counts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Sync logs queryable by account, date, status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Manual sync</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“Sync Now” button triggers immediate sync</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Admin/Manager can trigger, Viewer cannot</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228542101"/>
      </p:ext>
    </p:extLst>
  </p:cSld>
</p:sld>
</file>

<file path=ppt/slides/slide7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EA396B-6B1A-448E-A7D7-5B7020F3753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54CCE294-4B74-47EF-9519-BCB38A2CF13B}"/>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3: Data Pipeline (Weeks 7–8)</a:t>
            </a:r>
          </a:p>
        </p:txBody>
      </p:sp>
      <p:sp>
        <p:nvSpPr>
          <p:cNvPr id="3" name="">
            <a:extLst xmlns:a="http://schemas.openxmlformats.org/drawingml/2006/main">
              <a:ext uri="{FF2B5EF4-FFF2-40B4-BE49-F238E27FC236}">
                <a16:creationId xmlns:a16="http://schemas.microsoft.com/office/drawing/2014/main" id="{74467E11-5CCC-4257-9358-1FB02753890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72</a:t>
            </a:r>
          </a:p>
        </p:txBody>
      </p:sp>
      <p:sp>
        <p:nvSpPr>
          <p:cNvPr id="4" name="">
            <a:extLst xmlns:a="http://schemas.openxmlformats.org/drawingml/2006/main">
              <a:ext uri="{FF2B5EF4-FFF2-40B4-BE49-F238E27FC236}">
                <a16:creationId xmlns:a16="http://schemas.microsoft.com/office/drawing/2014/main" id="{42C02DCB-530C-4332-9D67-C14B897B3156}"/>
              </a:ext>
            </a:extLst>
          </p:cNvPr>
          <p:cNvSpPr>
            <a:spLocks xmlns:a="http://schemas.openxmlformats.org/drawingml/2006/main" noGrp="1"/>
          </p:cNvSpPr>
          <p:nvPr/>
        </p:nvSpPr>
        <p:spPr>
          <a:xfrm xmlns:a="http://schemas.openxmlformats.org/drawingml/2006/main">
            <a:off x="609600" y="195262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1 Senior Backend + 1 Backend</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Dependencies: Phase 2 connectors</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Risk: Data quality issues from inconsistent platform APIs → Validation layer with data quality assertions</a:t>
            </a:r>
          </a:p>
        </p:txBody>
      </p:sp>
    </p:spTree>
    <p:extLst>
      <p:ext uri="{BB962C8B-B14F-4D97-AF65-F5344CB8AC3E}">
        <p14:creationId xmlns:p14="http://schemas.microsoft.com/office/powerpoint/2010/main" val="945116713"/>
      </p:ext>
    </p:extLst>
  </p:cSld>
</p:sld>
</file>

<file path=ppt/slides/slide73.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2F3354-005C-4584-8943-67D02FD3CDC6}"/>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62667B14-8736-47F3-8EA6-B0554EB157A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4: Dashboard UI (Weeks 9–11)</a:t>
            </a:r>
          </a:p>
        </p:txBody>
      </p:sp>
      <p:sp>
        <p:nvSpPr>
          <p:cNvPr id="3" name="">
            <a:extLst xmlns:a="http://schemas.openxmlformats.org/drawingml/2006/main">
              <a:ext uri="{FF2B5EF4-FFF2-40B4-BE49-F238E27FC236}">
                <a16:creationId xmlns:a16="http://schemas.microsoft.com/office/drawing/2014/main" id="{1A50DF42-B11F-469E-8EEA-F0EC201026C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73</a:t>
            </a:r>
          </a:p>
        </p:txBody>
      </p:sp>
      <p:sp>
        <p:nvSpPr>
          <p:cNvPr id="4" name="">
            <a:extLst xmlns:a="http://schemas.openxmlformats.org/drawingml/2006/main">
              <a:ext uri="{FF2B5EF4-FFF2-40B4-BE49-F238E27FC236}">
                <a16:creationId xmlns:a16="http://schemas.microsoft.com/office/drawing/2014/main" id="{DDEBB504-F6FF-49F9-91BC-7992D2EDD8D5}"/>
              </a:ext>
            </a:extLst>
          </p:cNvPr>
          <p:cNvSpPr>
            <a:spLocks xmlns:a="http://schemas.openxmlformats.org/drawingml/2006/main" noGrp="1"/>
          </p:cNvSpPr>
          <p:nvPr/>
        </p:nvSpPr>
        <p:spPr>
          <a:xfrm xmlns:a="http://schemas.openxmlformats.org/drawingml/2006/main">
            <a:off x="628650" y="2809875"/>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Aptos"/>
                <a:ea typeface="Aptos"/>
                <a:cs typeface="Aptos"/>
              </a:defRPr>
            </a:pPr>
            <a:r>
              <a:rPr sz="3150" b="0">
                <a:solidFill>
                  <a:srgbClr val="FFFFFF"/>
                </a:solidFill>
                <a:latin typeface="Aptos"/>
                <a:ea typeface="Aptos"/>
                <a:cs typeface="Aptos"/>
              </a:rPr>
              <a:t>Goal: Beautiful, intuitive dashboard serving all four user personas</a:t>
            </a:r>
          </a:p>
        </p:txBody>
      </p:sp>
    </p:spTree>
    <p:extLst>
      <p:ext uri="{BB962C8B-B14F-4D97-AF65-F5344CB8AC3E}">
        <p14:creationId xmlns:p14="http://schemas.microsoft.com/office/powerpoint/2010/main" val="617514410"/>
      </p:ext>
    </p:extLst>
  </p:cSld>
</p:sld>
</file>

<file path=ppt/slides/slide7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88A94E-FB64-405B-B146-E17D6F99CDDF}"/>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6E132537-36B6-404F-A14B-8D40A240CE8A}"/>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4: Dashboard UI (Weeks 9–11)</a:t>
            </a:r>
          </a:p>
        </p:txBody>
      </p:sp>
      <p:sp>
        <p:nvSpPr>
          <p:cNvPr id="3" name="">
            <a:extLst xmlns:a="http://schemas.openxmlformats.org/drawingml/2006/main">
              <a:ext uri="{FF2B5EF4-FFF2-40B4-BE49-F238E27FC236}">
                <a16:creationId xmlns:a16="http://schemas.microsoft.com/office/drawing/2014/main" id="{05D08DB3-32FF-4031-A278-E18E3F8A911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74</a:t>
            </a:r>
          </a:p>
        </p:txBody>
      </p:sp>
      <p:graphicFrame>
        <p:nvGraphicFramePr>
          <p:cNvPr id="8" name=""/>
          <p:cNvGraphicFramePr/>
          <p:nvPr/>
        </p:nvGraphicFramePr>
        <p:xfrm>
          <a:off xmlns:a="http://schemas.openxmlformats.org/drawingml/2006/main" x="609600" y="1847850"/>
          <a:ext xmlns:a="http://schemas.openxmlformats.org/drawingml/2006/main" cx="10820400" cy="3435858"/>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Design system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shadcn/ui + Tailwind setup, component library, dark/light mode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Consistent visual language across all pages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Overview dashboard</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KPI cards, cross-platform summary, trend sparklines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Shows key metrics at a glance, date range filtering works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Channel views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Per-platform deep-dive with metric charts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Line charts, bar charts, engagement breakdowns per platform</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Post performance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Sortable/filterable post table with engagement metrics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Sort by engagement, filter by platform/date/type</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897417299"/>
      </p:ext>
    </p:extLst>
  </p:cSld>
</p:sld>
</file>

<file path=ppt/slides/slide7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94D3EE-545A-47BF-95EB-B3EEC8DF2192}"/>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9FABE158-D290-4DF5-B483-ADB0C9B80C4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4: Dashboard UI (Weeks 9–11)</a:t>
            </a:r>
          </a:p>
        </p:txBody>
      </p:sp>
      <p:sp>
        <p:nvSpPr>
          <p:cNvPr id="3" name="">
            <a:extLst xmlns:a="http://schemas.openxmlformats.org/drawingml/2006/main">
              <a:ext uri="{FF2B5EF4-FFF2-40B4-BE49-F238E27FC236}">
                <a16:creationId xmlns:a16="http://schemas.microsoft.com/office/drawing/2014/main" id="{0BFAE1DD-CD5A-4AA5-9B80-226F6CB4FBE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75</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Connection management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Connect/disconnect platforms, view connection health</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OAuth flows launch from UI, connection status visible</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Settings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Org settings, user management, sync frequency configuration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All settings editable by Admin role</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Agency multi-client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Client switcher for agency accounts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Agency users can switch between client orgs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366047240"/>
      </p:ext>
    </p:extLst>
  </p:cSld>
</p:sld>
</file>

<file path=ppt/slides/slide7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081D70-86C2-4A7C-B3E9-0189CF75588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004B61AD-2793-4E6E-BDAA-0B26F63B67B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4: Dashboard UI (Weeks 9–11)</a:t>
            </a:r>
          </a:p>
        </p:txBody>
      </p:sp>
      <p:sp>
        <p:nvSpPr>
          <p:cNvPr id="3" name="">
            <a:extLst xmlns:a="http://schemas.openxmlformats.org/drawingml/2006/main">
              <a:ext uri="{FF2B5EF4-FFF2-40B4-BE49-F238E27FC236}">
                <a16:creationId xmlns:a16="http://schemas.microsoft.com/office/drawing/2014/main" id="{FFF034ED-B2D8-44BB-B2F6-57773738C92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76</a:t>
            </a:r>
          </a:p>
        </p:txBody>
      </p:sp>
      <p:sp>
        <p:nvSpPr>
          <p:cNvPr id="4" name="">
            <a:extLst xmlns:a="http://schemas.openxmlformats.org/drawingml/2006/main">
              <a:ext uri="{FF2B5EF4-FFF2-40B4-BE49-F238E27FC236}">
                <a16:creationId xmlns:a16="http://schemas.microsoft.com/office/drawing/2014/main" id="{1933AE8A-E241-4526-862E-D4C331BC3EBA}"/>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2 Frontend + 1 Designer + 1 Backend (API support)</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Dependencies: Phase 3 pipeline populating data</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Risk: UI complexity creep → Strict scope control via design mockup sign-off before development</a:t>
            </a:r>
          </a:p>
        </p:txBody>
      </p:sp>
    </p:spTree>
    <p:extLst>
      <p:ext uri="{BB962C8B-B14F-4D97-AF65-F5344CB8AC3E}">
        <p14:creationId xmlns:p14="http://schemas.microsoft.com/office/powerpoint/2010/main" val="2094492855"/>
      </p:ext>
    </p:extLst>
  </p:cSld>
</p:sld>
</file>

<file path=ppt/slides/slide77.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E18B9D-F47D-4223-8040-219C70CAEFA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766C0EA5-6DB5-4BAB-B278-991F4106790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5: Reliability &amp; Hardening (Weeks 12–13)</a:t>
            </a:r>
          </a:p>
        </p:txBody>
      </p:sp>
      <p:sp>
        <p:nvSpPr>
          <p:cNvPr id="3" name="">
            <a:extLst xmlns:a="http://schemas.openxmlformats.org/drawingml/2006/main">
              <a:ext uri="{FF2B5EF4-FFF2-40B4-BE49-F238E27FC236}">
                <a16:creationId xmlns:a16="http://schemas.microsoft.com/office/drawing/2014/main" id="{68198621-CB31-49BF-84BC-FF10D907138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77</a:t>
            </a:r>
          </a:p>
        </p:txBody>
      </p:sp>
      <p:sp>
        <p:nvSpPr>
          <p:cNvPr id="4" name="">
            <a:extLst xmlns:a="http://schemas.openxmlformats.org/drawingml/2006/main">
              <a:ext uri="{FF2B5EF4-FFF2-40B4-BE49-F238E27FC236}">
                <a16:creationId xmlns:a16="http://schemas.microsoft.com/office/drawing/2014/main" id="{F3A027B2-C5A6-44DA-8E95-1A69819CF08C}"/>
              </a:ext>
            </a:extLst>
          </p:cNvPr>
          <p:cNvSpPr>
            <a:spLocks xmlns:a="http://schemas.openxmlformats.org/drawingml/2006/main" noGrp="1"/>
          </p:cNvSpPr>
          <p:nvPr/>
        </p:nvSpPr>
        <p:spPr>
          <a:xfrm xmlns:a="http://schemas.openxmlformats.org/drawingml/2006/main">
            <a:off x="628650" y="2809875"/>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Aptos"/>
                <a:ea typeface="Aptos"/>
                <a:cs typeface="Aptos"/>
              </a:defRPr>
            </a:pPr>
            <a:r>
              <a:rPr sz="3150" b="0">
                <a:solidFill>
                  <a:srgbClr val="FFFFFF"/>
                </a:solidFill>
                <a:latin typeface="Aptos"/>
                <a:ea typeface="Aptos"/>
                <a:cs typeface="Aptos"/>
              </a:rPr>
              <a:t>Goal: Production-ready monitoring, performance, and security</a:t>
            </a:r>
          </a:p>
        </p:txBody>
      </p:sp>
    </p:spTree>
    <p:extLst>
      <p:ext uri="{BB962C8B-B14F-4D97-AF65-F5344CB8AC3E}">
        <p14:creationId xmlns:p14="http://schemas.microsoft.com/office/powerpoint/2010/main" val="2096185130"/>
      </p:ext>
    </p:extLst>
  </p:cSld>
</p:sld>
</file>

<file path=ppt/slides/slide7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182AC7-A745-44DC-B998-4910BC76A7EC}"/>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E65F37A1-342E-415B-8763-EA2D49E203E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5: Reliability &amp; Hardening (Weeks 12–13)</a:t>
            </a:r>
          </a:p>
        </p:txBody>
      </p:sp>
      <p:sp>
        <p:nvSpPr>
          <p:cNvPr id="3" name="">
            <a:extLst xmlns:a="http://schemas.openxmlformats.org/drawingml/2006/main">
              <a:ext uri="{FF2B5EF4-FFF2-40B4-BE49-F238E27FC236}">
                <a16:creationId xmlns:a16="http://schemas.microsoft.com/office/drawing/2014/main" id="{3749FD1A-52E4-42DD-AE45-E1217A7C159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78</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Monitoring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Datadog APM, metrics, logs for all services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Dashboards for API health, sync pipeline, and database</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Alerting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PagerDuty/Slack alerts for critical issues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Alerts fire on error spikes, sync failures, resource exhaustion</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Load testing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k6 load tests simulating 100 concurrent users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P95 API &lt; 500ms, dashboard load &lt; 3s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18196238"/>
      </p:ext>
    </p:extLst>
  </p:cSld>
</p:sld>
</file>

<file path=ppt/slides/slide7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696FA6-270E-4F4D-8AA4-0C5AD3F5AB86}"/>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24CBFBA3-5D1B-4099-8EC8-933BD7ACC50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5: Reliability &amp; Hardening (Weeks 12–13)</a:t>
            </a:r>
          </a:p>
        </p:txBody>
      </p:sp>
      <p:sp>
        <p:nvSpPr>
          <p:cNvPr id="3" name="">
            <a:extLst xmlns:a="http://schemas.openxmlformats.org/drawingml/2006/main">
              <a:ext uri="{FF2B5EF4-FFF2-40B4-BE49-F238E27FC236}">
                <a16:creationId xmlns:a16="http://schemas.microsoft.com/office/drawing/2014/main" id="{0DFCD6B7-0276-4A63-B399-B86E49736D0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79</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Performance optimization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Query optimization, caching, materialized views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All slow queries identified and optimized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Security hardening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OWASP ZAP scan, dependency audit, security headers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No high/critical vulnerabilities, A+ SSL rating</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Backup &amp; recovery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Automated RDS backups, tested restore procedure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Point-in-time restore tested, RTO &lt; 1 hour</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2056339713"/>
      </p:ext>
    </p:extLst>
  </p:cSld>
</p:sld>
</file>

<file path=ppt/slides/slide8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6FE5BE-A687-4903-9771-214BB2310DC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089C7AD5-EBD3-4D1E-BF0B-D4BF1AADF437}"/>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5: Reliability &amp; Hardening (Weeks 12–13)</a:t>
            </a:r>
          </a:p>
        </p:txBody>
      </p:sp>
      <p:sp>
        <p:nvSpPr>
          <p:cNvPr id="3" name="">
            <a:extLst xmlns:a="http://schemas.openxmlformats.org/drawingml/2006/main">
              <a:ext uri="{FF2B5EF4-FFF2-40B4-BE49-F238E27FC236}">
                <a16:creationId xmlns:a16="http://schemas.microsoft.com/office/drawing/2014/main" id="{E5EC9F5E-C140-4634-B235-F68BBFB2D21B}"/>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80</a:t>
            </a:r>
          </a:p>
        </p:txBody>
      </p:sp>
      <p:sp>
        <p:nvSpPr>
          <p:cNvPr id="4" name="">
            <a:extLst xmlns:a="http://schemas.openxmlformats.org/drawingml/2006/main">
              <a:ext uri="{FF2B5EF4-FFF2-40B4-BE49-F238E27FC236}">
                <a16:creationId xmlns:a16="http://schemas.microsoft.com/office/drawing/2014/main" id="{F28AB420-8746-4518-94E8-1A69835891BD}"/>
              </a:ext>
            </a:extLst>
          </p:cNvPr>
          <p:cNvSpPr>
            <a:spLocks xmlns:a="http://schemas.openxmlformats.org/drawingml/2006/main" noGrp="1"/>
          </p:cNvSpPr>
          <p:nvPr/>
        </p:nvSpPr>
        <p:spPr>
          <a:xfrm xmlns:a="http://schemas.openxmlformats.org/drawingml/2006/main">
            <a:off x="609600" y="195262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1 Senior Backend + 1 DevOps + 1 QA</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Dependencies: All functional features complete</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Risk: Performance issues under load → Early query profiling in Phase 3–4 reduces late-stage surprises</a:t>
            </a:r>
          </a:p>
        </p:txBody>
      </p:sp>
    </p:spTree>
    <p:extLst>
      <p:ext uri="{BB962C8B-B14F-4D97-AF65-F5344CB8AC3E}">
        <p14:creationId xmlns:p14="http://schemas.microsoft.com/office/powerpoint/2010/main" val="1477012369"/>
      </p:ext>
    </p:extLst>
  </p:cSld>
</p:sld>
</file>

<file path=ppt/slides/slide8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7EA286-828F-47A3-85AF-EF94ED85B1C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6BD5CE"/>
                </a:solidFill>
                <a:latin typeface="Aptos"/>
                <a:ea typeface="Aptos"/>
                <a:cs typeface="Aptos"/>
              </a:defRPr>
            </a:pPr>
            <a:r>
              <a:rPr sz="1200" b="1">
                <a:solidFill>
                  <a:srgbClr val="6BD5CE"/>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A521856A-6B54-4D93-9EF7-2FD2ECD0A49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Phase 6: AI Insights Layer (Weeks 14–16)</a:t>
            </a:r>
          </a:p>
        </p:txBody>
      </p:sp>
      <p:sp>
        <p:nvSpPr>
          <p:cNvPr id="3" name="">
            <a:extLst xmlns:a="http://schemas.openxmlformats.org/drawingml/2006/main">
              <a:ext uri="{FF2B5EF4-FFF2-40B4-BE49-F238E27FC236}">
                <a16:creationId xmlns:a16="http://schemas.microsoft.com/office/drawing/2014/main" id="{E826552E-6347-4406-AD4D-6E646189BA7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DB3C3"/>
                </a:solidFill>
                <a:latin typeface="Aptos"/>
                <a:ea typeface="Aptos"/>
                <a:cs typeface="Aptos"/>
              </a:defRPr>
            </a:pPr>
            <a:r>
              <a:rPr sz="1125" b="0">
                <a:solidFill>
                  <a:srgbClr val="9DB3C3"/>
                </a:solidFill>
                <a:latin typeface="Aptos"/>
                <a:ea typeface="Aptos"/>
                <a:cs typeface="Aptos"/>
              </a:rPr>
              <a:t>81</a:t>
            </a:r>
          </a:p>
        </p:txBody>
      </p:sp>
      <p:sp>
        <p:nvSpPr>
          <p:cNvPr id="4" name="">
            <a:extLst xmlns:a="http://schemas.openxmlformats.org/drawingml/2006/main">
              <a:ext uri="{FF2B5EF4-FFF2-40B4-BE49-F238E27FC236}">
                <a16:creationId xmlns:a16="http://schemas.microsoft.com/office/drawing/2014/main" id="{880E9A9B-3552-4856-B2AB-5A7979E51493}"/>
              </a:ext>
            </a:extLst>
          </p:cNvPr>
          <p:cNvSpPr>
            <a:spLocks xmlns:a="http://schemas.openxmlformats.org/drawingml/2006/main" noGrp="1"/>
          </p:cNvSpPr>
          <p:nvPr/>
        </p:nvSpPr>
        <p:spPr>
          <a:xfrm xmlns:a="http://schemas.openxmlformats.org/drawingml/2006/main">
            <a:off x="628650" y="2809875"/>
            <a:ext cx="1028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Aptos"/>
                <a:ea typeface="Aptos"/>
                <a:cs typeface="Aptos"/>
              </a:defRPr>
            </a:pPr>
            <a:r>
              <a:rPr sz="3150" b="0">
                <a:solidFill>
                  <a:srgbClr val="FFFFFF"/>
                </a:solidFill>
                <a:latin typeface="Aptos"/>
                <a:ea typeface="Aptos"/>
                <a:cs typeface="Aptos"/>
              </a:rPr>
              <a:t>Goal: Natural language query engine grounded in real marketing data</a:t>
            </a:r>
          </a:p>
        </p:txBody>
      </p:sp>
    </p:spTree>
    <p:extLst>
      <p:ext uri="{BB962C8B-B14F-4D97-AF65-F5344CB8AC3E}">
        <p14:creationId xmlns:p14="http://schemas.microsoft.com/office/powerpoint/2010/main" val="855356095"/>
      </p:ext>
    </p:extLst>
  </p:cSld>
</p:sld>
</file>

<file path=ppt/slides/slide8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AEE4AE-F2F2-4E23-AC21-BE26C6F812F5}"/>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DB4718E1-6DC5-4926-BCDE-289E81A1CA2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6: AI Insights Layer (Weeks 14–16)</a:t>
            </a:r>
          </a:p>
        </p:txBody>
      </p:sp>
      <p:sp>
        <p:nvSpPr>
          <p:cNvPr id="3" name="">
            <a:extLst xmlns:a="http://schemas.openxmlformats.org/drawingml/2006/main">
              <a:ext uri="{FF2B5EF4-FFF2-40B4-BE49-F238E27FC236}">
                <a16:creationId xmlns:a16="http://schemas.microsoft.com/office/drawing/2014/main" id="{8F562D2C-5FA7-4525-BD72-8ADC65348EE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82</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LangChain setup</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GPT-4o integration with Text-to-SQL chain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LLM generates valid SQL for test questions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Prompt engineering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Schema-aware prompts, few-shot examples, error handling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90%+ accuracy on benchmark question set</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SQL validation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Safety checks on generated SQL (SELECT only, no cross-tenant)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All injection/cross-tenant attack prompts blocked</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755038980"/>
      </p:ext>
    </p:extLst>
  </p:cSld>
</p:sld>
</file>

<file path=ppt/slides/slide8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A1348A-2045-4254-8DC8-04B1FE316F6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87D02BFC-4C02-4574-B90F-F38E64F6857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6: AI Insights Layer (Weeks 14–16)</a:t>
            </a:r>
          </a:p>
        </p:txBody>
      </p:sp>
      <p:sp>
        <p:nvSpPr>
          <p:cNvPr id="3" name="">
            <a:extLst xmlns:a="http://schemas.openxmlformats.org/drawingml/2006/main">
              <a:ext uri="{FF2B5EF4-FFF2-40B4-BE49-F238E27FC236}">
                <a16:creationId xmlns:a16="http://schemas.microsoft.com/office/drawing/2014/main" id="{DF64D49D-3F0E-4A59-8141-36619B26B94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83</a:t>
            </a:r>
          </a:p>
        </p:txBody>
      </p:sp>
      <p:graphicFrame>
        <p:nvGraphicFramePr>
          <p:cNvPr id="8" name=""/>
          <p:cNvGraphicFramePr/>
          <p:nvPr/>
        </p:nvGraphicFramePr>
        <p:xfrm>
          <a:off xmlns:a="http://schemas.openxmlformats.org/drawingml/2006/main" x="609600" y="1847850"/>
          <a:ext xmlns:a="http://schemas.openxmlformats.org/drawingml/2006/main" cx="10820400" cy="2970657"/>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Deliverable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Description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Acceptance Criteria</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Chat UI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Natural language input, formatted responses, data tables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Users can type questions and get clear answers</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Suggested questions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Context-aware question suggestions based on available data</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“Try asking…” prompts appear based on connected platforms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Cost controls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Per-tenant query limits, response caching, model tiering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Costs within $200–300/month at 100 tenants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860269009"/>
      </p:ext>
    </p:extLst>
  </p:cSld>
</p:sld>
</file>

<file path=ppt/slides/slide8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9D078F-9CFE-4CC5-B4B2-163B9119349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16. Phased Delivery Plan</a:t>
            </a:r>
          </a:p>
        </p:txBody>
      </p:sp>
      <p:sp>
        <p:nvSpPr>
          <p:cNvPr id="2" name="">
            <a:extLst xmlns:a="http://schemas.openxmlformats.org/drawingml/2006/main">
              <a:ext uri="{FF2B5EF4-FFF2-40B4-BE49-F238E27FC236}">
                <a16:creationId xmlns:a16="http://schemas.microsoft.com/office/drawing/2014/main" id="{8A4E200D-4352-4A43-8CEC-471EFF78E1C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Phase 6: AI Insights Layer (Weeks 14–16)</a:t>
            </a:r>
          </a:p>
        </p:txBody>
      </p:sp>
      <p:sp>
        <p:nvSpPr>
          <p:cNvPr id="3" name="">
            <a:extLst xmlns:a="http://schemas.openxmlformats.org/drawingml/2006/main">
              <a:ext uri="{FF2B5EF4-FFF2-40B4-BE49-F238E27FC236}">
                <a16:creationId xmlns:a16="http://schemas.microsoft.com/office/drawing/2014/main" id="{E4540CE0-677F-42A8-AE10-BF8BA1AE453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84</a:t>
            </a:r>
          </a:p>
        </p:txBody>
      </p:sp>
      <p:sp>
        <p:nvSpPr>
          <p:cNvPr id="4" name="">
            <a:extLst xmlns:a="http://schemas.openxmlformats.org/drawingml/2006/main">
              <a:ext uri="{FF2B5EF4-FFF2-40B4-BE49-F238E27FC236}">
                <a16:creationId xmlns:a16="http://schemas.microsoft.com/office/drawing/2014/main" id="{362AEE58-58AF-44A3-AF3A-19F4D8FFDAA5}"/>
              </a:ext>
            </a:extLst>
          </p:cNvPr>
          <p:cNvSpPr>
            <a:spLocks xmlns:a="http://schemas.openxmlformats.org/drawingml/2006/main" noGrp="1"/>
          </p:cNvSpPr>
          <p:nvPr/>
        </p:nvSpPr>
        <p:spPr>
          <a:xfrm xmlns:a="http://schemas.openxmlformats.org/drawingml/2006/main">
            <a:off x="609600" y="195262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1 Senior Backend (AI/ML experience) + 1 Frontend + 1 Backend</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Dependencies: Phase 4 dashboard as hosting surface, Phase 5 monitoring for cost tracking</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Risk: LLM accuracy on complex SQL → Extensive prompt testing, fallback to “I can’t answer that” over hallucination</a:t>
            </a:r>
          </a:p>
        </p:txBody>
      </p:sp>
    </p:spTree>
    <p:extLst>
      <p:ext uri="{BB962C8B-B14F-4D97-AF65-F5344CB8AC3E}">
        <p14:creationId xmlns:p14="http://schemas.microsoft.com/office/powerpoint/2010/main" val="1322083113"/>
      </p:ext>
    </p:extLst>
  </p:cSld>
</p:sld>
</file>

<file path=ppt/slides/slide8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2C10564-B267-461B-A3CC-8E43DA4FA738}"/>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17. Risk Assessment &amp; Mitigation</a:t>
            </a:r>
          </a:p>
        </p:txBody>
      </p:sp>
      <p:sp>
        <p:nvSpPr>
          <p:cNvPr id="2" name="">
            <a:extLst xmlns:a="http://schemas.openxmlformats.org/drawingml/2006/main">
              <a:ext uri="{FF2B5EF4-FFF2-40B4-BE49-F238E27FC236}">
                <a16:creationId xmlns:a16="http://schemas.microsoft.com/office/drawing/2014/main" id="{98A4DEE4-A6E8-4672-B2D4-FD855881982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85</a:t>
            </a:r>
          </a:p>
        </p:txBody>
      </p:sp>
      <p:graphicFrame>
        <p:nvGraphicFramePr>
          <p:cNvPr id="6" name=""/>
          <p:cNvGraphicFramePr/>
          <p:nvPr/>
        </p:nvGraphicFramePr>
        <p:xfrm>
          <a:off xmlns:a="http://schemas.openxmlformats.org/drawingml/2006/main" x="609600" y="1847850"/>
          <a:ext xmlns:a="http://schemas.openxmlformats.org/drawingml/2006/main" cx="10820400" cy="4040124"/>
        </p:xfrm>
        <a:graphic xmlns:a="http://schemas.openxmlformats.org/drawingml/2006/main">
          <a:graphicData uri="http://schemas.openxmlformats.org/drawingml/2006/table">
            <a:tbl>
              <a:tblPr/>
              <a:tblGrid>
                <a:gridCol w="486918"/>
                <a:gridCol w="2218182"/>
                <a:gridCol w="865632"/>
                <a:gridCol w="1352550"/>
                <a:gridCol w="3083814"/>
                <a:gridCol w="2813304"/>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Risk</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Probability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Mitigation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Contingency</a:t>
                      </a:r>
                    </a:p>
                  </a:txBody>
                  <a:tcPr marL="114300" marR="114300" marT="114300" marB="85725" anchor="t">
                    <a:solidFill>
                      <a:srgbClr val="142C43"/>
                    </a:solidFill>
                  </a:tcPr>
                </a:tc>
              </a:tr>
              <a:tr h="871918">
                <a:tc>
                  <a:txBody>
                    <a:bodyPr/>
                    <a:lstStyle/>
                    <a:p>
                      <a:r>
                        <a:rPr sz="1425" b="1">
                          <a:solidFill>
                            <a:srgbClr val="263D50"/>
                          </a:solidFill>
                          <a:latin typeface="Aptos"/>
                          <a:ea typeface="Aptos"/>
                          <a:cs typeface="Aptos"/>
                        </a:rPr>
                        <a:t>1</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Platform API changes or deprecation</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High</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Abstract connector pattern; monitor API changelogs; version-pin API endpoints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Swap connector implementation without affecting rest of system</a:t>
                      </a:r>
                    </a:p>
                  </a:txBody>
                  <a:tcPr marL="114300" marR="114300" marT="114300" marB="85725" anchor="t">
                    <a:solidFill>
                      <a:srgbClr val="FFFFFF"/>
                    </a:solidFill>
                  </a:tcPr>
                </a:tc>
              </a:tr>
              <a:tr h="871918">
                <a:tc>
                  <a:txBody>
                    <a:bodyPr/>
                    <a:lstStyle/>
                    <a:p>
                      <a:r>
                        <a:rPr sz="1425" b="1">
                          <a:solidFill>
                            <a:srgbClr val="263D50"/>
                          </a:solidFill>
                          <a:latin typeface="Aptos"/>
                          <a:ea typeface="Aptos"/>
                          <a:cs typeface="Aptos"/>
                        </a:rPr>
                        <a:t>2</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RLS data leak</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Critical</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Low</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Automated isolation test suite on every PR; database-level enforcement</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Immediate hotfix capability; audit log review for exposure assessment</a:t>
                      </a:r>
                    </a:p>
                  </a:txBody>
                  <a:tcPr marL="114300" marR="114300" marT="114300" marB="85725" anchor="t">
                    <a:solidFill>
                      <a:srgbClr val="EAF1F4"/>
                    </a:solidFill>
                  </a:tcPr>
                </a:tc>
              </a:tr>
              <a:tr h="871918">
                <a:tc>
                  <a:txBody>
                    <a:bodyPr/>
                    <a:lstStyle/>
                    <a:p>
                      <a:r>
                        <a:rPr sz="1425" b="1">
                          <a:solidFill>
                            <a:srgbClr val="263D50"/>
                          </a:solidFill>
                          <a:latin typeface="Aptos"/>
                          <a:ea typeface="Aptos"/>
                          <a:cs typeface="Aptos"/>
                        </a:rPr>
                        <a:t>3</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OAuth token expiry causes silent data gaps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High</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Proactive token refresh; expiry monitoring; clear user-facing “Reconnect” alerts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Admin notifications + sync health dashboard shows gaps</a:t>
                      </a:r>
                    </a:p>
                  </a:txBody>
                  <a:tcPr marL="114300" marR="114300" marT="114300" marB="85725" anchor="t">
                    <a:solidFill>
                      <a:srgbClr val="FFFFFF"/>
                    </a:solidFill>
                  </a:tcPr>
                </a:tc>
              </a:tr>
              <a:tr h="871918">
                <a:tc>
                  <a:txBody>
                    <a:bodyPr/>
                    <a:lstStyle/>
                    <a:p>
                      <a:r>
                        <a:rPr sz="1425" b="1">
                          <a:solidFill>
                            <a:srgbClr val="263D50"/>
                          </a:solidFill>
                          <a:latin typeface="Aptos"/>
                          <a:ea typeface="Aptos"/>
                          <a:cs typeface="Aptos"/>
                        </a:rPr>
                        <a:t>4</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Platform API rate limiting throttles sync</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High</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Per-platform rate limit tracking; configurable sync frequency; adaptive backoff</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Priority queue (manual syncs first); stagger sync times across tenants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846881439"/>
      </p:ext>
    </p:extLst>
  </p:cSld>
</p:sld>
</file>

<file path=ppt/slides/slide8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C3D3DC1-4603-4541-9EB2-8926E8D5AD6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17. Risk Assessment &amp; Mitigation</a:t>
            </a:r>
          </a:p>
        </p:txBody>
      </p:sp>
      <p:sp>
        <p:nvSpPr>
          <p:cNvPr id="2" name="">
            <a:extLst xmlns:a="http://schemas.openxmlformats.org/drawingml/2006/main">
              <a:ext uri="{FF2B5EF4-FFF2-40B4-BE49-F238E27FC236}">
                <a16:creationId xmlns:a16="http://schemas.microsoft.com/office/drawing/2014/main" id="{253C0F00-D13F-425F-8202-438BD2978B5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86</a:t>
            </a:r>
          </a:p>
        </p:txBody>
      </p:sp>
      <p:graphicFrame>
        <p:nvGraphicFramePr>
          <p:cNvPr id="6" name=""/>
          <p:cNvGraphicFramePr/>
          <p:nvPr/>
        </p:nvGraphicFramePr>
        <p:xfrm>
          <a:off xmlns:a="http://schemas.openxmlformats.org/drawingml/2006/main" x="609600" y="1847850"/>
          <a:ext xmlns:a="http://schemas.openxmlformats.org/drawingml/2006/main" cx="10820400" cy="4040124"/>
        </p:xfrm>
        <a:graphic xmlns:a="http://schemas.openxmlformats.org/drawingml/2006/main">
          <a:graphicData uri="http://schemas.openxmlformats.org/drawingml/2006/table">
            <a:tbl>
              <a:tblPr/>
              <a:tblGrid>
                <a:gridCol w="486918"/>
                <a:gridCol w="2218182"/>
                <a:gridCol w="865632"/>
                <a:gridCol w="1352550"/>
                <a:gridCol w="3083814"/>
                <a:gridCol w="2813304"/>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Risk</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Probability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Mitigation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Contingency</a:t>
                      </a:r>
                    </a:p>
                  </a:txBody>
                  <a:tcPr marL="114300" marR="114300" marT="114300" marB="85725" anchor="t">
                    <a:solidFill>
                      <a:srgbClr val="142C43"/>
                    </a:solidFill>
                  </a:tcPr>
                </a:tc>
              </a:tr>
              <a:tr h="871918">
                <a:tc>
                  <a:txBody>
                    <a:bodyPr/>
                    <a:lstStyle/>
                    <a:p>
                      <a:r>
                        <a:rPr sz="1425" b="1">
                          <a:solidFill>
                            <a:srgbClr val="263D50"/>
                          </a:solidFill>
                          <a:latin typeface="Aptos"/>
                          <a:ea typeface="Aptos"/>
                          <a:cs typeface="Aptos"/>
                        </a:rPr>
                        <a:t>5</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LLM generates incorrect/misleading insights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High</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SQL validation layer; ground responses in raw data; confidence scoring</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Show raw data table alongside AI answer; “I don’t have enough data” fallback</a:t>
                      </a:r>
                    </a:p>
                  </a:txBody>
                  <a:tcPr marL="114300" marR="114300" marT="114300" marB="85725" anchor="t">
                    <a:solidFill>
                      <a:srgbClr val="FFFFFF"/>
                    </a:solidFill>
                  </a:tcPr>
                </a:tc>
              </a:tr>
              <a:tr h="871918">
                <a:tc>
                  <a:txBody>
                    <a:bodyPr/>
                    <a:lstStyle/>
                    <a:p>
                      <a:r>
                        <a:rPr sz="1425" b="1">
                          <a:solidFill>
                            <a:srgbClr val="263D50"/>
                          </a:solidFill>
                          <a:latin typeface="Aptos"/>
                          <a:ea typeface="Aptos"/>
                          <a:cs typeface="Aptos"/>
                        </a:rPr>
                        <a:t>6</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Scope creep in dashboard UI</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High</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Design mockup sign-off before development; strict phase boundaries</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Feature backlog for post-launch iteration</a:t>
                      </a:r>
                    </a:p>
                  </a:txBody>
                  <a:tcPr marL="114300" marR="114300" marT="114300" marB="85725" anchor="t">
                    <a:solidFill>
                      <a:srgbClr val="EAF1F4"/>
                    </a:solidFill>
                  </a:tcPr>
                </a:tc>
              </a:tr>
              <a:tr h="871918">
                <a:tc>
                  <a:txBody>
                    <a:bodyPr/>
                    <a:lstStyle/>
                    <a:p>
                      <a:r>
                        <a:rPr sz="1425" b="1">
                          <a:solidFill>
                            <a:srgbClr val="263D50"/>
                          </a:solidFill>
                          <a:latin typeface="Aptos"/>
                          <a:ea typeface="Aptos"/>
                          <a:cs typeface="Aptos"/>
                        </a:rPr>
                        <a:t>7</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Platform developer app approval delays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High</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Start platform app registrations in Week 1; use sandbox/test accounts in parallel</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Develop against mock APIs; swap in real credentials when approved</a:t>
                      </a:r>
                    </a:p>
                  </a:txBody>
                  <a:tcPr marL="114300" marR="114300" marT="114300" marB="85725" anchor="t">
                    <a:solidFill>
                      <a:srgbClr val="FFFFFF"/>
                    </a:solidFill>
                  </a:tcPr>
                </a:tc>
              </a:tr>
              <a:tr h="871918">
                <a:tc>
                  <a:txBody>
                    <a:bodyPr/>
                    <a:lstStyle/>
                    <a:p>
                      <a:r>
                        <a:rPr sz="1425" b="1">
                          <a:solidFill>
                            <a:srgbClr val="263D50"/>
                          </a:solidFill>
                          <a:latin typeface="Aptos"/>
                          <a:ea typeface="Aptos"/>
                          <a:cs typeface="Aptos"/>
                        </a:rPr>
                        <a:t>8</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Database performance under scale</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Table partitioning; materialized views; connection pooling; read replicas</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Vertical RDS scaling as immediate relief; query optimization sprint</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736927662"/>
      </p:ext>
    </p:extLst>
  </p:cSld>
</p:sld>
</file>

<file path=ppt/slides/slide8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0E13E2-F8AC-48C4-BF3F-CFBF92EE04AA}"/>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17. Risk Assessment &amp; Mitigation</a:t>
            </a:r>
          </a:p>
        </p:txBody>
      </p:sp>
      <p:sp>
        <p:nvSpPr>
          <p:cNvPr id="2" name="">
            <a:extLst xmlns:a="http://schemas.openxmlformats.org/drawingml/2006/main">
              <a:ext uri="{FF2B5EF4-FFF2-40B4-BE49-F238E27FC236}">
                <a16:creationId xmlns:a16="http://schemas.microsoft.com/office/drawing/2014/main" id="{5D86C144-2AFA-4AD2-BC47-97F76165F24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87</a:t>
            </a:r>
          </a:p>
        </p:txBody>
      </p:sp>
      <p:graphicFrame>
        <p:nvGraphicFramePr>
          <p:cNvPr id="6" name=""/>
          <p:cNvGraphicFramePr/>
          <p:nvPr/>
        </p:nvGraphicFramePr>
        <p:xfrm>
          <a:off xmlns:a="http://schemas.openxmlformats.org/drawingml/2006/main" x="609600" y="1847850"/>
          <a:ext xmlns:a="http://schemas.openxmlformats.org/drawingml/2006/main" cx="10820400" cy="4040124"/>
        </p:xfrm>
        <a:graphic xmlns:a="http://schemas.openxmlformats.org/drawingml/2006/main">
          <a:graphicData uri="http://schemas.openxmlformats.org/drawingml/2006/table">
            <a:tbl>
              <a:tblPr/>
              <a:tblGrid>
                <a:gridCol w="486918"/>
                <a:gridCol w="2218182"/>
                <a:gridCol w="865632"/>
                <a:gridCol w="1352550"/>
                <a:gridCol w="3083814"/>
                <a:gridCol w="2813304"/>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Risk</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Probability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Mitigation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Contingency</a:t>
                      </a:r>
                    </a:p>
                  </a:txBody>
                  <a:tcPr marL="114300" marR="114300" marT="114300" marB="85725" anchor="t">
                    <a:solidFill>
                      <a:srgbClr val="142C43"/>
                    </a:solidFill>
                  </a:tcPr>
                </a:tc>
              </a:tr>
              <a:tr h="871918">
                <a:tc>
                  <a:txBody>
                    <a:bodyPr/>
                    <a:lstStyle/>
                    <a:p>
                      <a:r>
                        <a:rPr sz="1425" b="1">
                          <a:solidFill>
                            <a:srgbClr val="263D50"/>
                          </a:solidFill>
                          <a:latin typeface="Aptos"/>
                          <a:ea typeface="Aptos"/>
                          <a:cs typeface="Aptos"/>
                        </a:rPr>
                        <a:t>9</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LLM API costs exceed projections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Response caching; model tiering (GPT-4o for SQL, mini for synthesis); per-tenant limits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Switch to cheaper model; reduce cache TTL; increase query limits</a:t>
                      </a:r>
                    </a:p>
                  </a:txBody>
                  <a:tcPr marL="114300" marR="114300" marT="114300" marB="85725" anchor="t">
                    <a:solidFill>
                      <a:srgbClr val="FFFFFF"/>
                    </a:solidFill>
                  </a:tcPr>
                </a:tc>
              </a:tr>
              <a:tr h="871918">
                <a:tc>
                  <a:txBody>
                    <a:bodyPr/>
                    <a:lstStyle/>
                    <a:p>
                      <a:r>
                        <a:rPr sz="1425" b="1">
                          <a:solidFill>
                            <a:srgbClr val="263D50"/>
                          </a:solidFill>
                          <a:latin typeface="Aptos"/>
                          <a:ea typeface="Aptos"/>
                          <a:cs typeface="Aptos"/>
                        </a:rPr>
                        <a:t>10</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Key team member unavailability</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Low</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Documentation-first development; pair programming on critical paths</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Cross-trained team members can cover any component</a:t>
                      </a:r>
                    </a:p>
                  </a:txBody>
                  <a:tcPr marL="114300" marR="114300" marT="114300" marB="85725" anchor="t">
                    <a:solidFill>
                      <a:srgbClr val="EAF1F4"/>
                    </a:solidFill>
                  </a:tcPr>
                </a:tc>
              </a:tr>
              <a:tr h="871918">
                <a:tc>
                  <a:txBody>
                    <a:bodyPr/>
                    <a:lstStyle/>
                    <a:p>
                      <a:r>
                        <a:rPr sz="1425" b="1">
                          <a:solidFill>
                            <a:srgbClr val="263D50"/>
                          </a:solidFill>
                          <a:latin typeface="Aptos"/>
                          <a:ea typeface="Aptos"/>
                          <a:cs typeface="Aptos"/>
                        </a:rPr>
                        <a:t>11</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LinkedIn API access restrictions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LinkedIn Marketing API requires partner program approval for some endpoints</a:t>
                      </a:r>
                    </a:p>
                  </a:txBody>
                  <a:tcPr marL="114300" marR="114300" marT="114300" marB="85725" anchor="t">
                    <a:solidFill>
                      <a:srgbClr val="FFFFFF"/>
                    </a:solidFill>
                  </a:tcPr>
                </a:tc>
                <a:tc>
                  <a:txBody>
                    <a:bodyPr/>
                    <a:lstStyle/>
                    <a:p>
                      <a:r>
                        <a:rPr sz="1425" b="0">
                          <a:solidFill>
                            <a:srgbClr val="263D50"/>
                          </a:solidFill>
                          <a:latin typeface="Aptos"/>
                          <a:ea typeface="Aptos"/>
                          <a:cs typeface="Aptos"/>
                        </a:rPr>
                        <a:t>Start application early; implement with available endpoints first</a:t>
                      </a:r>
                    </a:p>
                  </a:txBody>
                  <a:tcPr marL="114300" marR="114300" marT="114300" marB="85725" anchor="t">
                    <a:solidFill>
                      <a:srgbClr val="FFFFFF"/>
                    </a:solidFill>
                  </a:tcPr>
                </a:tc>
              </a:tr>
              <a:tr h="871918">
                <a:tc>
                  <a:txBody>
                    <a:bodyPr/>
                    <a:lstStyle/>
                    <a:p>
                      <a:r>
                        <a:rPr sz="1425" b="1">
                          <a:solidFill>
                            <a:srgbClr val="263D50"/>
                          </a:solidFill>
                          <a:latin typeface="Aptos"/>
                          <a:ea typeface="Aptos"/>
                          <a:cs typeface="Aptos"/>
                        </a:rPr>
                        <a:t>12</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Multi-tenant performance interference</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Low</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Connection pooling per tenant; query timeout limits; resource monitoring</a:t>
                      </a:r>
                    </a:p>
                  </a:txBody>
                  <a:tcPr marL="114300" marR="114300" marT="114300" marB="85725" anchor="t">
                    <a:solidFill>
                      <a:srgbClr val="EAF1F4"/>
                    </a:solidFill>
                  </a:tcPr>
                </a:tc>
                <a:tc>
                  <a:txBody>
                    <a:bodyPr/>
                    <a:lstStyle/>
                    <a:p>
                      <a:r>
                        <a:rPr sz="1425" b="0">
                          <a:solidFill>
                            <a:srgbClr val="263D50"/>
                          </a:solidFill>
                          <a:latin typeface="Aptos"/>
                          <a:ea typeface="Aptos"/>
                          <a:cs typeface="Aptos"/>
                        </a:rPr>
                        <a:t>Tenant-level rate limiting; isolate heavy tenants to dedicated resources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134460620"/>
      </p:ext>
    </p:extLst>
  </p:cSld>
</p:sld>
</file>

<file path=ppt/slides/slide8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8C669C-7D7F-4352-9E97-EA11724B791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18. Cost Estimation</a:t>
            </a:r>
          </a:p>
        </p:txBody>
      </p:sp>
      <p:sp>
        <p:nvSpPr>
          <p:cNvPr id="2" name="">
            <a:extLst xmlns:a="http://schemas.openxmlformats.org/drawingml/2006/main">
              <a:ext uri="{FF2B5EF4-FFF2-40B4-BE49-F238E27FC236}">
                <a16:creationId xmlns:a16="http://schemas.microsoft.com/office/drawing/2014/main" id="{9EB7656B-BBF4-4114-AA10-E5BC9F00B7A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Infrastructure Cost (Monthly, at 100 Tenants)</a:t>
            </a:r>
          </a:p>
        </p:txBody>
      </p:sp>
      <p:sp>
        <p:nvSpPr>
          <p:cNvPr id="3" name="">
            <a:extLst xmlns:a="http://schemas.openxmlformats.org/drawingml/2006/main">
              <a:ext uri="{FF2B5EF4-FFF2-40B4-BE49-F238E27FC236}">
                <a16:creationId xmlns:a16="http://schemas.microsoft.com/office/drawing/2014/main" id="{74FFB194-C1E8-4A8D-A221-9B6F1DF2A47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88</a:t>
            </a:r>
          </a:p>
        </p:txBody>
      </p:sp>
      <p:graphicFrame>
        <p:nvGraphicFramePr>
          <p:cNvPr id="8" name=""/>
          <p:cNvGraphicFramePr/>
          <p:nvPr/>
        </p:nvGraphicFramePr>
        <p:xfrm>
          <a:off xmlns:a="http://schemas.openxmlformats.org/drawingml/2006/main" x="609600" y="1847850"/>
          <a:ext xmlns:a="http://schemas.openxmlformats.org/drawingml/2006/main" cx="10820400" cy="3901059"/>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Service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Instance/Tier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Monthly Cost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Notes</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AWS ECS Fargate (API)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 tasks × 0.5 vCPU / 1GB</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~$60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Auto-scales to 8 tasks under load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AWS ECS Fargate (Workers)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 task × 0.5 vCPU / 1GB</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Scales with queue depth</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AWS RDS PostgreSQL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db.t4g.medium (Multi-AZ)</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~$140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100GB gp3 storage included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AWS ElastiCache Redis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cache.t4g.small</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~$50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Single node (HA in prod)</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AWS S3</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Standard</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~$5</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Report storage, backups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814729416"/>
      </p:ext>
    </p:extLst>
  </p:cSld>
</p:sld>
</file>

<file path=ppt/slides/slide8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064348-EA71-4C18-B4AA-691B248B948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18. Cost Estimation</a:t>
            </a:r>
          </a:p>
        </p:txBody>
      </p:sp>
      <p:sp>
        <p:nvSpPr>
          <p:cNvPr id="2" name="">
            <a:extLst xmlns:a="http://schemas.openxmlformats.org/drawingml/2006/main">
              <a:ext uri="{FF2B5EF4-FFF2-40B4-BE49-F238E27FC236}">
                <a16:creationId xmlns:a16="http://schemas.microsoft.com/office/drawing/2014/main" id="{1B8281AB-FF76-4553-851D-84550923007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Infrastructure Cost (Monthly, at 100 Tenants)</a:t>
            </a:r>
          </a:p>
        </p:txBody>
      </p:sp>
      <p:sp>
        <p:nvSpPr>
          <p:cNvPr id="3" name="">
            <a:extLst xmlns:a="http://schemas.openxmlformats.org/drawingml/2006/main">
              <a:ext uri="{FF2B5EF4-FFF2-40B4-BE49-F238E27FC236}">
                <a16:creationId xmlns:a16="http://schemas.microsoft.com/office/drawing/2014/main" id="{E2FB43B7-C412-4EF1-B462-BF10B84E030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89</a:t>
            </a:r>
          </a:p>
        </p:txBody>
      </p:sp>
      <p:graphicFrame>
        <p:nvGraphicFramePr>
          <p:cNvPr id="8" name=""/>
          <p:cNvGraphicFramePr/>
          <p:nvPr/>
        </p:nvGraphicFramePr>
        <p:xfrm>
          <a:off xmlns:a="http://schemas.openxmlformats.org/drawingml/2006/main" x="609600" y="1847850"/>
          <a:ext xmlns:a="http://schemas.openxmlformats.org/drawingml/2006/main" cx="10820400" cy="2668905"/>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Service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Instance/Tier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Monthly Cost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Notes</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AWS CloudFront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Standard</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CDN for frontend assets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AWS ALB</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Application Load Balancer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~$25</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Plus per-request charges</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Datadog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Pro plan (5 hosts)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~$115</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APM + Logs + Metrics</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Sentry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Team plan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~$26</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Error tracking</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49030542"/>
      </p:ext>
    </p:extLst>
  </p:cSld>
</p:sld>
</file>

<file path=ppt/slides/slide9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CC36C9-DC42-430D-B403-3353E0A1CAE6}"/>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18. Cost Estimation</a:t>
            </a:r>
          </a:p>
        </p:txBody>
      </p:sp>
      <p:sp>
        <p:nvSpPr>
          <p:cNvPr id="2" name="">
            <a:extLst xmlns:a="http://schemas.openxmlformats.org/drawingml/2006/main">
              <a:ext uri="{FF2B5EF4-FFF2-40B4-BE49-F238E27FC236}">
                <a16:creationId xmlns:a16="http://schemas.microsoft.com/office/drawing/2014/main" id="{6B512368-4072-4721-A193-E5CEF9D6C51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Infrastructure Cost (Monthly, at 100 Tenants)</a:t>
            </a:r>
          </a:p>
        </p:txBody>
      </p:sp>
      <p:sp>
        <p:nvSpPr>
          <p:cNvPr id="3" name="">
            <a:extLst xmlns:a="http://schemas.openxmlformats.org/drawingml/2006/main">
              <a:ext uri="{FF2B5EF4-FFF2-40B4-BE49-F238E27FC236}">
                <a16:creationId xmlns:a16="http://schemas.microsoft.com/office/drawing/2014/main" id="{BF06BE00-CC99-4567-B603-CD38901F41C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90</a:t>
            </a:r>
          </a:p>
        </p:txBody>
      </p:sp>
      <p:graphicFrame>
        <p:nvGraphicFramePr>
          <p:cNvPr id="8" name=""/>
          <p:cNvGraphicFramePr/>
          <p:nvPr/>
        </p:nvGraphicFramePr>
        <p:xfrm>
          <a:off xmlns:a="http://schemas.openxmlformats.org/drawingml/2006/main" x="609600" y="1847850"/>
          <a:ext xmlns:a="http://schemas.openxmlformats.org/drawingml/2006/main" cx="10820400" cy="2413254"/>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Service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Instance/Tier</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Monthly Cost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Notes</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OpenAI API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GPT-4o + GPT-4o-mini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~$150–250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Variable with query volume</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Domain + SSL</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Route 53 + ACM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~$5</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Certificate free via ACM</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Total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~$616–716/month</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Per-tenant cost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~$6–7/month</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901877905"/>
      </p:ext>
    </p:extLst>
  </p:cSld>
</p:sld>
</file>

<file path=ppt/slides/slide9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C24AE1-1DAD-46A2-BF4D-4618F6FCDD9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18. Cost Estimation</a:t>
            </a:r>
          </a:p>
        </p:txBody>
      </p:sp>
      <p:sp>
        <p:nvSpPr>
          <p:cNvPr id="2" name="">
            <a:extLst xmlns:a="http://schemas.openxmlformats.org/drawingml/2006/main">
              <a:ext uri="{FF2B5EF4-FFF2-40B4-BE49-F238E27FC236}">
                <a16:creationId xmlns:a16="http://schemas.microsoft.com/office/drawing/2014/main" id="{63E45890-4C68-4F6B-B54A-6BE1C7B07A4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Scaling Projections</a:t>
            </a:r>
          </a:p>
        </p:txBody>
      </p:sp>
      <p:sp>
        <p:nvSpPr>
          <p:cNvPr id="3" name="">
            <a:extLst xmlns:a="http://schemas.openxmlformats.org/drawingml/2006/main">
              <a:ext uri="{FF2B5EF4-FFF2-40B4-BE49-F238E27FC236}">
                <a16:creationId xmlns:a16="http://schemas.microsoft.com/office/drawing/2014/main" id="{95D8FA0F-5B09-4E1C-8D7C-9525E23ED55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91</a:t>
            </a:r>
          </a:p>
        </p:txBody>
      </p:sp>
      <p:graphicFrame>
        <p:nvGraphicFramePr>
          <p:cNvPr id="8" name=""/>
          <p:cNvGraphicFramePr/>
          <p:nvPr/>
        </p:nvGraphicFramePr>
        <p:xfrm>
          <a:off xmlns:a="http://schemas.openxmlformats.org/drawingml/2006/main" x="609600" y="1847850"/>
          <a:ext xmlns:a="http://schemas.openxmlformats.org/drawingml/2006/main" cx="10820400" cy="3645408"/>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Tenants</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Est. Monthly Infra Cost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Per-Tenant Cost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Notes</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10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~$400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~$40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Baseline infrastructure floor</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100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~$650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~$6.50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Optimal efficiency range</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500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~$1,200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~$2.40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RDS upgrade, additional workers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1,000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~$2,500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~$2.50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Read replica, larger cache, more Fargate tasks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5,000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~$8,000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~$1.60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Partitioning, dedicated resources for hot tenants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346387930"/>
      </p:ext>
    </p:extLst>
  </p:cSld>
</p:sld>
</file>

<file path=ppt/slides/slide9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DF2BA2-5041-4D57-85B2-D986B5DBA18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18. Cost Estimation</a:t>
            </a:r>
          </a:p>
        </p:txBody>
      </p:sp>
      <p:sp>
        <p:nvSpPr>
          <p:cNvPr id="2" name="">
            <a:extLst xmlns:a="http://schemas.openxmlformats.org/drawingml/2006/main">
              <a:ext uri="{FF2B5EF4-FFF2-40B4-BE49-F238E27FC236}">
                <a16:creationId xmlns:a16="http://schemas.microsoft.com/office/drawing/2014/main" id="{BAFCD61C-AA02-4F04-BDA0-C3A7E99A54B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Scaling Projections</a:t>
            </a:r>
          </a:p>
        </p:txBody>
      </p:sp>
      <p:sp>
        <p:nvSpPr>
          <p:cNvPr id="3" name="">
            <a:extLst xmlns:a="http://schemas.openxmlformats.org/drawingml/2006/main">
              <a:ext uri="{FF2B5EF4-FFF2-40B4-BE49-F238E27FC236}">
                <a16:creationId xmlns:a16="http://schemas.microsoft.com/office/drawing/2014/main" id="{F7A96E1A-9AC2-44F9-B6EE-2910DA6CEA7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92</a:t>
            </a:r>
          </a:p>
        </p:txBody>
      </p:sp>
      <p:sp>
        <p:nvSpPr>
          <p:cNvPr id="4" name="">
            <a:extLst xmlns:a="http://schemas.openxmlformats.org/drawingml/2006/main">
              <a:ext uri="{FF2B5EF4-FFF2-40B4-BE49-F238E27FC236}">
                <a16:creationId xmlns:a16="http://schemas.microsoft.com/office/drawing/2014/main" id="{B7C87BDC-FD4F-455B-9132-2D162DA18BC3}"/>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[!NOTE] AI costs scale linearly with query volume, not tenant count. A tenant making 100 AI queries/month costs more in LLM tokens than one making 5. Per-tenant query limits and aggressive caching are critical cost controls.</a:t>
            </a:r>
          </a:p>
        </p:txBody>
      </p:sp>
    </p:spTree>
    <p:extLst>
      <p:ext uri="{BB962C8B-B14F-4D97-AF65-F5344CB8AC3E}">
        <p14:creationId xmlns:p14="http://schemas.microsoft.com/office/powerpoint/2010/main" val="745448082"/>
      </p:ext>
    </p:extLst>
  </p:cSld>
</p:sld>
</file>

<file path=ppt/slides/slide9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178E64-7D95-477C-8529-050802B5D3A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19. Post-Launch &amp; Maintenance</a:t>
            </a:r>
          </a:p>
        </p:txBody>
      </p:sp>
      <p:sp>
        <p:nvSpPr>
          <p:cNvPr id="2" name="">
            <a:extLst xmlns:a="http://schemas.openxmlformats.org/drawingml/2006/main">
              <a:ext uri="{FF2B5EF4-FFF2-40B4-BE49-F238E27FC236}">
                <a16:creationId xmlns:a16="http://schemas.microsoft.com/office/drawing/2014/main" id="{FC37AB35-F8E9-450A-A7AC-9152949F23EA}"/>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SLA Commitments</a:t>
            </a:r>
          </a:p>
        </p:txBody>
      </p:sp>
      <p:sp>
        <p:nvSpPr>
          <p:cNvPr id="3" name="">
            <a:extLst xmlns:a="http://schemas.openxmlformats.org/drawingml/2006/main">
              <a:ext uri="{FF2B5EF4-FFF2-40B4-BE49-F238E27FC236}">
                <a16:creationId xmlns:a16="http://schemas.microsoft.com/office/drawing/2014/main" id="{2796A986-0B7A-4ED9-8A84-886E00FB0D47}"/>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93</a:t>
            </a:r>
          </a:p>
        </p:txBody>
      </p:sp>
      <p:graphicFrame>
        <p:nvGraphicFramePr>
          <p:cNvPr id="8" name=""/>
          <p:cNvGraphicFramePr/>
          <p:nvPr/>
        </p:nvGraphicFramePr>
        <p:xfrm>
          <a:off xmlns:a="http://schemas.openxmlformats.org/drawingml/2006/main" x="609600" y="1847850"/>
          <a:ext xmlns:a="http://schemas.openxmlformats.org/drawingml/2006/main" cx="10820400" cy="3645408"/>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Metric</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SLA</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Measurement</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Platform uptime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99.9% monthly (&lt; 44min downtime)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Synthetic monitoring</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Data sync freshness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Within configured frequency + 30min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Sync log analysis</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API response time (P95)</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500ms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Datadog APM</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Critical bug response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&lt; 4 hours (business hours)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Ticketing system</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Security vulnerability patch</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24 hours for critical CVEs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Dependency scanning</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833180330"/>
      </p:ext>
    </p:extLst>
  </p:cSld>
</p:sld>
</file>

<file path=ppt/slides/slide9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938FAE-B5AB-44BA-8EA6-A23E7262808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19. Post-Launch &amp; Maintenance</a:t>
            </a:r>
          </a:p>
        </p:txBody>
      </p:sp>
      <p:sp>
        <p:nvSpPr>
          <p:cNvPr id="2" name="">
            <a:extLst xmlns:a="http://schemas.openxmlformats.org/drawingml/2006/main">
              <a:ext uri="{FF2B5EF4-FFF2-40B4-BE49-F238E27FC236}">
                <a16:creationId xmlns:a16="http://schemas.microsoft.com/office/drawing/2014/main" id="{CFACFBC5-2421-4FD7-BC5B-4D3BABE77A9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Backup &amp; Disaster Recovery</a:t>
            </a:r>
          </a:p>
        </p:txBody>
      </p:sp>
      <p:sp>
        <p:nvSpPr>
          <p:cNvPr id="3" name="">
            <a:extLst xmlns:a="http://schemas.openxmlformats.org/drawingml/2006/main">
              <a:ext uri="{FF2B5EF4-FFF2-40B4-BE49-F238E27FC236}">
                <a16:creationId xmlns:a16="http://schemas.microsoft.com/office/drawing/2014/main" id="{481BC868-507A-4073-AEE6-695E15FDC6A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94</a:t>
            </a:r>
          </a:p>
        </p:txBody>
      </p:sp>
      <p:graphicFrame>
        <p:nvGraphicFramePr>
          <p:cNvPr id="8" name=""/>
          <p:cNvGraphicFramePr/>
          <p:nvPr/>
        </p:nvGraphicFramePr>
        <p:xfrm>
          <a:off xmlns:a="http://schemas.openxmlformats.org/drawingml/2006/main" x="609600" y="1847850"/>
          <a:ext xmlns:a="http://schemas.openxmlformats.org/drawingml/2006/main" cx="10820400" cy="2715006"/>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Component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Backup Strategy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RPO</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RTO</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PostgreSQL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Automated RDS snapshots (daily) + continuous WAL archiving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5 minutes (PITR)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1 hour</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Redis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RDB snapshots (hourly)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 hour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&lt; 15 minutes</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S3</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Cross-region replication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Near-zero</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30 minutes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112479750"/>
      </p:ext>
    </p:extLst>
  </p:cSld>
</p:sld>
</file>

<file path=ppt/slides/slide9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45C4FE-2689-4B36-8DAB-963CA6C3CACB}"/>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19. Post-Launch &amp; Maintenance</a:t>
            </a:r>
          </a:p>
        </p:txBody>
      </p:sp>
      <p:sp>
        <p:nvSpPr>
          <p:cNvPr id="2" name="">
            <a:extLst xmlns:a="http://schemas.openxmlformats.org/drawingml/2006/main">
              <a:ext uri="{FF2B5EF4-FFF2-40B4-BE49-F238E27FC236}">
                <a16:creationId xmlns:a16="http://schemas.microsoft.com/office/drawing/2014/main" id="{64C610E2-510A-47A4-958A-96B3DEDCB9D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Backup &amp; Disaster Recovery</a:t>
            </a:r>
          </a:p>
        </p:txBody>
      </p:sp>
      <p:sp>
        <p:nvSpPr>
          <p:cNvPr id="3" name="">
            <a:extLst xmlns:a="http://schemas.openxmlformats.org/drawingml/2006/main">
              <a:ext uri="{FF2B5EF4-FFF2-40B4-BE49-F238E27FC236}">
                <a16:creationId xmlns:a16="http://schemas.microsoft.com/office/drawing/2014/main" id="{B2C937C9-E5FA-4341-B419-1DEAB49E0E7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95</a:t>
            </a:r>
          </a:p>
        </p:txBody>
      </p:sp>
      <p:graphicFrame>
        <p:nvGraphicFramePr>
          <p:cNvPr id="8" name=""/>
          <p:cNvGraphicFramePr/>
          <p:nvPr/>
        </p:nvGraphicFramePr>
        <p:xfrm>
          <a:off xmlns:a="http://schemas.openxmlformats.org/drawingml/2006/main" x="609600" y="1847850"/>
          <a:ext xmlns:a="http://schemas.openxmlformats.org/drawingml/2006/main" cx="10820400" cy="2249805"/>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Component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Backup Strategy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RPO</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RTO</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Application code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Git (GitHub)</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Zero</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&lt; 30 minutes (rebuild + deploy)</a:t>
                      </a:r>
                    </a:p>
                  </a:txBody>
                  <a:tcPr marL="114300" marR="114300" marT="114300" marB="85725" anchor="t">
                    <a:solidFill>
                      <a:srgbClr val="FFFFFF"/>
                    </a:solidFill>
                  </a:tcPr>
                </a:tc>
              </a:tr>
              <a:tr h="976503">
                <a:tc>
                  <a:txBody>
                    <a:bodyPr/>
                    <a:lstStyle/>
                    <a:p>
                      <a:r>
                        <a:rPr sz="1650" b="1">
                          <a:solidFill>
                            <a:srgbClr val="263D50"/>
                          </a:solidFill>
                          <a:latin typeface="Aptos"/>
                          <a:ea typeface="Aptos"/>
                          <a:cs typeface="Aptos"/>
                        </a:rPr>
                        <a:t>Terraform state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S3 backend with versioning + state locking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Zero</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&lt; 15 minutes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886140727"/>
      </p:ext>
    </p:extLst>
  </p:cSld>
</p:sld>
</file>

<file path=ppt/slides/slide9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4F8194-F7CB-4526-AD5F-A8A632CB37F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19. Post-Launch &amp; Maintenance</a:t>
            </a:r>
          </a:p>
        </p:txBody>
      </p:sp>
      <p:sp>
        <p:nvSpPr>
          <p:cNvPr id="2" name="">
            <a:extLst xmlns:a="http://schemas.openxmlformats.org/drawingml/2006/main">
              <a:ext uri="{FF2B5EF4-FFF2-40B4-BE49-F238E27FC236}">
                <a16:creationId xmlns:a16="http://schemas.microsoft.com/office/drawing/2014/main" id="{56F2E132-D754-4B94-B082-B598636B036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Change Request Process</a:t>
            </a:r>
          </a:p>
        </p:txBody>
      </p:sp>
      <p:sp>
        <p:nvSpPr>
          <p:cNvPr id="3" name="">
            <a:extLst xmlns:a="http://schemas.openxmlformats.org/drawingml/2006/main">
              <a:ext uri="{FF2B5EF4-FFF2-40B4-BE49-F238E27FC236}">
                <a16:creationId xmlns:a16="http://schemas.microsoft.com/office/drawing/2014/main" id="{A77BC0FC-BE3C-469B-8E24-B3123E76C2A9}"/>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96</a:t>
            </a:r>
          </a:p>
        </p:txBody>
      </p:sp>
      <p:sp>
        <p:nvSpPr>
          <p:cNvPr id="4" name="">
            <a:extLst xmlns:a="http://schemas.openxmlformats.org/drawingml/2006/main">
              <a:ext uri="{FF2B5EF4-FFF2-40B4-BE49-F238E27FC236}">
                <a16:creationId xmlns:a16="http://schemas.microsoft.com/office/drawing/2014/main" id="{6A7F5334-61A2-45B5-9034-D4A21DDE681E}"/>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Request: Client submits via dedicated channel (email/portal)</a:t>
            </a:r>
          </a:p>
        </p:txBody>
      </p:sp>
      <p:sp>
        <p:nvSpPr>
          <p:cNvPr id="5" name="">
            <a:extLst xmlns:a="http://schemas.openxmlformats.org/drawingml/2006/main">
              <a:ext uri="{FF2B5EF4-FFF2-40B4-BE49-F238E27FC236}">
                <a16:creationId xmlns:a16="http://schemas.microsoft.com/office/drawing/2014/main" id="{5EFE9A35-0112-4F28-9B2E-C8F22A02572F}"/>
              </a:ext>
            </a:extLst>
          </p:cNvPr>
          <p:cNvSpPr>
            <a:spLocks xmlns:a="http://schemas.openxmlformats.org/drawingml/2006/main" noGrp="1"/>
          </p:cNvSpPr>
          <p:nvPr/>
        </p:nvSpPr>
        <p:spPr>
          <a:xfrm xmlns:a="http://schemas.openxmlformats.org/drawingml/2006/main">
            <a:off x="609600" y="247840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Triage: Assess scope — is it a bug fix, minor change, or feature?</a:t>
            </a:r>
          </a:p>
        </p:txBody>
      </p:sp>
      <p:sp>
        <p:nvSpPr>
          <p:cNvPr id="6" name="">
            <a:extLst xmlns:a="http://schemas.openxmlformats.org/drawingml/2006/main">
              <a:ext uri="{FF2B5EF4-FFF2-40B4-BE49-F238E27FC236}">
                <a16:creationId xmlns:a16="http://schemas.microsoft.com/office/drawing/2014/main" id="{4F3F5A17-A76E-4831-A169-F3CBA0B7E2D5}"/>
              </a:ext>
            </a:extLst>
          </p:cNvPr>
          <p:cNvSpPr>
            <a:spLocks xmlns:a="http://schemas.openxmlformats.org/drawingml/2006/main" noGrp="1"/>
          </p:cNvSpPr>
          <p:nvPr/>
        </p:nvSpPr>
        <p:spPr>
          <a:xfrm xmlns:a="http://schemas.openxmlformats.org/drawingml/2006/main">
            <a:off x="609600" y="30041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Scope &amp; estimate: For changes beyond maintenance (e.g., adding a new platform), provide effort estimate within 48 hours</a:t>
            </a:r>
          </a:p>
        </p:txBody>
      </p:sp>
      <p:sp>
        <p:nvSpPr>
          <p:cNvPr id="7" name="">
            <a:extLst xmlns:a="http://schemas.openxmlformats.org/drawingml/2006/main">
              <a:ext uri="{FF2B5EF4-FFF2-40B4-BE49-F238E27FC236}">
                <a16:creationId xmlns:a16="http://schemas.microsoft.com/office/drawing/2014/main" id="{C775A668-23B9-451E-8C0A-AF296717B452}"/>
              </a:ext>
            </a:extLst>
          </p:cNvPr>
          <p:cNvSpPr>
            <a:spLocks xmlns:a="http://schemas.openxmlformats.org/drawingml/2006/main" noGrp="1"/>
          </p:cNvSpPr>
          <p:nvPr/>
        </p:nvSpPr>
        <p:spPr>
          <a:xfrm xmlns:a="http://schemas.openxmlformats.org/drawingml/2006/main">
            <a:off x="609600" y="382714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Approval: Client approves estimate</a:t>
            </a:r>
          </a:p>
        </p:txBody>
      </p:sp>
      <p:sp>
        <p:nvSpPr>
          <p:cNvPr id="8" name="">
            <a:extLst xmlns:a="http://schemas.openxmlformats.org/drawingml/2006/main">
              <a:ext uri="{FF2B5EF4-FFF2-40B4-BE49-F238E27FC236}">
                <a16:creationId xmlns:a16="http://schemas.microsoft.com/office/drawing/2014/main" id="{DC964DE2-1337-4135-9E42-F1B43F32578B}"/>
              </a:ext>
            </a:extLst>
          </p:cNvPr>
          <p:cNvSpPr>
            <a:spLocks xmlns:a="http://schemas.openxmlformats.org/drawingml/2006/main" noGrp="1"/>
          </p:cNvSpPr>
          <p:nvPr/>
        </p:nvSpPr>
        <p:spPr>
          <a:xfrm xmlns:a="http://schemas.openxmlformats.org/drawingml/2006/main">
            <a:off x="609600" y="43529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Implementation: Follows standard CI/CD pipeline (develop → test → staging → production)</a:t>
            </a:r>
          </a:p>
        </p:txBody>
      </p:sp>
      <p:sp>
        <p:nvSpPr>
          <p:cNvPr id="9" name="">
            <a:extLst xmlns:a="http://schemas.openxmlformats.org/drawingml/2006/main">
              <a:ext uri="{FF2B5EF4-FFF2-40B4-BE49-F238E27FC236}">
                <a16:creationId xmlns:a16="http://schemas.microsoft.com/office/drawing/2014/main" id="{1205F25B-E9F1-4FB9-B45D-67BE51651FBF}"/>
              </a:ext>
            </a:extLst>
          </p:cNvPr>
          <p:cNvSpPr>
            <a:spLocks xmlns:a="http://schemas.openxmlformats.org/drawingml/2006/main" noGrp="1"/>
          </p:cNvSpPr>
          <p:nvPr/>
        </p:nvSpPr>
        <p:spPr>
          <a:xfrm xmlns:a="http://schemas.openxmlformats.org/drawingml/2006/main">
            <a:off x="609600" y="48787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Billing: Bug fixes within SLA scope are included. Feature additions billed at agreed hourly rate or mini-SOW</a:t>
            </a:r>
          </a:p>
        </p:txBody>
      </p:sp>
    </p:spTree>
    <p:extLst>
      <p:ext uri="{BB962C8B-B14F-4D97-AF65-F5344CB8AC3E}">
        <p14:creationId xmlns:p14="http://schemas.microsoft.com/office/powerpoint/2010/main" val="237955057"/>
      </p:ext>
    </p:extLst>
  </p:cSld>
</p:sld>
</file>

<file path=ppt/slides/slide9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1FBCBB-F5B5-43F9-8029-E17AB9EDCDB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19. Post-Launch &amp; Maintenance</a:t>
            </a:r>
          </a:p>
        </p:txBody>
      </p:sp>
      <p:sp>
        <p:nvSpPr>
          <p:cNvPr id="2" name="">
            <a:extLst xmlns:a="http://schemas.openxmlformats.org/drawingml/2006/main">
              <a:ext uri="{FF2B5EF4-FFF2-40B4-BE49-F238E27FC236}">
                <a16:creationId xmlns:a16="http://schemas.microsoft.com/office/drawing/2014/main" id="{FE1F7276-9F1F-4140-809E-F5C2B946CDE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Platform API Monitoring</a:t>
            </a:r>
          </a:p>
        </p:txBody>
      </p:sp>
      <p:sp>
        <p:nvSpPr>
          <p:cNvPr id="3" name="">
            <a:extLst xmlns:a="http://schemas.openxmlformats.org/drawingml/2006/main">
              <a:ext uri="{FF2B5EF4-FFF2-40B4-BE49-F238E27FC236}">
                <a16:creationId xmlns:a16="http://schemas.microsoft.com/office/drawing/2014/main" id="{B7ABBB91-AC1B-4F2C-A435-30CD46B8E4A9}"/>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97</a:t>
            </a:r>
          </a:p>
        </p:txBody>
      </p:sp>
      <p:sp>
        <p:nvSpPr>
          <p:cNvPr id="4" name="">
            <a:extLst xmlns:a="http://schemas.openxmlformats.org/drawingml/2006/main">
              <a:ext uri="{FF2B5EF4-FFF2-40B4-BE49-F238E27FC236}">
                <a16:creationId xmlns:a16="http://schemas.microsoft.com/office/drawing/2014/main" id="{10317C6F-5A56-4367-A7EB-E969CA2C3088}"/>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Each social platform periodically changes or deprecates API endpoints. We proactively manage this:</a:t>
            </a:r>
          </a:p>
        </p:txBody>
      </p:sp>
      <p:sp>
        <p:nvSpPr>
          <p:cNvPr id="5" name="">
            <a:extLst xmlns:a="http://schemas.openxmlformats.org/drawingml/2006/main">
              <a:ext uri="{FF2B5EF4-FFF2-40B4-BE49-F238E27FC236}">
                <a16:creationId xmlns:a16="http://schemas.microsoft.com/office/drawing/2014/main" id="{FCDF53BC-F9D3-4C2A-A959-C3C34AF65D55}"/>
              </a:ext>
            </a:extLst>
          </p:cNvPr>
          <p:cNvSpPr>
            <a:spLocks xmlns:a="http://schemas.openxmlformats.org/drawingml/2006/main" noGrp="1"/>
          </p:cNvSpPr>
          <p:nvPr/>
        </p:nvSpPr>
        <p:spPr>
          <a:xfrm xmlns:a="http://schemas.openxmlformats.org/drawingml/2006/main">
            <a:off x="609600" y="247840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Automated API health checks: Daily test calls to each platform API to detect breaking changes early</a:t>
            </a:r>
          </a:p>
        </p:txBody>
      </p:sp>
      <p:sp>
        <p:nvSpPr>
          <p:cNvPr id="6" name="">
            <a:extLst xmlns:a="http://schemas.openxmlformats.org/drawingml/2006/main">
              <a:ext uri="{FF2B5EF4-FFF2-40B4-BE49-F238E27FC236}">
                <a16:creationId xmlns:a16="http://schemas.microsoft.com/office/drawing/2014/main" id="{3D1BF1F5-84FF-4A00-8FDE-A75610EEE3D7}"/>
              </a:ext>
            </a:extLst>
          </p:cNvPr>
          <p:cNvSpPr>
            <a:spLocks xmlns:a="http://schemas.openxmlformats.org/drawingml/2006/main" noGrp="1"/>
          </p:cNvSpPr>
          <p:nvPr/>
        </p:nvSpPr>
        <p:spPr>
          <a:xfrm xmlns:a="http://schemas.openxmlformats.org/drawingml/2006/main">
            <a:off x="609600" y="30041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Changelog monitoring: Subscribe to Meta, LinkedIn, and Google developer blogs and API changelog feeds</a:t>
            </a:r>
          </a:p>
        </p:txBody>
      </p:sp>
      <p:sp>
        <p:nvSpPr>
          <p:cNvPr id="7" name="">
            <a:extLst xmlns:a="http://schemas.openxmlformats.org/drawingml/2006/main">
              <a:ext uri="{FF2B5EF4-FFF2-40B4-BE49-F238E27FC236}">
                <a16:creationId xmlns:a16="http://schemas.microsoft.com/office/drawing/2014/main" id="{3B659317-AB27-4E24-9F17-33509E88AD53}"/>
              </a:ext>
            </a:extLst>
          </p:cNvPr>
          <p:cNvSpPr>
            <a:spLocks xmlns:a="http://schemas.openxmlformats.org/drawingml/2006/main" noGrp="1"/>
          </p:cNvSpPr>
          <p:nvPr/>
        </p:nvSpPr>
        <p:spPr>
          <a:xfrm xmlns:a="http://schemas.openxmlformats.org/drawingml/2006/main">
            <a:off x="609600" y="382714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Version pinning: All API calls use explicit API version parameters (e.g., Graph API v19.0) to avoid surprise changes</a:t>
            </a:r>
          </a:p>
        </p:txBody>
      </p:sp>
      <p:sp>
        <p:nvSpPr>
          <p:cNvPr id="8" name="">
            <a:extLst xmlns:a="http://schemas.openxmlformats.org/drawingml/2006/main">
              <a:ext uri="{FF2B5EF4-FFF2-40B4-BE49-F238E27FC236}">
                <a16:creationId xmlns:a16="http://schemas.microsoft.com/office/drawing/2014/main" id="{8A8FD31B-7CB5-4B39-9738-A88DCE86DA57}"/>
              </a:ext>
            </a:extLst>
          </p:cNvPr>
          <p:cNvSpPr>
            <a:spLocks xmlns:a="http://schemas.openxmlformats.org/drawingml/2006/main" noGrp="1"/>
          </p:cNvSpPr>
          <p:nvPr/>
        </p:nvSpPr>
        <p:spPr>
          <a:xfrm xmlns:a="http://schemas.openxmlformats.org/drawingml/2006/main">
            <a:off x="609600" y="46501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Deprecation alerts: When a platform announces deprecation, we schedule connector updates within the deprecation window</a:t>
            </a:r>
          </a:p>
        </p:txBody>
      </p:sp>
    </p:spTree>
    <p:extLst>
      <p:ext uri="{BB962C8B-B14F-4D97-AF65-F5344CB8AC3E}">
        <p14:creationId xmlns:p14="http://schemas.microsoft.com/office/powerpoint/2010/main" val="209842284"/>
      </p:ext>
    </p:extLst>
  </p:cSld>
</p:sld>
</file>

<file path=ppt/slides/slide9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FB5B43F-618E-4F43-852D-85F476617F2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20. Phase 2 Roadmap</a:t>
            </a:r>
          </a:p>
        </p:txBody>
      </p:sp>
      <p:sp>
        <p:nvSpPr>
          <p:cNvPr id="2" name="">
            <a:extLst xmlns:a="http://schemas.openxmlformats.org/drawingml/2006/main">
              <a:ext uri="{FF2B5EF4-FFF2-40B4-BE49-F238E27FC236}">
                <a16:creationId xmlns:a16="http://schemas.microsoft.com/office/drawing/2014/main" id="{9444EFFA-0D3B-44F9-AEFE-49324C4E64D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98</a:t>
            </a:r>
          </a:p>
        </p:txBody>
      </p:sp>
      <p:sp>
        <p:nvSpPr>
          <p:cNvPr id="3" name="">
            <a:extLst xmlns:a="http://schemas.openxmlformats.org/drawingml/2006/main">
              <a:ext uri="{FF2B5EF4-FFF2-40B4-BE49-F238E27FC236}">
                <a16:creationId xmlns:a16="http://schemas.microsoft.com/office/drawing/2014/main" id="{26C617DF-77C1-46CA-8F2A-050F91940440}"/>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The following features are explicitly out of scope for Phase 1 but architecturally planned for:</a:t>
            </a:r>
          </a:p>
        </p:txBody>
      </p:sp>
    </p:spTree>
    <p:extLst>
      <p:ext uri="{BB962C8B-B14F-4D97-AF65-F5344CB8AC3E}">
        <p14:creationId xmlns:p14="http://schemas.microsoft.com/office/powerpoint/2010/main" val="1813607644"/>
      </p:ext>
    </p:extLst>
  </p:cSld>
</p:sld>
</file>

<file path=ppt/slides/slide9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DA4DDC8-A738-4CF0-8AA4-D583A4CAF45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20. Phase 2 Roadmap</a:t>
            </a:r>
          </a:p>
        </p:txBody>
      </p:sp>
      <p:sp>
        <p:nvSpPr>
          <p:cNvPr id="2" name="">
            <a:extLst xmlns:a="http://schemas.openxmlformats.org/drawingml/2006/main">
              <a:ext uri="{FF2B5EF4-FFF2-40B4-BE49-F238E27FC236}">
                <a16:creationId xmlns:a16="http://schemas.microsoft.com/office/drawing/2014/main" id="{2D818578-8751-4B57-81CC-7F603EB7354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99</a:t>
            </a:r>
          </a:p>
        </p:txBody>
      </p:sp>
      <p:graphicFrame>
        <p:nvGraphicFramePr>
          <p:cNvPr id="6" name=""/>
          <p:cNvGraphicFramePr/>
          <p:nvPr/>
        </p:nvGraphicFramePr>
        <p:xfrm>
          <a:off xmlns:a="http://schemas.openxmlformats.org/drawingml/2006/main" x="609600" y="1847850"/>
          <a:ext xmlns:a="http://schemas.openxmlformats.org/drawingml/2006/main" cx="10820400" cy="4156710"/>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Feature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Priority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Estimated Effort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Dependencies</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Meta Ads integration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High</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2–3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Ads API approval, additional OAuth scopes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Google Ads integration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High</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2–3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Google Ads API access, conversion tracking schema</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LinkedIn Ads integration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LinkedIn Marketing Partner approval</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Custom report builder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High</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3–4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Drag-and-drop report designer, PDF export</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YouTube Analytics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YouTube Data API, additional connector</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723163659"/>
      </p:ext>
    </p:extLst>
  </p:cSld>
</p:sld>
</file>

<file path=ppt/slides/slide10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5F6825-5D24-432B-8D6A-4CBF1F8C4BA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20. Phase 2 Roadmap</a:t>
            </a:r>
          </a:p>
        </p:txBody>
      </p:sp>
      <p:sp>
        <p:nvSpPr>
          <p:cNvPr id="2" name="">
            <a:extLst xmlns:a="http://schemas.openxmlformats.org/drawingml/2006/main">
              <a:ext uri="{FF2B5EF4-FFF2-40B4-BE49-F238E27FC236}">
                <a16:creationId xmlns:a16="http://schemas.microsoft.com/office/drawing/2014/main" id="{2AFF36C5-D14C-4917-A70A-B498BDDAF39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100</a:t>
            </a:r>
          </a:p>
        </p:txBody>
      </p:sp>
      <p:graphicFrame>
        <p:nvGraphicFramePr>
          <p:cNvPr id="6" name=""/>
          <p:cNvGraphicFramePr/>
          <p:nvPr/>
        </p:nvGraphicFramePr>
        <p:xfrm>
          <a:off xmlns:a="http://schemas.openxmlformats.org/drawingml/2006/main" x="609600" y="1847850"/>
          <a:ext xmlns:a="http://schemas.openxmlformats.org/drawingml/2006/main" cx="10820400" cy="3435858"/>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Feature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Priority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Estimated Effort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Dependencies</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Google Search Console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1–2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GSC API, additional connector</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CRM integration (HubSpot, Salesforce)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3–4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Lead attribution, pipeline mapping</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White-label / custom branding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2–3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Per-tenant theming, custom domains (CNAME)</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Advanced anomaly detection</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3–4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Statistical models, automated alert rules</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676940869"/>
      </p:ext>
    </p:extLst>
  </p:cSld>
</p:sld>
</file>

<file path=ppt/slides/slide10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E354D44-0FB1-4C4A-BE1A-6AD44092064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20. Phase 2 Roadmap</a:t>
            </a:r>
          </a:p>
        </p:txBody>
      </p:sp>
      <p:sp>
        <p:nvSpPr>
          <p:cNvPr id="2" name="">
            <a:extLst xmlns:a="http://schemas.openxmlformats.org/drawingml/2006/main">
              <a:ext uri="{FF2B5EF4-FFF2-40B4-BE49-F238E27FC236}">
                <a16:creationId xmlns:a16="http://schemas.microsoft.com/office/drawing/2014/main" id="{DE4F4D77-97EB-4C5F-9CD2-9F1A83CAA09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101</a:t>
            </a:r>
          </a:p>
        </p:txBody>
      </p:sp>
      <p:graphicFrame>
        <p:nvGraphicFramePr>
          <p:cNvPr id="6" name=""/>
          <p:cNvGraphicFramePr/>
          <p:nvPr/>
        </p:nvGraphicFramePr>
        <p:xfrm>
          <a:off xmlns:a="http://schemas.openxmlformats.org/drawingml/2006/main" x="609600" y="1847850"/>
          <a:ext xmlns:a="http://schemas.openxmlformats.org/drawingml/2006/main" cx="10820400" cy="2970657"/>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Feature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Priority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Estimated Effort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Dependencies</a:t>
                      </a:r>
                    </a:p>
                  </a:txBody>
                  <a:tcPr marL="114300" marR="114300" marT="114300" marB="85725" anchor="t">
                    <a:solidFill>
                      <a:srgbClr val="142C43"/>
                    </a:solidFill>
                  </a:tcPr>
                </a:tc>
              </a:tr>
              <a:tr h="976503">
                <a:tc>
                  <a:txBody>
                    <a:bodyPr/>
                    <a:lstStyle/>
                    <a:p>
                      <a:r>
                        <a:rPr sz="1650" b="1">
                          <a:solidFill>
                            <a:srgbClr val="263D50"/>
                          </a:solidFill>
                          <a:latin typeface="Aptos"/>
                          <a:ea typeface="Aptos"/>
                          <a:cs typeface="Aptos"/>
                        </a:rPr>
                        <a:t>AI recommendations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High</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4–6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Actionable recommendations beyond Q&amp;A (e.g., “Post more on Tuesdays”)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Mobile app (React Native)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Low</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8–12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Shared API, push notifications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Webhook notifications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Low</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 week</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Event system, webhook management UI</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016021732"/>
      </p:ext>
    </p:extLst>
  </p:cSld>
</p:sld>
</file>

<file path=ppt/slides/slide10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A95B4F-AA12-4823-A058-286DF881A107}"/>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20. Phase 2 Roadmap</a:t>
            </a:r>
          </a:p>
        </p:txBody>
      </p:sp>
      <p:sp>
        <p:nvSpPr>
          <p:cNvPr id="2" name="">
            <a:extLst xmlns:a="http://schemas.openxmlformats.org/drawingml/2006/main">
              <a:ext uri="{FF2B5EF4-FFF2-40B4-BE49-F238E27FC236}">
                <a16:creationId xmlns:a16="http://schemas.microsoft.com/office/drawing/2014/main" id="{85DDDA54-A37F-42BB-97C4-44A4DABE0DC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102</a:t>
            </a:r>
          </a:p>
        </p:txBody>
      </p:sp>
      <p:graphicFrame>
        <p:nvGraphicFramePr>
          <p:cNvPr id="6" name=""/>
          <p:cNvGraphicFramePr/>
          <p:nvPr/>
        </p:nvGraphicFramePr>
        <p:xfrm>
          <a:off xmlns:a="http://schemas.openxmlformats.org/drawingml/2006/main" x="609600" y="1847850"/>
          <a:ext xmlns:a="http://schemas.openxmlformats.org/drawingml/2006/main" cx="10820400" cy="1994154"/>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Feature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Priority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Estimated Effort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Dependencies</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Data export API</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1–2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CSV/JSON export, scheduled reports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SSO (SAML/OIDC)</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Medium</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2–3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Enterprise auth, identity provider integration</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090985935"/>
      </p:ext>
    </p:extLst>
  </p:cSld>
</p:sld>
</file>

<file path=ppt/slides/slide10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E4D672-C2C0-44AC-BB5A-920C6750331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20. Phase 2 Roadmap</a:t>
            </a:r>
          </a:p>
        </p:txBody>
      </p:sp>
      <p:sp>
        <p:nvSpPr>
          <p:cNvPr id="2" name="">
            <a:extLst xmlns:a="http://schemas.openxmlformats.org/drawingml/2006/main">
              <a:ext uri="{FF2B5EF4-FFF2-40B4-BE49-F238E27FC236}">
                <a16:creationId xmlns:a16="http://schemas.microsoft.com/office/drawing/2014/main" id="{D179BEB5-1BCC-4B7F-98E4-AC6202E9651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Extensibility Architecture</a:t>
            </a:r>
          </a:p>
        </p:txBody>
      </p:sp>
      <p:sp>
        <p:nvSpPr>
          <p:cNvPr id="3" name="">
            <a:extLst xmlns:a="http://schemas.openxmlformats.org/drawingml/2006/main">
              <a:ext uri="{FF2B5EF4-FFF2-40B4-BE49-F238E27FC236}">
                <a16:creationId xmlns:a16="http://schemas.microsoft.com/office/drawing/2014/main" id="{086C3C97-5A27-4CE9-AB98-6D3D05DBD3A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103</a:t>
            </a:r>
          </a:p>
        </p:txBody>
      </p:sp>
      <p:sp>
        <p:nvSpPr>
          <p:cNvPr id="4" name="">
            <a:extLst xmlns:a="http://schemas.openxmlformats.org/drawingml/2006/main">
              <a:ext uri="{FF2B5EF4-FFF2-40B4-BE49-F238E27FC236}">
                <a16:creationId xmlns:a16="http://schemas.microsoft.com/office/drawing/2014/main" id="{05DA3A81-4F1E-498E-AAB5-BE2ADFAADBAD}"/>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The system is designed for easy platform additions:</a:t>
            </a:r>
          </a:p>
        </p:txBody>
      </p:sp>
      <p:sp>
        <p:nvSpPr>
          <p:cNvPr id="5" name="">
            <a:extLst xmlns:a="http://schemas.openxmlformats.org/drawingml/2006/main">
              <a:ext uri="{FF2B5EF4-FFF2-40B4-BE49-F238E27FC236}">
                <a16:creationId xmlns:a16="http://schemas.microsoft.com/office/drawing/2014/main" id="{DD078D5D-83B6-4E21-B5F7-088CA9249859}"/>
              </a:ext>
            </a:extLst>
          </p:cNvPr>
          <p:cNvSpPr>
            <a:spLocks xmlns:a="http://schemas.openxmlformats.org/drawingml/2006/main" noGrp="1"/>
          </p:cNvSpPr>
          <p:nvPr/>
        </p:nvSpPr>
        <p:spPr>
          <a:xfrm xmlns:a="http://schemas.openxmlformats.org/drawingml/2006/main">
            <a:off x="609600" y="2478405"/>
            <a:ext cx="10810875" cy="2453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Adding a new platform (e.g., YouTube) requires:</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1. Create YouTubeConnector extending BaseConnector (1 file)</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2. Register in connector factory (1 line)</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3. Add platform enum value (1 line)</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4. Database migration adds 'youtube' to platform check constraint (1 migration)</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5. Frontend adds YouTube icon/color to platform components (2-3 files)</a:t>
            </a:r>
          </a:p>
          <a:p xmlns:a="http://schemas.openxmlformats.org/drawingml/2006/main">
            <a:r>
              <a:t/>
            </a:r>
          </a:p>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 Total effort for a new platform connector: ~1-2 weeks</a:t>
            </a:r>
          </a:p>
        </p:txBody>
      </p:sp>
    </p:spTree>
    <p:extLst>
      <p:ext uri="{BB962C8B-B14F-4D97-AF65-F5344CB8AC3E}">
        <p14:creationId xmlns:p14="http://schemas.microsoft.com/office/powerpoint/2010/main" val="701798867"/>
      </p:ext>
    </p:extLst>
  </p:cSld>
</p:sld>
</file>

<file path=ppt/slides/slide10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84C2E0-F617-48AE-90D7-1D5A9902CCCE}"/>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21. Assumptions &amp; Clarification Points</a:t>
            </a:r>
          </a:p>
        </p:txBody>
      </p:sp>
      <p:sp>
        <p:nvSpPr>
          <p:cNvPr id="2" name="">
            <a:extLst xmlns:a="http://schemas.openxmlformats.org/drawingml/2006/main">
              <a:ext uri="{FF2B5EF4-FFF2-40B4-BE49-F238E27FC236}">
                <a16:creationId xmlns:a16="http://schemas.microsoft.com/office/drawing/2014/main" id="{20D59FF4-6BB6-425A-9F97-4837E4FFE64C}"/>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Assumptions Made</a:t>
            </a:r>
          </a:p>
        </p:txBody>
      </p:sp>
      <p:sp>
        <p:nvSpPr>
          <p:cNvPr id="3" name="">
            <a:extLst xmlns:a="http://schemas.openxmlformats.org/drawingml/2006/main">
              <a:ext uri="{FF2B5EF4-FFF2-40B4-BE49-F238E27FC236}">
                <a16:creationId xmlns:a16="http://schemas.microsoft.com/office/drawing/2014/main" id="{C5945852-0BA9-48F5-9F82-E44C650F876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104</a:t>
            </a:r>
          </a:p>
        </p:txBody>
      </p:sp>
      <p:graphicFrame>
        <p:nvGraphicFramePr>
          <p:cNvPr id="8" name=""/>
          <p:cNvGraphicFramePr/>
          <p:nvPr/>
        </p:nvGraphicFramePr>
        <p:xfrm>
          <a:off xmlns:a="http://schemas.openxmlformats.org/drawingml/2006/main" x="609600" y="1847850"/>
          <a:ext xmlns:a="http://schemas.openxmlformats.org/drawingml/2006/main" cx="10820400" cy="3901059"/>
        </p:xfrm>
        <a:graphic xmlns:a="http://schemas.openxmlformats.org/drawingml/2006/main">
          <a:graphicData uri="http://schemas.openxmlformats.org/drawingml/2006/table">
            <a:tbl>
              <a:tblPr/>
              <a:tblGrid>
                <a:gridCol w="757428"/>
                <a:gridCol w="5518404"/>
                <a:gridCol w="4544568"/>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Assumption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 if Wrong</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A1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Client has or will create developer apps on Meta, LinkedIn, and Google Cloud before Phase 2 starts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Phase 2 blocked; we can assist with app registration</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A2</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Instagram data is accessed via Meta Graph API (Business/Creator accounts, not personal)</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Different API required for personal accounts</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A3</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Initial historical data pull covers 90 days (not years of history)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Longer history = higher API quota usage and longer initial sync</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A4</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English-only UI for Phase 1</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i18n adds 1–2 weeks if needed</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A5</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Single region deployment (us-east-1) initially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Multi-region adds infrastructure complexity and cost</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351451778"/>
      </p:ext>
    </p:extLst>
  </p:cSld>
</p:sld>
</file>

<file path=ppt/slides/slide10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7B230E-5C48-4C20-A466-C5DD8E4214A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21. Assumptions &amp; Clarification Points</a:t>
            </a:r>
          </a:p>
        </p:txBody>
      </p:sp>
      <p:sp>
        <p:nvSpPr>
          <p:cNvPr id="2" name="">
            <a:extLst xmlns:a="http://schemas.openxmlformats.org/drawingml/2006/main">
              <a:ext uri="{FF2B5EF4-FFF2-40B4-BE49-F238E27FC236}">
                <a16:creationId xmlns:a16="http://schemas.microsoft.com/office/drawing/2014/main" id="{AE41C999-5F3B-424C-BBB2-0A9C3C3569F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Assumptions Made</a:t>
            </a:r>
          </a:p>
        </p:txBody>
      </p:sp>
      <p:sp>
        <p:nvSpPr>
          <p:cNvPr id="3" name="">
            <a:extLst xmlns:a="http://schemas.openxmlformats.org/drawingml/2006/main">
              <a:ext uri="{FF2B5EF4-FFF2-40B4-BE49-F238E27FC236}">
                <a16:creationId xmlns:a16="http://schemas.microsoft.com/office/drawing/2014/main" id="{FA46D9F5-D2EA-44BB-A496-4A662057B5CF}"/>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105</a:t>
            </a:r>
          </a:p>
        </p:txBody>
      </p:sp>
      <p:graphicFrame>
        <p:nvGraphicFramePr>
          <p:cNvPr id="8" name=""/>
          <p:cNvGraphicFramePr/>
          <p:nvPr/>
        </p:nvGraphicFramePr>
        <p:xfrm>
          <a:off xmlns:a="http://schemas.openxmlformats.org/drawingml/2006/main" x="609600" y="1847850"/>
          <a:ext xmlns:a="http://schemas.openxmlformats.org/drawingml/2006/main" cx="10820400" cy="4156710"/>
        </p:xfrm>
        <a:graphic xmlns:a="http://schemas.openxmlformats.org/drawingml/2006/main">
          <a:graphicData uri="http://schemas.openxmlformats.org/drawingml/2006/table">
            <a:tbl>
              <a:tblPr/>
              <a:tblGrid>
                <a:gridCol w="757428"/>
                <a:gridCol w="5518404"/>
                <a:gridCol w="4544568"/>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Assumption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 if Wrong</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A6</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No SSO requirement in Phase 1 (email/password auth)</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SSO adds 2–3 weeks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A7</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Platform API sandbox/test accounts available for development</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Development uses real accounts if sandbox unavailable</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A8</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Maximum 50 connected accounts per organization in Phase 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Higher limits require queue partitioning adjustments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A9</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Budget allows for Datadog-tier observability (not just CloudWatch)</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CloudWatch alternative reduces cost but limits visibility</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A10</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Client team has AWS account access for infrastructure provisioning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We can use our AWS account with cross-account access</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123117567"/>
      </p:ext>
    </p:extLst>
  </p:cSld>
</p:sld>
</file>

<file path=ppt/slides/slide10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8321A5-AD0D-456C-9A31-8EF7E226F73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21. Assumptions &amp; Clarification Points</a:t>
            </a:r>
          </a:p>
        </p:txBody>
      </p:sp>
      <p:sp>
        <p:nvSpPr>
          <p:cNvPr id="2" name="">
            <a:extLst xmlns:a="http://schemas.openxmlformats.org/drawingml/2006/main">
              <a:ext uri="{FF2B5EF4-FFF2-40B4-BE49-F238E27FC236}">
                <a16:creationId xmlns:a16="http://schemas.microsoft.com/office/drawing/2014/main" id="{4DFD9F24-936A-4EC6-85BA-6DD4BCEA498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Clarification Points Needed</a:t>
            </a:r>
          </a:p>
        </p:txBody>
      </p:sp>
      <p:sp>
        <p:nvSpPr>
          <p:cNvPr id="3" name="">
            <a:extLst xmlns:a="http://schemas.openxmlformats.org/drawingml/2006/main">
              <a:ext uri="{FF2B5EF4-FFF2-40B4-BE49-F238E27FC236}">
                <a16:creationId xmlns:a16="http://schemas.microsoft.com/office/drawing/2014/main" id="{0D5A90B3-E59F-413B-82E5-C2F703C396E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106</a:t>
            </a:r>
          </a:p>
        </p:txBody>
      </p:sp>
      <p:graphicFrame>
        <p:nvGraphicFramePr>
          <p:cNvPr id="8" name=""/>
          <p:cNvGraphicFramePr/>
          <p:nvPr/>
        </p:nvGraphicFramePr>
        <p:xfrm>
          <a:off xmlns:a="http://schemas.openxmlformats.org/drawingml/2006/main" x="609600" y="1847850"/>
          <a:ext xmlns:a="http://schemas.openxmlformats.org/drawingml/2006/main" cx="10820400" cy="3435858"/>
        </p:xfrm>
        <a:graphic xmlns:a="http://schemas.openxmlformats.org/drawingml/2006/main">
          <a:graphicData uri="http://schemas.openxmlformats.org/drawingml/2006/table">
            <a:tbl>
              <a:tblPr/>
              <a:tblGrid>
                <a:gridCol w="757428"/>
                <a:gridCol w="5518404"/>
                <a:gridCol w="4544568"/>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Question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 on Design</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C1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How much historical data should the initial sync pull? (30 days? 90 days? All available?)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Affects initial sync duration, API quota planning, and storage estimates</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C2</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Are there specific branding/theming requirements for the dashboard?</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Affects UI development scope</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C3</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Should agencies be able to have their own billing, or is this managed centrally?</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Affects organization hierarchy design</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C4</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What is the expected tenant count at launch and 6-month mark?</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Affects initial infrastructure sizing</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207220771"/>
      </p:ext>
    </p:extLst>
  </p:cSld>
</p:sld>
</file>

<file path=ppt/slides/slide10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22AE2A-894E-480A-A624-83A153D4865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21. Assumptions &amp; Clarification Points</a:t>
            </a:r>
          </a:p>
        </p:txBody>
      </p:sp>
      <p:sp>
        <p:nvSpPr>
          <p:cNvPr id="2" name="">
            <a:extLst xmlns:a="http://schemas.openxmlformats.org/drawingml/2006/main">
              <a:ext uri="{FF2B5EF4-FFF2-40B4-BE49-F238E27FC236}">
                <a16:creationId xmlns:a16="http://schemas.microsoft.com/office/drawing/2014/main" id="{337A6E2F-662C-4E87-86AF-2F77C169B98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Clarification Points Needed</a:t>
            </a:r>
          </a:p>
        </p:txBody>
      </p:sp>
      <p:sp>
        <p:nvSpPr>
          <p:cNvPr id="3" name="">
            <a:extLst xmlns:a="http://schemas.openxmlformats.org/drawingml/2006/main">
              <a:ext uri="{FF2B5EF4-FFF2-40B4-BE49-F238E27FC236}">
                <a16:creationId xmlns:a16="http://schemas.microsoft.com/office/drawing/2014/main" id="{5CC61567-088B-42E3-BDE0-30AF2132A6C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107</a:t>
            </a:r>
          </a:p>
        </p:txBody>
      </p:sp>
      <p:graphicFrame>
        <p:nvGraphicFramePr>
          <p:cNvPr id="8" name=""/>
          <p:cNvGraphicFramePr/>
          <p:nvPr/>
        </p:nvGraphicFramePr>
        <p:xfrm>
          <a:off xmlns:a="http://schemas.openxmlformats.org/drawingml/2006/main" x="609600" y="1847850"/>
          <a:ext xmlns:a="http://schemas.openxmlformats.org/drawingml/2006/main" cx="10820400" cy="3435858"/>
        </p:xfrm>
        <a:graphic xmlns:a="http://schemas.openxmlformats.org/drawingml/2006/main">
          <a:graphicData uri="http://schemas.openxmlformats.org/drawingml/2006/table">
            <a:tbl>
              <a:tblPr/>
              <a:tblGrid>
                <a:gridCol w="757428"/>
                <a:gridCol w="5518404"/>
                <a:gridCol w="4544568"/>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Question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 on Design</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C5</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Are there any compliance requirements (SOC 2, HIPAA, ISO 27001)?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Affects security controls and audit scope</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C6</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Does the client have an existing AWS account, or should we provision new?</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Affects IaC setup and billing</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C7</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Is there a preference for the frontend hosting (Vercel vs. self-hosted on AWS)?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Affects deployment pipeline design</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C8</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Should the AI insights layer support multiple languages or English only?</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Affects prompt engineering scope</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1368982440"/>
      </p:ext>
    </p:extLst>
  </p:cSld>
</p:sld>
</file>

<file path=ppt/slides/slide10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FA6A03-0170-4181-BABF-E9709301880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21. Assumptions &amp; Clarification Points</a:t>
            </a:r>
          </a:p>
        </p:txBody>
      </p:sp>
      <p:sp>
        <p:nvSpPr>
          <p:cNvPr id="2" name="">
            <a:extLst xmlns:a="http://schemas.openxmlformats.org/drawingml/2006/main">
              <a:ext uri="{FF2B5EF4-FFF2-40B4-BE49-F238E27FC236}">
                <a16:creationId xmlns:a16="http://schemas.microsoft.com/office/drawing/2014/main" id="{6374142A-826F-4AE9-ADEC-32094EC1AF7B}"/>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Clarification Points Needed</a:t>
            </a:r>
          </a:p>
        </p:txBody>
      </p:sp>
      <p:sp>
        <p:nvSpPr>
          <p:cNvPr id="3" name="">
            <a:extLst xmlns:a="http://schemas.openxmlformats.org/drawingml/2006/main">
              <a:ext uri="{FF2B5EF4-FFF2-40B4-BE49-F238E27FC236}">
                <a16:creationId xmlns:a16="http://schemas.microsoft.com/office/drawing/2014/main" id="{78D859E3-24EF-483D-9F1B-37F05000B17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108</a:t>
            </a:r>
          </a:p>
        </p:txBody>
      </p:sp>
      <p:graphicFrame>
        <p:nvGraphicFramePr>
          <p:cNvPr id="8" name=""/>
          <p:cNvGraphicFramePr/>
          <p:nvPr/>
        </p:nvGraphicFramePr>
        <p:xfrm>
          <a:off xmlns:a="http://schemas.openxmlformats.org/drawingml/2006/main" x="609600" y="1847850"/>
          <a:ext xmlns:a="http://schemas.openxmlformats.org/drawingml/2006/main" cx="10820400" cy="2249805"/>
        </p:xfrm>
        <a:graphic xmlns:a="http://schemas.openxmlformats.org/drawingml/2006/main">
          <a:graphicData uri="http://schemas.openxmlformats.org/drawingml/2006/table">
            <a:tbl>
              <a:tblPr/>
              <a:tblGrid>
                <a:gridCol w="757428"/>
                <a:gridCol w="5518404"/>
                <a:gridCol w="4544568"/>
              </a:tblGrid>
              <a:tr h="552450">
                <a:tc>
                  <a:txBody>
                    <a:bodyPr/>
                    <a:lstStyle/>
                    <a:p>
                      <a:r>
                        <a:rPr sz="1500" b="1">
                          <a:solidFill>
                            <a:srgbClr val="FFFFFF"/>
                          </a:solidFill>
                          <a:latin typeface="Aptos"/>
                          <a:ea typeface="Aptos"/>
                          <a:cs typeface="Aptos"/>
                        </a:rPr>
                        <a: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Question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Impact on Design</a:t>
                      </a:r>
                    </a:p>
                  </a:txBody>
                  <a:tcPr marL="114300" marR="114300" marT="114300" marB="85725" anchor="t">
                    <a:solidFill>
                      <a:srgbClr val="142C43"/>
                    </a:solidFill>
                  </a:tcPr>
                </a:tc>
              </a:tr>
              <a:tr h="976503">
                <a:tc>
                  <a:txBody>
                    <a:bodyPr/>
                    <a:lstStyle/>
                    <a:p>
                      <a:r>
                        <a:rPr sz="1650" b="1">
                          <a:solidFill>
                            <a:srgbClr val="263D50"/>
                          </a:solidFill>
                          <a:latin typeface="Aptos"/>
                          <a:ea typeface="Aptos"/>
                          <a:cs typeface="Aptos"/>
                        </a:rPr>
                        <a:t>C9</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What is the expected data volume per tenant? (Number of posts/day, number of connected accounts)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Affects database sizing and partition strategy</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C10</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Is there an existing design system or brand guidelines to follow?</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Affects UI development approach</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570247278"/>
      </p:ext>
    </p:extLst>
  </p:cSld>
</p:sld>
</file>

<file path=ppt/slides/slide10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FBEDBB-8991-4F32-A3C4-A2C3D571FBF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C60E976B-AD25-4E24-B7DC-BE5B55837D20}"/>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 Similar Work</a:t>
            </a:r>
          </a:p>
        </p:txBody>
      </p:sp>
      <p:sp>
        <p:nvSpPr>
          <p:cNvPr id="3" name="">
            <a:extLst xmlns:a="http://schemas.openxmlformats.org/drawingml/2006/main">
              <a:ext uri="{FF2B5EF4-FFF2-40B4-BE49-F238E27FC236}">
                <a16:creationId xmlns:a16="http://schemas.microsoft.com/office/drawing/2014/main" id="{3668BDC8-E27E-49D1-9A4F-4383D66D4F2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109</a:t>
            </a:r>
          </a:p>
        </p:txBody>
      </p:sp>
      <p:sp>
        <p:nvSpPr>
          <p:cNvPr id="4" name="">
            <a:extLst xmlns:a="http://schemas.openxmlformats.org/drawingml/2006/main">
              <a:ext uri="{FF2B5EF4-FFF2-40B4-BE49-F238E27FC236}">
                <a16:creationId xmlns:a16="http://schemas.microsoft.com/office/drawing/2014/main" id="{7AAF2487-A019-4E1E-9D5D-CADE720E625F}"/>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have built multi-tenant SaaS platforms with OAuth integrations, scheduler/sync patterns, and real tenant isolation. The genuinely hard parts in similar projects have been:</a:t>
            </a:r>
          </a:p>
        </p:txBody>
      </p:sp>
      <p:sp>
        <p:nvSpPr>
          <p:cNvPr id="5" name="">
            <a:extLst xmlns:a="http://schemas.openxmlformats.org/drawingml/2006/main">
              <a:ext uri="{FF2B5EF4-FFF2-40B4-BE49-F238E27FC236}">
                <a16:creationId xmlns:a16="http://schemas.microsoft.com/office/drawing/2014/main" id="{F45B7E2F-D23C-4185-B5C6-393C6242D7AF}"/>
              </a:ext>
            </a:extLst>
          </p:cNvPr>
          <p:cNvSpPr>
            <a:spLocks xmlns:a="http://schemas.openxmlformats.org/drawingml/2006/main" noGrp="1"/>
          </p:cNvSpPr>
          <p:nvPr/>
        </p:nvSpPr>
        <p:spPr>
          <a:xfrm xmlns:a="http://schemas.openxmlformats.org/drawingml/2006/main">
            <a:off x="609600" y="277558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Token lifecycle management across platforms: Each platform (Meta, Google, LinkedIn) has different token expiry behaviors, refresh mechanisms, and error responses. Building a unified abstraction that handles all edge cases (token revocation, scope changes, rate limit responses) took significant iteration.</a:t>
            </a:r>
          </a:p>
        </p:txBody>
      </p:sp>
      <p:sp>
        <p:nvSpPr>
          <p:cNvPr id="6" name="">
            <a:extLst xmlns:a="http://schemas.openxmlformats.org/drawingml/2006/main">
              <a:ext uri="{FF2B5EF4-FFF2-40B4-BE49-F238E27FC236}">
                <a16:creationId xmlns:a16="http://schemas.microsoft.com/office/drawing/2014/main" id="{ACE41A98-8B53-438C-8151-A72E0843DFD2}"/>
              </a:ext>
            </a:extLst>
          </p:cNvPr>
          <p:cNvSpPr>
            <a:spLocks xmlns:a="http://schemas.openxmlformats.org/drawingml/2006/main" noGrp="1"/>
          </p:cNvSpPr>
          <p:nvPr/>
        </p:nvSpPr>
        <p:spPr>
          <a:xfrm xmlns:a="http://schemas.openxmlformats.org/drawingml/2006/main">
            <a:off x="609600" y="419290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Tenant isolation confidence: Moving from “we’re pretty sure the WHERE clauses are right” to “we have database-level proof that cross-tenant access is impossible” — implementing and testing RLS policies, then running automated isolation tests on every deployment.</a:t>
            </a:r>
          </a:p>
        </p:txBody>
      </p:sp>
    </p:spTree>
    <p:extLst>
      <p:ext uri="{BB962C8B-B14F-4D97-AF65-F5344CB8AC3E}">
        <p14:creationId xmlns:p14="http://schemas.microsoft.com/office/powerpoint/2010/main" val="334785990"/>
      </p:ext>
    </p:extLst>
  </p:cSld>
</p:sld>
</file>

<file path=ppt/slides/slide1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5BB628-41A5-462D-970C-B183573CFFF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964CC062-4591-4C5B-AB88-15661581948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 Similar Work</a:t>
            </a:r>
          </a:p>
        </p:txBody>
      </p:sp>
      <p:sp>
        <p:nvSpPr>
          <p:cNvPr id="3" name="">
            <a:extLst xmlns:a="http://schemas.openxmlformats.org/drawingml/2006/main">
              <a:ext uri="{FF2B5EF4-FFF2-40B4-BE49-F238E27FC236}">
                <a16:creationId xmlns:a16="http://schemas.microsoft.com/office/drawing/2014/main" id="{CC17D709-4C97-4DDD-9492-A59EDD96687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110</a:t>
            </a:r>
          </a:p>
        </p:txBody>
      </p:sp>
      <p:sp>
        <p:nvSpPr>
          <p:cNvPr id="4" name="">
            <a:extLst xmlns:a="http://schemas.openxmlformats.org/drawingml/2006/main">
              <a:ext uri="{FF2B5EF4-FFF2-40B4-BE49-F238E27FC236}">
                <a16:creationId xmlns:a16="http://schemas.microsoft.com/office/drawing/2014/main" id="{B735BC48-C221-4D6A-8BDD-E2A61A9CC631}"/>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Sync pipeline reliability: The platforms have unpredictable rate limits, occasional outages, and changing response formats. Building a pipeline that gracefully handles all of these without losing data or creating gaps in metrics required extensive error handling, retry logic, and monitoring.</a:t>
            </a:r>
          </a:p>
        </p:txBody>
      </p:sp>
    </p:spTree>
    <p:extLst>
      <p:ext uri="{BB962C8B-B14F-4D97-AF65-F5344CB8AC3E}">
        <p14:creationId xmlns:p14="http://schemas.microsoft.com/office/powerpoint/2010/main" val="1208041459"/>
      </p:ext>
    </p:extLst>
  </p:cSld>
</p:sld>
</file>

<file path=ppt/slides/slide1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052F84-28F6-445D-951C-B1F7BBF0DD5A}"/>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BB7C6B2A-79CF-4A0E-B5BD-8BE1DBABC582}"/>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Q2: Tech Stack</a:t>
            </a:r>
          </a:p>
        </p:txBody>
      </p:sp>
      <p:sp>
        <p:nvSpPr>
          <p:cNvPr id="3" name="">
            <a:extLst xmlns:a="http://schemas.openxmlformats.org/drawingml/2006/main">
              <a:ext uri="{FF2B5EF4-FFF2-40B4-BE49-F238E27FC236}">
                <a16:creationId xmlns:a16="http://schemas.microsoft.com/office/drawing/2014/main" id="{8E5D72BC-75E9-47AC-BDBE-D4DE2A368E8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111</a:t>
            </a:r>
          </a:p>
        </p:txBody>
      </p:sp>
      <p:sp>
        <p:nvSpPr>
          <p:cNvPr id="4" name="">
            <a:extLst xmlns:a="http://schemas.openxmlformats.org/drawingml/2006/main">
              <a:ext uri="{FF2B5EF4-FFF2-40B4-BE49-F238E27FC236}">
                <a16:creationId xmlns:a16="http://schemas.microsoft.com/office/drawing/2014/main" id="{E5550773-EEA9-4D76-B282-ADCE6E26DC71}"/>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Backend: NestJS (Node.js/TypeScript) — chosen for its structured module system, first-class TypeScript support, and built-in support for scheduling and queues that this project needs heavily.</a:t>
            </a:r>
          </a:p>
        </p:txBody>
      </p:sp>
      <p:sp>
        <p:nvSpPr>
          <p:cNvPr id="5" name="">
            <a:extLst xmlns:a="http://schemas.openxmlformats.org/drawingml/2006/main">
              <a:ext uri="{FF2B5EF4-FFF2-40B4-BE49-F238E27FC236}">
                <a16:creationId xmlns:a16="http://schemas.microsoft.com/office/drawing/2014/main" id="{FC157381-7CDD-4DD1-9BAF-FBF837420E7A}"/>
              </a:ext>
            </a:extLst>
          </p:cNvPr>
          <p:cNvSpPr>
            <a:spLocks xmlns:a="http://schemas.openxmlformats.org/drawingml/2006/main" noGrp="1"/>
          </p:cNvSpPr>
          <p:nvPr/>
        </p:nvSpPr>
        <p:spPr>
          <a:xfrm xmlns:a="http://schemas.openxmlformats.org/drawingml/2006/main">
            <a:off x="609600" y="27755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Database: PostgreSQL 16 — chosen specifically for native Row-Level Security, which is the foundation of our multi-tenancy strategy. RLS enforces isolation at the database engine level.</a:t>
            </a:r>
          </a:p>
        </p:txBody>
      </p:sp>
      <p:sp>
        <p:nvSpPr>
          <p:cNvPr id="6" name="">
            <a:extLst xmlns:a="http://schemas.openxmlformats.org/drawingml/2006/main">
              <a:ext uri="{FF2B5EF4-FFF2-40B4-BE49-F238E27FC236}">
                <a16:creationId xmlns:a16="http://schemas.microsoft.com/office/drawing/2014/main" id="{0DC0C3BF-09CE-44D3-B5E5-8EC5D510732B}"/>
              </a:ext>
            </a:extLst>
          </p:cNvPr>
          <p:cNvSpPr>
            <a:spLocks xmlns:a="http://schemas.openxmlformats.org/drawingml/2006/main" noGrp="1"/>
          </p:cNvSpPr>
          <p:nvPr/>
        </p:nvSpPr>
        <p:spPr>
          <a:xfrm xmlns:a="http://schemas.openxmlformats.org/drawingml/2006/main">
            <a:off x="609600" y="359854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Frontend: Next.js 14 (React) — SSR for dashboard performance, vast charting ecosystem, and deployment flexibility.</a:t>
            </a:r>
          </a:p>
        </p:txBody>
      </p:sp>
      <p:sp>
        <p:nvSpPr>
          <p:cNvPr id="7" name="">
            <a:extLst xmlns:a="http://schemas.openxmlformats.org/drawingml/2006/main">
              <a:ext uri="{FF2B5EF4-FFF2-40B4-BE49-F238E27FC236}">
                <a16:creationId xmlns:a16="http://schemas.microsoft.com/office/drawing/2014/main" id="{86BF9A41-ACB8-4DF6-8A78-F97883653EC4}"/>
              </a:ext>
            </a:extLst>
          </p:cNvPr>
          <p:cNvSpPr>
            <a:spLocks xmlns:a="http://schemas.openxmlformats.org/drawingml/2006/main" noGrp="1"/>
          </p:cNvSpPr>
          <p:nvPr/>
        </p:nvSpPr>
        <p:spPr>
          <a:xfrm xmlns:a="http://schemas.openxmlformats.org/drawingml/2006/main">
            <a:off x="609600" y="442150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Full justification in Section 3.</a:t>
            </a:r>
          </a:p>
        </p:txBody>
      </p:sp>
    </p:spTree>
    <p:extLst>
      <p:ext uri="{BB962C8B-B14F-4D97-AF65-F5344CB8AC3E}">
        <p14:creationId xmlns:p14="http://schemas.microsoft.com/office/powerpoint/2010/main" val="184980385"/>
      </p:ext>
    </p:extLst>
  </p:cSld>
</p:sld>
</file>

<file path=ppt/slides/slide1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5901DA-04C6-41DB-B9F2-2E5DBEE5D590}"/>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0126B443-A93B-4D9D-A31B-96BCCA6D988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Q3: Multi-Tenancy Approach</a:t>
            </a:r>
          </a:p>
        </p:txBody>
      </p:sp>
      <p:sp>
        <p:nvSpPr>
          <p:cNvPr id="3" name="">
            <a:extLst xmlns:a="http://schemas.openxmlformats.org/drawingml/2006/main">
              <a:ext uri="{FF2B5EF4-FFF2-40B4-BE49-F238E27FC236}">
                <a16:creationId xmlns:a16="http://schemas.microsoft.com/office/drawing/2014/main" id="{599B05DD-4601-496B-ACCA-5A9FBC95C42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112</a:t>
            </a:r>
          </a:p>
        </p:txBody>
      </p:sp>
      <p:sp>
        <p:nvSpPr>
          <p:cNvPr id="4" name="">
            <a:extLst xmlns:a="http://schemas.openxmlformats.org/drawingml/2006/main">
              <a:ext uri="{FF2B5EF4-FFF2-40B4-BE49-F238E27FC236}">
                <a16:creationId xmlns:a16="http://schemas.microsoft.com/office/drawing/2014/main" id="{29564C96-2417-400D-B7A6-F81861B71289}"/>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Shared database with Row-Level Security (RLS) — detailed in Section 4.</a:t>
            </a:r>
          </a:p>
        </p:txBody>
      </p:sp>
      <p:sp>
        <p:nvSpPr>
          <p:cNvPr id="5" name="">
            <a:extLst xmlns:a="http://schemas.openxmlformats.org/drawingml/2006/main">
              <a:ext uri="{FF2B5EF4-FFF2-40B4-BE49-F238E27FC236}">
                <a16:creationId xmlns:a16="http://schemas.microsoft.com/office/drawing/2014/main" id="{E74629EB-950F-4CCE-9337-081BAC7EBC71}"/>
              </a:ext>
            </a:extLst>
          </p:cNvPr>
          <p:cNvSpPr>
            <a:spLocks xmlns:a="http://schemas.openxmlformats.org/drawingml/2006/main" noGrp="1"/>
          </p:cNvSpPr>
          <p:nvPr/>
        </p:nvSpPr>
        <p:spPr>
          <a:xfrm xmlns:a="http://schemas.openxmlformats.org/drawingml/2006/main">
            <a:off x="609600" y="247840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use PostgreSQL RLS policies that filter every query by organization_id using a session-level variable set from the authenticated JWT. This means even if application code has a bug (missing WHERE clause), the database itself will not return cross-tenant data. We have automated tests that verify this isolation on every pull request.</a:t>
            </a:r>
          </a:p>
        </p:txBody>
      </p:sp>
      <p:sp>
        <p:nvSpPr>
          <p:cNvPr id="6" name="">
            <a:extLst xmlns:a="http://schemas.openxmlformats.org/drawingml/2006/main">
              <a:ext uri="{FF2B5EF4-FFF2-40B4-BE49-F238E27FC236}">
                <a16:creationId xmlns:a16="http://schemas.microsoft.com/office/drawing/2014/main" id="{81784A5F-6967-4824-B875-7E49E502798E}"/>
              </a:ext>
            </a:extLst>
          </p:cNvPr>
          <p:cNvSpPr>
            <a:spLocks xmlns:a="http://schemas.openxmlformats.org/drawingml/2006/main" noGrp="1"/>
          </p:cNvSpPr>
          <p:nvPr/>
        </p:nvSpPr>
        <p:spPr>
          <a:xfrm xmlns:a="http://schemas.openxmlformats.org/drawingml/2006/main">
            <a:off x="609600" y="38957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Our experience: RLS holds up well in production. The key is rigorous testing and ensuring the session variable is set correctly on every database connection (including background workers).</a:t>
            </a:r>
          </a:p>
        </p:txBody>
      </p:sp>
    </p:spTree>
    <p:extLst>
      <p:ext uri="{BB962C8B-B14F-4D97-AF65-F5344CB8AC3E}">
        <p14:creationId xmlns:p14="http://schemas.microsoft.com/office/powerpoint/2010/main" val="511624634"/>
      </p:ext>
    </p:extLst>
  </p:cSld>
</p:sld>
</file>

<file path=ppt/slides/slide1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6D1D97-2D58-4572-AFC6-8E9C41DDD15B}"/>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B1B7751D-862E-464A-A01B-44ACB45675B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Q4: Team &amp; Structure</a:t>
            </a:r>
          </a:p>
        </p:txBody>
      </p:sp>
      <p:sp>
        <p:nvSpPr>
          <p:cNvPr id="3" name="">
            <a:extLst xmlns:a="http://schemas.openxmlformats.org/drawingml/2006/main">
              <a:ext uri="{FF2B5EF4-FFF2-40B4-BE49-F238E27FC236}">
                <a16:creationId xmlns:a16="http://schemas.microsoft.com/office/drawing/2014/main" id="{4B83D20A-15EC-43B0-BD9F-421E6268FE8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113</a:t>
            </a:r>
          </a:p>
        </p:txBody>
      </p:sp>
      <p:graphicFrame>
        <p:nvGraphicFramePr>
          <p:cNvPr id="8" name=""/>
          <p:cNvGraphicFramePr/>
          <p:nvPr/>
        </p:nvGraphicFramePr>
        <p:xfrm>
          <a:off xmlns:a="http://schemas.openxmlformats.org/drawingml/2006/main" x="609600" y="1847850"/>
          <a:ext xmlns:a="http://schemas.openxmlformats.org/drawingml/2006/main" cx="10820400" cy="3947160"/>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Role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Count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Responsibility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Dedication</a:t>
                      </a:r>
                    </a:p>
                  </a:txBody>
                  <a:tcPr marL="114300" marR="114300" marT="114300" marB="85725" anchor="t">
                    <a:solidFill>
                      <a:srgbClr val="142C43"/>
                    </a:solidFill>
                  </a:tcPr>
                </a:tc>
              </a:tr>
              <a:tr h="1232154">
                <a:tc>
                  <a:txBody>
                    <a:bodyPr/>
                    <a:lstStyle/>
                    <a:p>
                      <a:r>
                        <a:rPr sz="1650" b="1">
                          <a:solidFill>
                            <a:srgbClr val="263D50"/>
                          </a:solidFill>
                          <a:latin typeface="Aptos"/>
                          <a:ea typeface="Aptos"/>
                          <a:cs typeface="Aptos"/>
                        </a:rPr>
                        <a:t>Technical Lead / Architect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Architecture decisions, code review, client communication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Dedicated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Senior Backend Engineer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Multi-tenancy, auth, data pipeline, AI layer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Dedicated</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Backend Engineer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Platform connectors, API development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Dedicated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Senior Frontend Engineer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Dashboard UI, data visualization, UX</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Dedicated</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435114"/>
      </p:ext>
    </p:extLst>
  </p:cSld>
</p:sld>
</file>

<file path=ppt/slides/slide1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7A18E3-F422-4F82-BB59-B987B166AF3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06EC72CD-152C-4783-981D-729FD3652C9F}"/>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Q4: Team &amp; Structure</a:t>
            </a:r>
          </a:p>
        </p:txBody>
      </p:sp>
      <p:sp>
        <p:nvSpPr>
          <p:cNvPr id="3" name="">
            <a:extLst xmlns:a="http://schemas.openxmlformats.org/drawingml/2006/main">
              <a:ext uri="{FF2B5EF4-FFF2-40B4-BE49-F238E27FC236}">
                <a16:creationId xmlns:a16="http://schemas.microsoft.com/office/drawing/2014/main" id="{E3A722F7-1792-4051-842E-8A6EE62D29A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114</a:t>
            </a:r>
          </a:p>
        </p:txBody>
      </p:sp>
      <p:graphicFrame>
        <p:nvGraphicFramePr>
          <p:cNvPr id="8" name=""/>
          <p:cNvGraphicFramePr/>
          <p:nvPr/>
        </p:nvGraphicFramePr>
        <p:xfrm>
          <a:off xmlns:a="http://schemas.openxmlformats.org/drawingml/2006/main" x="609600" y="1847850"/>
          <a:ext xmlns:a="http://schemas.openxmlformats.org/drawingml/2006/main" cx="10820400" cy="2970657"/>
        </p:xfrm>
        <a:graphic xmlns:a="http://schemas.openxmlformats.org/drawingml/2006/main">
          <a:graphicData uri="http://schemas.openxmlformats.org/drawingml/2006/table">
            <a:tbl>
              <a:tblPr/>
              <a:tblGrid>
                <a:gridCol w="2488692"/>
                <a:gridCol w="2705100"/>
                <a:gridCol w="2380488"/>
                <a:gridCol w="3246120"/>
              </a:tblGrid>
              <a:tr h="552450">
                <a:tc>
                  <a:txBody>
                    <a:bodyPr/>
                    <a:lstStyle/>
                    <a:p>
                      <a:r>
                        <a:rPr sz="1500" b="1">
                          <a:solidFill>
                            <a:srgbClr val="FFFFFF"/>
                          </a:solidFill>
                          <a:latin typeface="Aptos"/>
                          <a:ea typeface="Aptos"/>
                          <a:cs typeface="Aptos"/>
                        </a:rPr>
                        <a:t>Role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Count</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Responsibility</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Dedication</a:t>
                      </a:r>
                    </a:p>
                  </a:txBody>
                  <a:tcPr marL="114300" marR="114300" marT="114300" marB="85725" anchor="t">
                    <a:solidFill>
                      <a:srgbClr val="142C43"/>
                    </a:solidFill>
                  </a:tcPr>
                </a:tc>
              </a:tr>
              <a:tr h="976503">
                <a:tc>
                  <a:txBody>
                    <a:bodyPr/>
                    <a:lstStyle/>
                    <a:p>
                      <a:r>
                        <a:rPr sz="1650" b="1">
                          <a:solidFill>
                            <a:srgbClr val="263D50"/>
                          </a:solidFill>
                          <a:latin typeface="Aptos"/>
                          <a:ea typeface="Aptos"/>
                          <a:cs typeface="Aptos"/>
                        </a:rPr>
                        <a:t>Frontend Engineer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UI components, settings, connection management</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Dedicated</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DevOps Engineer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1 (part-time)</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Infrastructure, CI/CD, monitoring</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Shared (50%)</a:t>
                      </a:r>
                    </a:p>
                  </a:txBody>
                  <a:tcPr marL="114300" marR="114300" marT="114300" marB="85725" anchor="t">
                    <a:solidFill>
                      <a:srgbClr val="EAF1F4"/>
                    </a:solidFill>
                  </a:tcPr>
                </a:tc>
              </a:tr>
              <a:tr h="720852">
                <a:tc>
                  <a:txBody>
                    <a:bodyPr/>
                    <a:lstStyle/>
                    <a:p>
                      <a:r>
                        <a:rPr sz="1650" b="1">
                          <a:solidFill>
                            <a:srgbClr val="263D50"/>
                          </a:solidFill>
                          <a:latin typeface="Aptos"/>
                          <a:ea typeface="Aptos"/>
                          <a:cs typeface="Aptos"/>
                        </a:rPr>
                        <a:t>QA Engineer</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 (part-time)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Test strategy, E2E tests, security testing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Shared (50%)</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103543856"/>
      </p:ext>
    </p:extLst>
  </p:cSld>
</p:sld>
</file>

<file path=ppt/slides/slide1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1FC187-B7E1-48AA-BD26-C2B4021FE867}"/>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1B4EE23A-6C2E-46D3-B39D-B1BE28183E1A}"/>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Q4: Team &amp; Structure</a:t>
            </a:r>
          </a:p>
        </p:txBody>
      </p:sp>
      <p:sp>
        <p:nvSpPr>
          <p:cNvPr id="3" name="">
            <a:extLst xmlns:a="http://schemas.openxmlformats.org/drawingml/2006/main">
              <a:ext uri="{FF2B5EF4-FFF2-40B4-BE49-F238E27FC236}">
                <a16:creationId xmlns:a16="http://schemas.microsoft.com/office/drawing/2014/main" id="{173FB5A0-29F7-434B-B9D0-5BEBE3CD935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115</a:t>
            </a:r>
          </a:p>
        </p:txBody>
      </p:sp>
      <p:sp>
        <p:nvSpPr>
          <p:cNvPr id="4" name="">
            <a:extLst xmlns:a="http://schemas.openxmlformats.org/drawingml/2006/main">
              <a:ext uri="{FF2B5EF4-FFF2-40B4-BE49-F238E27FC236}">
                <a16:creationId xmlns:a16="http://schemas.microsoft.com/office/drawing/2014/main" id="{D8FB48ED-8246-4F8B-9A2A-D91CA5682942}"/>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This is a dedicated core team (4 FTEs) with shared DevOps and QA support. No one on the core team is split across other client work during active development phases.</a:t>
            </a:r>
          </a:p>
        </p:txBody>
      </p:sp>
    </p:spTree>
    <p:extLst>
      <p:ext uri="{BB962C8B-B14F-4D97-AF65-F5344CB8AC3E}">
        <p14:creationId xmlns:p14="http://schemas.microsoft.com/office/powerpoint/2010/main" val="1594811569"/>
      </p:ext>
    </p:extLst>
  </p:cSld>
</p:sld>
</file>

<file path=ppt/slides/slide1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EABF57-9CA9-40F1-85EE-8C9F3A753A4F}"/>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2421C01E-EAD9-47F3-A454-F3BF29D8F08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Q5: Timeline</a:t>
            </a:r>
          </a:p>
        </p:txBody>
      </p:sp>
      <p:sp>
        <p:nvSpPr>
          <p:cNvPr id="3" name="">
            <a:extLst xmlns:a="http://schemas.openxmlformats.org/drawingml/2006/main">
              <a:ext uri="{FF2B5EF4-FFF2-40B4-BE49-F238E27FC236}">
                <a16:creationId xmlns:a16="http://schemas.microsoft.com/office/drawing/2014/main" id="{E4076E95-54DA-4C27-96D3-6221F08E918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116</a:t>
            </a:r>
          </a:p>
        </p:txBody>
      </p:sp>
      <p:graphicFrame>
        <p:nvGraphicFramePr>
          <p:cNvPr id="8" name=""/>
          <p:cNvGraphicFramePr/>
          <p:nvPr/>
        </p:nvGraphicFramePr>
        <p:xfrm>
          <a:off xmlns:a="http://schemas.openxmlformats.org/drawingml/2006/main" x="609600" y="1847850"/>
          <a:ext xmlns:a="http://schemas.openxmlformats.org/drawingml/2006/main" cx="10820400" cy="2668905"/>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Phase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Duration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Dates</a:t>
                      </a:r>
                    </a:p>
                  </a:txBody>
                  <a:tcPr marL="114300" marR="114300" marT="114300" marB="85725" anchor="t">
                    <a:solidFill>
                      <a:srgbClr val="142C43"/>
                    </a:solidFill>
                  </a:tcPr>
                </a:tc>
              </a:tr>
              <a:tr h="465201">
                <a:tc>
                  <a:txBody>
                    <a:bodyPr/>
                    <a:lstStyle/>
                    <a:p>
                      <a:r>
                        <a:rPr sz="1650" b="1">
                          <a:solidFill>
                            <a:srgbClr val="263D50"/>
                          </a:solidFill>
                          <a:latin typeface="Aptos"/>
                          <a:ea typeface="Aptos"/>
                          <a:cs typeface="Aptos"/>
                        </a:rPr>
                        <a:t>Phase 1: Foundation</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3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Weeks 1–3</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Phase 2: Platform Integrations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Weeks 4–6</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Phase 3: Data Pipeline</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Weeks 7–8</a:t>
                      </a:r>
                    </a:p>
                  </a:txBody>
                  <a:tcPr marL="114300" marR="114300" marT="114300" marB="85725" anchor="t">
                    <a:solidFill>
                      <a:srgbClr val="FFFFFF"/>
                    </a:solidFill>
                  </a:tcPr>
                </a:tc>
              </a:tr>
              <a:tr h="465201">
                <a:tc>
                  <a:txBody>
                    <a:bodyPr/>
                    <a:lstStyle/>
                    <a:p>
                      <a:r>
                        <a:rPr sz="1650" b="1">
                          <a:solidFill>
                            <a:srgbClr val="263D50"/>
                          </a:solidFill>
                          <a:latin typeface="Aptos"/>
                          <a:ea typeface="Aptos"/>
                          <a:cs typeface="Aptos"/>
                        </a:rPr>
                        <a:t>Phase 4: Dashboard UI</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Weeks 9–11</a:t>
                      </a:r>
                    </a:p>
                  </a:txBody>
                  <a:tcPr marL="114300" marR="114300" marT="114300" marB="85725" anchor="t">
                    <a:solidFill>
                      <a:srgbClr val="EAF1F4"/>
                    </a:solidFill>
                  </a:tcPr>
                </a:tc>
              </a:tr>
            </a:tbl>
          </a:graphicData>
        </a:graphic>
      </p:graphicFrame>
    </p:spTree>
    <p:extLst>
      <p:ext uri="{BB962C8B-B14F-4D97-AF65-F5344CB8AC3E}">
        <p14:creationId xmlns:p14="http://schemas.microsoft.com/office/powerpoint/2010/main" val="2005929052"/>
      </p:ext>
    </p:extLst>
  </p:cSld>
</p:sld>
</file>

<file path=ppt/slides/slide1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D12401-170F-4215-A3D6-8ACCC66B067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57C4F16E-0806-406B-98F7-7C218450875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Q5: Timeline</a:t>
            </a:r>
          </a:p>
        </p:txBody>
      </p:sp>
      <p:sp>
        <p:nvSpPr>
          <p:cNvPr id="3" name="">
            <a:extLst xmlns:a="http://schemas.openxmlformats.org/drawingml/2006/main">
              <a:ext uri="{FF2B5EF4-FFF2-40B4-BE49-F238E27FC236}">
                <a16:creationId xmlns:a16="http://schemas.microsoft.com/office/drawing/2014/main" id="{67F2AB02-C80A-4332-807E-515F9E7F0FC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117</a:t>
            </a:r>
          </a:p>
        </p:txBody>
      </p:sp>
      <p:graphicFrame>
        <p:nvGraphicFramePr>
          <p:cNvPr id="8" name=""/>
          <p:cNvGraphicFramePr/>
          <p:nvPr/>
        </p:nvGraphicFramePr>
        <p:xfrm>
          <a:off xmlns:a="http://schemas.openxmlformats.org/drawingml/2006/main" x="609600" y="1847850"/>
          <a:ext xmlns:a="http://schemas.openxmlformats.org/drawingml/2006/main" cx="10820400" cy="2459355"/>
        </p:xfrm>
        <a:graphic xmlns:a="http://schemas.openxmlformats.org/drawingml/2006/main">
          <a:graphicData uri="http://schemas.openxmlformats.org/drawingml/2006/table">
            <a:tbl>
              <a:tblPr/>
              <a:tblGrid>
                <a:gridCol w="2705100"/>
                <a:gridCol w="3678936"/>
                <a:gridCol w="4436364"/>
              </a:tblGrid>
              <a:tr h="552450">
                <a:tc>
                  <a:txBody>
                    <a:bodyPr/>
                    <a:lstStyle/>
                    <a:p>
                      <a:r>
                        <a:rPr sz="1500" b="1">
                          <a:solidFill>
                            <a:srgbClr val="FFFFFF"/>
                          </a:solidFill>
                          <a:latin typeface="Aptos"/>
                          <a:ea typeface="Aptos"/>
                          <a:cs typeface="Aptos"/>
                        </a:rPr>
                        <a:t>Phase</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Duration</a:t>
                      </a:r>
                    </a:p>
                  </a:txBody>
                  <a:tcPr marL="114300" marR="114300" marT="114300" marB="85725" anchor="t">
                    <a:solidFill>
                      <a:srgbClr val="142C43"/>
                    </a:solidFill>
                  </a:tcPr>
                </a:tc>
                <a:tc>
                  <a:txBody>
                    <a:bodyPr/>
                    <a:lstStyle/>
                    <a:p>
                      <a:r>
                        <a:rPr sz="1500" b="1">
                          <a:solidFill>
                            <a:srgbClr val="FFFFFF"/>
                          </a:solidFill>
                          <a:latin typeface="Aptos"/>
                          <a:ea typeface="Aptos"/>
                          <a:cs typeface="Aptos"/>
                        </a:rPr>
                        <a:t>Dates</a:t>
                      </a:r>
                    </a:p>
                  </a:txBody>
                  <a:tcPr marL="114300" marR="114300" marT="114300" marB="85725" anchor="t">
                    <a:solidFill>
                      <a:srgbClr val="142C43"/>
                    </a:solidFill>
                  </a:tcPr>
                </a:tc>
              </a:tr>
              <a:tr h="720852">
                <a:tc>
                  <a:txBody>
                    <a:bodyPr/>
                    <a:lstStyle/>
                    <a:p>
                      <a:r>
                        <a:rPr sz="1650" b="1">
                          <a:solidFill>
                            <a:srgbClr val="263D50"/>
                          </a:solidFill>
                          <a:latin typeface="Aptos"/>
                          <a:ea typeface="Aptos"/>
                          <a:cs typeface="Aptos"/>
                        </a:rPr>
                        <a:t>Phase 5: Reliability &amp; Hardening</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2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Weeks 12–13</a:t>
                      </a:r>
                    </a:p>
                  </a:txBody>
                  <a:tcPr marL="114300" marR="114300" marT="114300" marB="85725" anchor="t">
                    <a:solidFill>
                      <a:srgbClr val="FFFFFF"/>
                    </a:solidFill>
                  </a:tcPr>
                </a:tc>
              </a:tr>
              <a:tr h="720852">
                <a:tc>
                  <a:txBody>
                    <a:bodyPr/>
                    <a:lstStyle/>
                    <a:p>
                      <a:r>
                        <a:rPr sz="1650" b="1">
                          <a:solidFill>
                            <a:srgbClr val="263D50"/>
                          </a:solidFill>
                          <a:latin typeface="Aptos"/>
                          <a:ea typeface="Aptos"/>
                          <a:cs typeface="Aptos"/>
                        </a:rPr>
                        <a:t>Phase 6: AI Insights Layer</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3 weeks</a:t>
                      </a:r>
                    </a:p>
                  </a:txBody>
                  <a:tcPr marL="114300" marR="114300" marT="114300" marB="85725" anchor="t">
                    <a:solidFill>
                      <a:srgbClr val="EAF1F4"/>
                    </a:solidFill>
                  </a:tcPr>
                </a:tc>
                <a:tc>
                  <a:txBody>
                    <a:bodyPr/>
                    <a:lstStyle/>
                    <a:p>
                      <a:r>
                        <a:rPr sz="1650" b="0">
                          <a:solidFill>
                            <a:srgbClr val="263D50"/>
                          </a:solidFill>
                          <a:latin typeface="Aptos"/>
                          <a:ea typeface="Aptos"/>
                          <a:cs typeface="Aptos"/>
                        </a:rPr>
                        <a:t>Weeks 14–16</a:t>
                      </a:r>
                    </a:p>
                  </a:txBody>
                  <a:tcPr marL="114300" marR="114300" marT="114300" marB="85725" anchor="t">
                    <a:solidFill>
                      <a:srgbClr val="EAF1F4"/>
                    </a:solidFill>
                  </a:tcPr>
                </a:tc>
              </a:tr>
              <a:tr h="465201">
                <a:tc>
                  <a:txBody>
                    <a:bodyPr/>
                    <a:lstStyle/>
                    <a:p>
                      <a:r>
                        <a:rPr sz="1650" b="1">
                          <a:solidFill>
                            <a:srgbClr val="263D50"/>
                          </a:solidFill>
                          <a:latin typeface="Aptos"/>
                          <a:ea typeface="Aptos"/>
                          <a:cs typeface="Aptos"/>
                        </a:rPr>
                        <a:t>Total</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16 weeks</a:t>
                      </a:r>
                    </a:p>
                  </a:txBody>
                  <a:tcPr marL="114300" marR="114300" marT="114300" marB="85725" anchor="t">
                    <a:solidFill>
                      <a:srgbClr val="FFFFFF"/>
                    </a:solidFill>
                  </a:tcPr>
                </a:tc>
                <a:tc>
                  <a:txBody>
                    <a:bodyPr/>
                    <a:lstStyle/>
                    <a:p>
                      <a:r>
                        <a:rPr sz="1650" b="0">
                          <a:solidFill>
                            <a:srgbClr val="263D50"/>
                          </a:solidFill>
                          <a:latin typeface="Aptos"/>
                          <a:ea typeface="Aptos"/>
                          <a:cs typeface="Aptos"/>
                        </a:rPr>
                        <a:t/>
                      </a:r>
                    </a:p>
                  </a:txBody>
                  <a:tcPr marL="114300" marR="114300" marT="114300" marB="85725" anchor="t">
                    <a:solidFill>
                      <a:srgbClr val="FFFFFF"/>
                    </a:solidFill>
                  </a:tcPr>
                </a:tc>
              </a:tr>
            </a:tbl>
          </a:graphicData>
        </a:graphic>
      </p:graphicFrame>
    </p:spTree>
    <p:extLst>
      <p:ext uri="{BB962C8B-B14F-4D97-AF65-F5344CB8AC3E}">
        <p14:creationId xmlns:p14="http://schemas.microsoft.com/office/powerpoint/2010/main" val="2005735869"/>
      </p:ext>
    </p:extLst>
  </p:cSld>
</p:sld>
</file>

<file path=ppt/slides/slide1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8F2B4D-8150-41ED-B9F4-A79FFF58762F}"/>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A90E27D9-97F5-4CE4-BF98-1D4317F2A33E}"/>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Q5: Timeline</a:t>
            </a:r>
          </a:p>
        </p:txBody>
      </p:sp>
      <p:sp>
        <p:nvSpPr>
          <p:cNvPr id="3" name="">
            <a:extLst xmlns:a="http://schemas.openxmlformats.org/drawingml/2006/main">
              <a:ext uri="{FF2B5EF4-FFF2-40B4-BE49-F238E27FC236}">
                <a16:creationId xmlns:a16="http://schemas.microsoft.com/office/drawing/2014/main" id="{95640B5A-1991-4E29-B172-A3C9176AC35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118</a:t>
            </a:r>
          </a:p>
        </p:txBody>
      </p:sp>
      <p:sp>
        <p:nvSpPr>
          <p:cNvPr id="4" name="">
            <a:extLst xmlns:a="http://schemas.openxmlformats.org/drawingml/2006/main">
              <a:ext uri="{FF2B5EF4-FFF2-40B4-BE49-F238E27FC236}">
                <a16:creationId xmlns:a16="http://schemas.microsoft.com/office/drawing/2014/main" id="{A933F124-4BBF-4DE7-94E1-A2459C58EFBA}"/>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Buffer built in: Phase 5 (reliability) serves as a natural buffer for any Phase 1–4 overruns. If all phases complete on time, Week 12–13 is purely hardening. If any phase slips, hardening absorbs the impact without pushing the AI phase.</a:t>
            </a:r>
          </a:p>
        </p:txBody>
      </p:sp>
    </p:spTree>
    <p:extLst>
      <p:ext uri="{BB962C8B-B14F-4D97-AF65-F5344CB8AC3E}">
        <p14:creationId xmlns:p14="http://schemas.microsoft.com/office/powerpoint/2010/main" val="1274019735"/>
      </p:ext>
    </p:extLst>
  </p:cSld>
</p:sld>
</file>

<file path=ppt/slides/slide1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F5FFE5-0C7C-40B0-9E08-63FF223336C3}"/>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BF8D3B84-B4B1-42D4-8817-EED6BAD88D36}"/>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Q6: Cost</a:t>
            </a:r>
          </a:p>
        </p:txBody>
      </p:sp>
      <p:sp>
        <p:nvSpPr>
          <p:cNvPr id="3" name="">
            <a:extLst xmlns:a="http://schemas.openxmlformats.org/drawingml/2006/main">
              <a:ext uri="{FF2B5EF4-FFF2-40B4-BE49-F238E27FC236}">
                <a16:creationId xmlns:a16="http://schemas.microsoft.com/office/drawing/2014/main" id="{773654FB-DDD4-4D44-9BF7-6E8226D16D2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119</a:t>
            </a:r>
          </a:p>
        </p:txBody>
      </p:sp>
      <p:sp>
        <p:nvSpPr>
          <p:cNvPr id="4" name="">
            <a:extLst xmlns:a="http://schemas.openxmlformats.org/drawingml/2006/main">
              <a:ext uri="{FF2B5EF4-FFF2-40B4-BE49-F238E27FC236}">
                <a16:creationId xmlns:a16="http://schemas.microsoft.com/office/drawing/2014/main" id="{C2E828CE-D6EB-4B4E-AB55-D233E316A4FC}"/>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recommend a time &amp; materials model with phase-based milestones — providing cost predictability while allowing flexibility for the inevitable scope refinements that happen during development.</a:t>
            </a:r>
          </a:p>
        </p:txBody>
      </p:sp>
      <p:sp>
        <p:nvSpPr>
          <p:cNvPr id="5" name="">
            <a:extLst xmlns:a="http://schemas.openxmlformats.org/drawingml/2006/main">
              <a:ext uri="{FF2B5EF4-FFF2-40B4-BE49-F238E27FC236}">
                <a16:creationId xmlns:a16="http://schemas.microsoft.com/office/drawing/2014/main" id="{78C823A7-5A43-42B3-B671-76247A4E80C7}"/>
              </a:ext>
            </a:extLst>
          </p:cNvPr>
          <p:cNvSpPr>
            <a:spLocks xmlns:a="http://schemas.openxmlformats.org/drawingml/2006/main" noGrp="1"/>
          </p:cNvSpPr>
          <p:nvPr/>
        </p:nvSpPr>
        <p:spPr>
          <a:xfrm xmlns:a="http://schemas.openxmlformats.org/drawingml/2006/main">
            <a:off x="609600" y="307276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Infrastructure costs detailed in Section 18. Development costs would be provided separately based on agreed rates.</a:t>
            </a:r>
          </a:p>
        </p:txBody>
      </p:sp>
    </p:spTree>
    <p:extLst>
      <p:ext uri="{BB962C8B-B14F-4D97-AF65-F5344CB8AC3E}">
        <p14:creationId xmlns:p14="http://schemas.microsoft.com/office/powerpoint/2010/main" val="982116877"/>
      </p:ext>
    </p:extLst>
  </p:cSld>
</p:sld>
</file>

<file path=ppt/slides/slide1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779A09-A2D6-4049-86F8-7F9BBF400BB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F2F14DAB-5562-4DDD-BF68-4FD1D29DFC8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Q7: Maintenance</a:t>
            </a:r>
          </a:p>
        </p:txBody>
      </p:sp>
      <p:sp>
        <p:nvSpPr>
          <p:cNvPr id="3" name="">
            <a:extLst xmlns:a="http://schemas.openxmlformats.org/drawingml/2006/main">
              <a:ext uri="{FF2B5EF4-FFF2-40B4-BE49-F238E27FC236}">
                <a16:creationId xmlns:a16="http://schemas.microsoft.com/office/drawing/2014/main" id="{E1D0627C-4CEF-4BA4-B6C8-6456CD3BEB8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120</a:t>
            </a:r>
          </a:p>
        </p:txBody>
      </p:sp>
      <p:sp>
        <p:nvSpPr>
          <p:cNvPr id="4" name="">
            <a:extLst xmlns:a="http://schemas.openxmlformats.org/drawingml/2006/main">
              <a:ext uri="{FF2B5EF4-FFF2-40B4-BE49-F238E27FC236}">
                <a16:creationId xmlns:a16="http://schemas.microsoft.com/office/drawing/2014/main" id="{01228516-D8BA-4D71-A131-55D316FF860F}"/>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Post-launch maintenance includes:</a:t>
            </a:r>
          </a:p>
        </p:txBody>
      </p:sp>
      <p:sp>
        <p:nvSpPr>
          <p:cNvPr id="5" name="">
            <a:extLst xmlns:a="http://schemas.openxmlformats.org/drawingml/2006/main">
              <a:ext uri="{FF2B5EF4-FFF2-40B4-BE49-F238E27FC236}">
                <a16:creationId xmlns:a16="http://schemas.microsoft.com/office/drawing/2014/main" id="{4E223205-83B8-43AE-9F9C-69CAE38D66F2}"/>
              </a:ext>
            </a:extLst>
          </p:cNvPr>
          <p:cNvSpPr>
            <a:spLocks xmlns:a="http://schemas.openxmlformats.org/drawingml/2006/main" noGrp="1"/>
          </p:cNvSpPr>
          <p:nvPr/>
        </p:nvSpPr>
        <p:spPr>
          <a:xfrm xmlns:a="http://schemas.openxmlformats.org/drawingml/2006/main">
            <a:off x="609600" y="24784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Included in SLA: Bug fixes, security patches, dependency updates, platform API compatibility updates, monitoring and alerting response</a:t>
            </a:r>
          </a:p>
        </p:txBody>
      </p:sp>
      <p:sp>
        <p:nvSpPr>
          <p:cNvPr id="6" name="">
            <a:extLst xmlns:a="http://schemas.openxmlformats.org/drawingml/2006/main">
              <a:ext uri="{FF2B5EF4-FFF2-40B4-BE49-F238E27FC236}">
                <a16:creationId xmlns:a16="http://schemas.microsoft.com/office/drawing/2014/main" id="{50E01B6F-D63A-439B-B540-E07FFFB8A5B2}"/>
              </a:ext>
            </a:extLst>
          </p:cNvPr>
          <p:cNvSpPr>
            <a:spLocks xmlns:a="http://schemas.openxmlformats.org/drawingml/2006/main" noGrp="1"/>
          </p:cNvSpPr>
          <p:nvPr/>
        </p:nvSpPr>
        <p:spPr>
          <a:xfrm xmlns:a="http://schemas.openxmlformats.org/drawingml/2006/main">
            <a:off x="609600" y="330136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Change requests: Scoped and estimated within 48 hours. Small changes (add a field, adjust a chart) are typically 2–8 hours. New platform connectors are 1–2 week mini-projects. Priced at agreed hourly rate.</a:t>
            </a:r>
          </a:p>
        </p:txBody>
      </p:sp>
      <p:sp>
        <p:nvSpPr>
          <p:cNvPr id="7" name="">
            <a:extLst xmlns:a="http://schemas.openxmlformats.org/drawingml/2006/main">
              <a:ext uri="{FF2B5EF4-FFF2-40B4-BE49-F238E27FC236}">
                <a16:creationId xmlns:a16="http://schemas.microsoft.com/office/drawing/2014/main" id="{3CF0F8F4-1CB0-470E-A68C-692E0335C790}"/>
              </a:ext>
            </a:extLst>
          </p:cNvPr>
          <p:cNvSpPr>
            <a:spLocks xmlns:a="http://schemas.openxmlformats.org/drawingml/2006/main" noGrp="1"/>
          </p:cNvSpPr>
          <p:nvPr/>
        </p:nvSpPr>
        <p:spPr>
          <a:xfrm xmlns:a="http://schemas.openxmlformats.org/drawingml/2006/main">
            <a:off x="609600" y="44215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Platform API monitoring: We proactively monitor for API changes and handle updates before they break the product</a:t>
            </a:r>
          </a:p>
        </p:txBody>
      </p:sp>
      <p:sp>
        <p:nvSpPr>
          <p:cNvPr id="8" name="">
            <a:extLst xmlns:a="http://schemas.openxmlformats.org/drawingml/2006/main">
              <a:ext uri="{FF2B5EF4-FFF2-40B4-BE49-F238E27FC236}">
                <a16:creationId xmlns:a16="http://schemas.microsoft.com/office/drawing/2014/main" id="{3D914D04-9DE0-4275-B8F8-0575A66C2522}"/>
              </a:ext>
            </a:extLst>
          </p:cNvPr>
          <p:cNvSpPr>
            <a:spLocks xmlns:a="http://schemas.openxmlformats.org/drawingml/2006/main" noGrp="1"/>
          </p:cNvSpPr>
          <p:nvPr/>
        </p:nvSpPr>
        <p:spPr>
          <a:xfrm xmlns:a="http://schemas.openxmlformats.org/drawingml/2006/main">
            <a:off x="609600" y="524446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Detailed in Section 19.</a:t>
            </a:r>
          </a:p>
        </p:txBody>
      </p:sp>
    </p:spTree>
    <p:extLst>
      <p:ext uri="{BB962C8B-B14F-4D97-AF65-F5344CB8AC3E}">
        <p14:creationId xmlns:p14="http://schemas.microsoft.com/office/powerpoint/2010/main" val="45277671"/>
      </p:ext>
    </p:extLst>
  </p:cSld>
</p:sld>
</file>

<file path=ppt/slides/slide1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1559E0-0D33-4320-A629-1922CD3CA981}"/>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BB8D2C1B-CF85-48F7-8D11-F3123026ACC9}"/>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Q8: AI-Assisted Delivery</a:t>
            </a:r>
          </a:p>
        </p:txBody>
      </p:sp>
      <p:sp>
        <p:nvSpPr>
          <p:cNvPr id="3" name="">
            <a:extLst xmlns:a="http://schemas.openxmlformats.org/drawingml/2006/main">
              <a:ext uri="{FF2B5EF4-FFF2-40B4-BE49-F238E27FC236}">
                <a16:creationId xmlns:a16="http://schemas.microsoft.com/office/drawing/2014/main" id="{1F57812A-19AB-4776-8DED-3563DCA1A23B}"/>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121</a:t>
            </a:r>
          </a:p>
        </p:txBody>
      </p:sp>
      <p:sp>
        <p:nvSpPr>
          <p:cNvPr id="4" name="">
            <a:extLst xmlns:a="http://schemas.openxmlformats.org/drawingml/2006/main">
              <a:ext uri="{FF2B5EF4-FFF2-40B4-BE49-F238E27FC236}">
                <a16:creationId xmlns:a16="http://schemas.microsoft.com/office/drawing/2014/main" id="{64466FC2-9F44-4385-B499-1FE6EA0F4F69}"/>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Our team uses AI coding assistants extensively:</a:t>
            </a:r>
          </a:p>
        </p:txBody>
      </p:sp>
      <p:sp>
        <p:nvSpPr>
          <p:cNvPr id="5" name="">
            <a:extLst xmlns:a="http://schemas.openxmlformats.org/drawingml/2006/main">
              <a:ext uri="{FF2B5EF4-FFF2-40B4-BE49-F238E27FC236}">
                <a16:creationId xmlns:a16="http://schemas.microsoft.com/office/drawing/2014/main" id="{4171DE7F-8FFF-4E46-A3F4-DB2DF6B7A40D}"/>
              </a:ext>
            </a:extLst>
          </p:cNvPr>
          <p:cNvSpPr>
            <a:spLocks xmlns:a="http://schemas.openxmlformats.org/drawingml/2006/main" noGrp="1"/>
          </p:cNvSpPr>
          <p:nvPr/>
        </p:nvSpPr>
        <p:spPr>
          <a:xfrm xmlns:a="http://schemas.openxmlformats.org/drawingml/2006/main">
            <a:off x="609600" y="247840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Code generation: GitHub Copilot and Claude for boilerplate, test generation, and connector implementations</a:t>
            </a:r>
          </a:p>
        </p:txBody>
      </p:sp>
      <p:sp>
        <p:nvSpPr>
          <p:cNvPr id="6" name="">
            <a:extLst xmlns:a="http://schemas.openxmlformats.org/drawingml/2006/main">
              <a:ext uri="{FF2B5EF4-FFF2-40B4-BE49-F238E27FC236}">
                <a16:creationId xmlns:a16="http://schemas.microsoft.com/office/drawing/2014/main" id="{8521630B-4F1A-4CB7-B2E4-A7E6AB63B007}"/>
              </a:ext>
            </a:extLst>
          </p:cNvPr>
          <p:cNvSpPr>
            <a:spLocks xmlns:a="http://schemas.openxmlformats.org/drawingml/2006/main" noGrp="1"/>
          </p:cNvSpPr>
          <p:nvPr/>
        </p:nvSpPr>
        <p:spPr>
          <a:xfrm xmlns:a="http://schemas.openxmlformats.org/drawingml/2006/main">
            <a:off x="609600" y="330136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Architecture review: AI-assisted code review for security and performance patterns</a:t>
            </a:r>
          </a:p>
        </p:txBody>
      </p:sp>
      <p:sp>
        <p:nvSpPr>
          <p:cNvPr id="7" name="">
            <a:extLst xmlns:a="http://schemas.openxmlformats.org/drawingml/2006/main">
              <a:ext uri="{FF2B5EF4-FFF2-40B4-BE49-F238E27FC236}">
                <a16:creationId xmlns:a16="http://schemas.microsoft.com/office/drawing/2014/main" id="{9B19F2B3-FD39-42D4-A1D3-DE20259F6ED1}"/>
              </a:ext>
            </a:extLst>
          </p:cNvPr>
          <p:cNvSpPr>
            <a:spLocks xmlns:a="http://schemas.openxmlformats.org/drawingml/2006/main" noGrp="1"/>
          </p:cNvSpPr>
          <p:nvPr/>
        </p:nvSpPr>
        <p:spPr>
          <a:xfrm xmlns:a="http://schemas.openxmlformats.org/drawingml/2006/main">
            <a:off x="609600" y="382714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Documentation: AI-assisted API documentation and technical writing</a:t>
            </a:r>
          </a:p>
        </p:txBody>
      </p:sp>
      <p:sp>
        <p:nvSpPr>
          <p:cNvPr id="8" name="">
            <a:extLst xmlns:a="http://schemas.openxmlformats.org/drawingml/2006/main">
              <a:ext uri="{FF2B5EF4-FFF2-40B4-BE49-F238E27FC236}">
                <a16:creationId xmlns:a16="http://schemas.microsoft.com/office/drawing/2014/main" id="{93F1914E-02CE-475C-BE50-8AE10D8D0562}"/>
              </a:ext>
            </a:extLst>
          </p:cNvPr>
          <p:cNvSpPr>
            <a:spLocks xmlns:a="http://schemas.openxmlformats.org/drawingml/2006/main" noGrp="1"/>
          </p:cNvSpPr>
          <p:nvPr/>
        </p:nvSpPr>
        <p:spPr>
          <a:xfrm xmlns:a="http://schemas.openxmlformats.org/drawingml/2006/main">
            <a:off x="609600" y="43529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Impact: AI tools have reduced boilerplate development time by approximately 30–40%, allowing us to dedicate more human time to architecture decisions, security review, and edge case handling. This is reflected in our timeline — the 16-week estimate accounts for AI-assisted velocity.</a:t>
            </a:r>
          </a:p>
        </p:txBody>
      </p:sp>
    </p:spTree>
    <p:extLst>
      <p:ext uri="{BB962C8B-B14F-4D97-AF65-F5344CB8AC3E}">
        <p14:creationId xmlns:p14="http://schemas.microsoft.com/office/powerpoint/2010/main" val="1428981977"/>
      </p:ext>
    </p:extLst>
  </p:cSld>
</p:sld>
</file>

<file path=ppt/slides/slide1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E8A0EC-4905-476E-AC8D-55C41BB8F6B5}"/>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D937A099-CB13-4E05-A80C-C72E44AB72C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Q9: Backend Platform Experience</a:t>
            </a:r>
          </a:p>
        </p:txBody>
      </p:sp>
      <p:sp>
        <p:nvSpPr>
          <p:cNvPr id="3" name="">
            <a:extLst xmlns:a="http://schemas.openxmlformats.org/drawingml/2006/main">
              <a:ext uri="{FF2B5EF4-FFF2-40B4-BE49-F238E27FC236}">
                <a16:creationId xmlns:a16="http://schemas.microsoft.com/office/drawing/2014/main" id="{D9E21CB2-815C-464B-A3C7-17CB9C5F53D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122</a:t>
            </a:r>
          </a:p>
        </p:txBody>
      </p:sp>
      <p:sp>
        <p:nvSpPr>
          <p:cNvPr id="4" name="">
            <a:extLst xmlns:a="http://schemas.openxmlformats.org/drawingml/2006/main">
              <a:ext uri="{FF2B5EF4-FFF2-40B4-BE49-F238E27FC236}">
                <a16:creationId xmlns:a16="http://schemas.microsoft.com/office/drawing/2014/main" id="{BDCCABE5-F0B1-48C8-A608-67B25AADDEAD}"/>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We have built on both schema-driven platforms (Supabase, Firebase) and fully hand-rolled backends. Our honest assessment for this project:</a:t>
            </a:r>
          </a:p>
        </p:txBody>
      </p:sp>
      <p:sp>
        <p:nvSpPr>
          <p:cNvPr id="5" name="">
            <a:extLst xmlns:a="http://schemas.openxmlformats.org/drawingml/2006/main">
              <a:ext uri="{FF2B5EF4-FFF2-40B4-BE49-F238E27FC236}">
                <a16:creationId xmlns:a16="http://schemas.microsoft.com/office/drawing/2014/main" id="{C477626D-4FA0-4EA7-97E5-469866D463E9}"/>
              </a:ext>
            </a:extLst>
          </p:cNvPr>
          <p:cNvSpPr>
            <a:spLocks xmlns:a="http://schemas.openxmlformats.org/drawingml/2006/main" noGrp="1"/>
          </p:cNvSpPr>
          <p:nvPr/>
        </p:nvSpPr>
        <p:spPr>
          <a:xfrm xmlns:a="http://schemas.openxmlformats.org/drawingml/2006/main">
            <a:off x="609600" y="277558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Supabase would accelerate initial development (auth, RLS, real-time) but would constrain the data pipeline architecture. The sync pipeline’s requirements — complex retry logic, rate limit coordination across four platforms, multi-step normalization, dead letter queues — exceed what Edge Functions can reliably handle.</a:t>
            </a:r>
          </a:p>
        </p:txBody>
      </p:sp>
      <p:sp>
        <p:nvSpPr>
          <p:cNvPr id="6" name="">
            <a:extLst xmlns:a="http://schemas.openxmlformats.org/drawingml/2006/main">
              <a:ext uri="{FF2B5EF4-FFF2-40B4-BE49-F238E27FC236}">
                <a16:creationId xmlns:a16="http://schemas.microsoft.com/office/drawing/2014/main" id="{202135B2-B18D-40F3-9D1D-2FDBF6F57F79}"/>
              </a:ext>
            </a:extLst>
          </p:cNvPr>
          <p:cNvSpPr>
            <a:spLocks xmlns:a="http://schemas.openxmlformats.org/drawingml/2006/main" noGrp="1"/>
          </p:cNvSpPr>
          <p:nvPr/>
        </p:nvSpPr>
        <p:spPr>
          <a:xfrm xmlns:a="http://schemas.openxmlformats.org/drawingml/2006/main">
            <a:off x="609600" y="4192905"/>
            <a:ext cx="108108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Our recommendation: hand-rolled NestJS backend with PostgreSQL (using many of the same patterns Supabase implements internally, like RLS). This gives us full control over the pipeline architecture while maintaining the speed benefits of TypeScript and a structured framework. Trade-off: slightly more upfront setup, but significantly more flexibility for the complex async processing this project requires.</a:t>
            </a:r>
          </a:p>
        </p:txBody>
      </p:sp>
    </p:spTree>
    <p:extLst>
      <p:ext uri="{BB962C8B-B14F-4D97-AF65-F5344CB8AC3E}">
        <p14:creationId xmlns:p14="http://schemas.microsoft.com/office/powerpoint/2010/main" val="586725866"/>
      </p:ext>
    </p:extLst>
  </p:cSld>
</p:sld>
</file>

<file path=ppt/slides/slide1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1EE071-9024-4514-83A7-06FFEEDC7498}"/>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85E29795-5346-44AE-ADAC-1C78207903A4}"/>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Q10: Infrastructure &amp; Hosting</a:t>
            </a:r>
          </a:p>
        </p:txBody>
      </p:sp>
      <p:sp>
        <p:nvSpPr>
          <p:cNvPr id="3" name="">
            <a:extLst xmlns:a="http://schemas.openxmlformats.org/drawingml/2006/main">
              <a:ext uri="{FF2B5EF4-FFF2-40B4-BE49-F238E27FC236}">
                <a16:creationId xmlns:a16="http://schemas.microsoft.com/office/drawing/2014/main" id="{B5654E9B-8202-428F-ABFE-48F051C9C2F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123</a:t>
            </a:r>
          </a:p>
        </p:txBody>
      </p:sp>
      <p:sp>
        <p:nvSpPr>
          <p:cNvPr id="4" name="">
            <a:extLst xmlns:a="http://schemas.openxmlformats.org/drawingml/2006/main">
              <a:ext uri="{FF2B5EF4-FFF2-40B4-BE49-F238E27FC236}">
                <a16:creationId xmlns:a16="http://schemas.microsoft.com/office/drawing/2014/main" id="{97E7F7D2-965A-4047-BEC0-B6E01BDC6E1E}"/>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AWS — ECS Fargate for containers, RDS PostgreSQL for database, ElastiCache for Redis, S3 for storage, CloudFront for CDN.</a:t>
            </a:r>
          </a:p>
        </p:txBody>
      </p:sp>
      <p:sp>
        <p:nvSpPr>
          <p:cNvPr id="5" name="">
            <a:extLst xmlns:a="http://schemas.openxmlformats.org/drawingml/2006/main">
              <a:ext uri="{FF2B5EF4-FFF2-40B4-BE49-F238E27FC236}">
                <a16:creationId xmlns:a16="http://schemas.microsoft.com/office/drawing/2014/main" id="{3DC5E04B-A388-44F7-8DC8-B9AB25DC2E58}"/>
              </a:ext>
            </a:extLst>
          </p:cNvPr>
          <p:cNvSpPr>
            <a:spLocks xmlns:a="http://schemas.openxmlformats.org/drawingml/2006/main" noGrp="1"/>
          </p:cNvSpPr>
          <p:nvPr/>
        </p:nvSpPr>
        <p:spPr>
          <a:xfrm xmlns:a="http://schemas.openxmlformats.org/drawingml/2006/main">
            <a:off x="609600" y="27755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Per-tenant infrastructure cost at moderate scale (100 tenants): ~$6–7/month per tenant excluding AI token costs. At 500 tenants: ~$2.40/month per tenant. Detailed breakdown in Section 18.</a:t>
            </a:r>
          </a:p>
        </p:txBody>
      </p:sp>
    </p:spTree>
    <p:extLst>
      <p:ext uri="{BB962C8B-B14F-4D97-AF65-F5344CB8AC3E}">
        <p14:creationId xmlns:p14="http://schemas.microsoft.com/office/powerpoint/2010/main" val="1531874648"/>
      </p:ext>
    </p:extLst>
  </p:cSld>
</p:sld>
</file>

<file path=ppt/slides/slide1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84016F-E46E-4B0B-9FD2-DE5EFFB594F5}"/>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A0073929-4468-485E-8233-FA37418156E5}"/>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Q11: AI/Agent Build</a:t>
            </a:r>
          </a:p>
        </p:txBody>
      </p:sp>
      <p:sp>
        <p:nvSpPr>
          <p:cNvPr id="3" name="">
            <a:extLst xmlns:a="http://schemas.openxmlformats.org/drawingml/2006/main">
              <a:ext uri="{FF2B5EF4-FFF2-40B4-BE49-F238E27FC236}">
                <a16:creationId xmlns:a16="http://schemas.microsoft.com/office/drawing/2014/main" id="{579CF17D-1CC9-4AF0-968B-04D9F1B713E5}"/>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124</a:t>
            </a:r>
          </a:p>
        </p:txBody>
      </p:sp>
      <p:sp>
        <p:nvSpPr>
          <p:cNvPr id="4" name="">
            <a:extLst xmlns:a="http://schemas.openxmlformats.org/drawingml/2006/main">
              <a:ext uri="{FF2B5EF4-FFF2-40B4-BE49-F238E27FC236}">
                <a16:creationId xmlns:a16="http://schemas.microsoft.com/office/drawing/2014/main" id="{2EE36A3F-9C30-4631-ABC8-B70F3B74588C}"/>
              </a:ext>
            </a:extLst>
          </p:cNvPr>
          <p:cNvSpPr>
            <a:spLocks xmlns:a="http://schemas.openxmlformats.org/drawingml/2006/main" noGrp="1"/>
          </p:cNvSpPr>
          <p:nvPr/>
        </p:nvSpPr>
        <p:spPr>
          <a:xfrm xmlns:a="http://schemas.openxmlformats.org/drawingml/2006/main">
            <a:off x="609600" y="195262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Yes, we have in-house expertise building AI-powered features. For the natural-language insights layer:</a:t>
            </a:r>
          </a:p>
        </p:txBody>
      </p:sp>
      <p:sp>
        <p:nvSpPr>
          <p:cNvPr id="5" name="">
            <a:extLst xmlns:a="http://schemas.openxmlformats.org/drawingml/2006/main">
              <a:ext uri="{FF2B5EF4-FFF2-40B4-BE49-F238E27FC236}">
                <a16:creationId xmlns:a16="http://schemas.microsoft.com/office/drawing/2014/main" id="{A3EB1CA2-75E1-4544-BA01-4DD61C5EB4F9}"/>
              </a:ext>
            </a:extLst>
          </p:cNvPr>
          <p:cNvSpPr>
            <a:spLocks xmlns:a="http://schemas.openxmlformats.org/drawingml/2006/main" noGrp="1"/>
          </p:cNvSpPr>
          <p:nvPr/>
        </p:nvSpPr>
        <p:spPr>
          <a:xfrm xmlns:a="http://schemas.openxmlformats.org/drawingml/2006/main">
            <a:off x="609600" y="27755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Tech stack: LangChain.js + OpenAI GPT-4o for SQL generation, GPT-4o-mini for response synthesis</a:t>
            </a:r>
          </a:p>
        </p:txBody>
      </p:sp>
      <p:sp>
        <p:nvSpPr>
          <p:cNvPr id="6" name="">
            <a:extLst xmlns:a="http://schemas.openxmlformats.org/drawingml/2006/main">
              <a:ext uri="{FF2B5EF4-FFF2-40B4-BE49-F238E27FC236}">
                <a16:creationId xmlns:a16="http://schemas.microsoft.com/office/drawing/2014/main" id="{324D0CE7-6057-4522-92FE-2E8186F8408F}"/>
              </a:ext>
            </a:extLst>
          </p:cNvPr>
          <p:cNvSpPr>
            <a:spLocks xmlns:a="http://schemas.openxmlformats.org/drawingml/2006/main" noGrp="1"/>
          </p:cNvSpPr>
          <p:nvPr/>
        </p:nvSpPr>
        <p:spPr>
          <a:xfrm xmlns:a="http://schemas.openxmlformats.org/drawingml/2006/main">
            <a:off x="609600" y="359854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Approach: Text-to-SQL with schema-aware prompting, SQL validation layer, tenant-scoped execution</a:t>
            </a:r>
          </a:p>
        </p:txBody>
      </p:sp>
      <p:sp>
        <p:nvSpPr>
          <p:cNvPr id="7" name="">
            <a:extLst xmlns:a="http://schemas.openxmlformats.org/drawingml/2006/main">
              <a:ext uri="{FF2B5EF4-FFF2-40B4-BE49-F238E27FC236}">
                <a16:creationId xmlns:a16="http://schemas.microsoft.com/office/drawing/2014/main" id="{0DBB304B-408A-4BBA-B8D1-078B8EFABA63}"/>
              </a:ext>
            </a:extLst>
          </p:cNvPr>
          <p:cNvSpPr>
            <a:spLocks xmlns:a="http://schemas.openxmlformats.org/drawingml/2006/main" noGrp="1"/>
          </p:cNvSpPr>
          <p:nvPr/>
        </p:nvSpPr>
        <p:spPr>
          <a:xfrm xmlns:a="http://schemas.openxmlformats.org/drawingml/2006/main">
            <a:off x="609600" y="442150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Team: 1 senior engineer with LLM/RAG experience + 1 backend engineer</a:t>
            </a:r>
          </a:p>
        </p:txBody>
      </p:sp>
      <p:sp>
        <p:nvSpPr>
          <p:cNvPr id="8" name="">
            <a:extLst xmlns:a="http://schemas.openxmlformats.org/drawingml/2006/main">
              <a:ext uri="{FF2B5EF4-FFF2-40B4-BE49-F238E27FC236}">
                <a16:creationId xmlns:a16="http://schemas.microsoft.com/office/drawing/2014/main" id="{2DA832D9-8ED9-4285-ABC9-31B8AF48A23E}"/>
              </a:ext>
            </a:extLst>
          </p:cNvPr>
          <p:cNvSpPr>
            <a:spLocks xmlns:a="http://schemas.openxmlformats.org/drawingml/2006/main" noGrp="1"/>
          </p:cNvSpPr>
          <p:nvPr/>
        </p:nvSpPr>
        <p:spPr>
          <a:xfrm xmlns:a="http://schemas.openxmlformats.org/drawingml/2006/main">
            <a:off x="609600" y="49472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Effort relative to rest of build: ~20% of total engineering effort (3 weeks out of 16). The data pipeline and multi-tenancy foundation are the heavier lifts.</a:t>
            </a:r>
          </a:p>
        </p:txBody>
      </p:sp>
    </p:spTree>
    <p:extLst>
      <p:ext uri="{BB962C8B-B14F-4D97-AF65-F5344CB8AC3E}">
        <p14:creationId xmlns:p14="http://schemas.microsoft.com/office/powerpoint/2010/main" val="368614104"/>
      </p:ext>
    </p:extLst>
  </p:cSld>
</p:sld>
</file>

<file path=ppt/slides/slide12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2607E1-B1FF-4491-B8BA-311EE857852D}"/>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DA18CC5A-B66C-43AF-8DD0-559C952F45A3}"/>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Q11: AI/Agent Build</a:t>
            </a:r>
          </a:p>
        </p:txBody>
      </p:sp>
      <p:sp>
        <p:nvSpPr>
          <p:cNvPr id="3" name="">
            <a:extLst xmlns:a="http://schemas.openxmlformats.org/drawingml/2006/main">
              <a:ext uri="{FF2B5EF4-FFF2-40B4-BE49-F238E27FC236}">
                <a16:creationId xmlns:a16="http://schemas.microsoft.com/office/drawing/2014/main" id="{F0429B68-E52D-46EA-9F56-1B379BBDE62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125</a:t>
            </a:r>
          </a:p>
        </p:txBody>
      </p:sp>
      <p:sp>
        <p:nvSpPr>
          <p:cNvPr id="4" name="">
            <a:extLst xmlns:a="http://schemas.openxmlformats.org/drawingml/2006/main">
              <a:ext uri="{FF2B5EF4-FFF2-40B4-BE49-F238E27FC236}">
                <a16:creationId xmlns:a16="http://schemas.microsoft.com/office/drawing/2014/main" id="{6677B795-25DC-4E67-9354-9DB964222336}"/>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MCP: We’re familiar with Model Context Protocol and could use it for tool-use patterns, but for this specific use case (structured data → SQL → response), a direct Text-to-SQL pipeline is more appropriate and reliable.</a:t>
            </a:r>
          </a:p>
        </p:txBody>
      </p:sp>
      <p:sp>
        <p:nvSpPr>
          <p:cNvPr id="5" name="">
            <a:extLst xmlns:a="http://schemas.openxmlformats.org/drawingml/2006/main">
              <a:ext uri="{FF2B5EF4-FFF2-40B4-BE49-F238E27FC236}">
                <a16:creationId xmlns:a16="http://schemas.microsoft.com/office/drawing/2014/main" id="{BFB4E864-7672-4460-87DF-381C1AEE10EA}"/>
              </a:ext>
            </a:extLst>
          </p:cNvPr>
          <p:cNvSpPr>
            <a:spLocks xmlns:a="http://schemas.openxmlformats.org/drawingml/2006/main" noGrp="1"/>
          </p:cNvSpPr>
          <p:nvPr/>
        </p:nvSpPr>
        <p:spPr>
          <a:xfrm xmlns:a="http://schemas.openxmlformats.org/drawingml/2006/main">
            <a:off x="609600" y="307276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Detailed architecture in Section 10.</a:t>
            </a:r>
          </a:p>
        </p:txBody>
      </p:sp>
    </p:spTree>
    <p:extLst>
      <p:ext uri="{BB962C8B-B14F-4D97-AF65-F5344CB8AC3E}">
        <p14:creationId xmlns:p14="http://schemas.microsoft.com/office/powerpoint/2010/main" val="1677443417"/>
      </p:ext>
    </p:extLst>
  </p:cSld>
</p:sld>
</file>

<file path=ppt/slides/slide12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07C5B2-BED7-4AF6-A361-E0BC558B7119}"/>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0E851A9D-4482-4FE7-8552-28487517FDD1}"/>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Q12: Risks</a:t>
            </a:r>
          </a:p>
        </p:txBody>
      </p:sp>
      <p:sp>
        <p:nvSpPr>
          <p:cNvPr id="3" name="">
            <a:extLst xmlns:a="http://schemas.openxmlformats.org/drawingml/2006/main">
              <a:ext uri="{FF2B5EF4-FFF2-40B4-BE49-F238E27FC236}">
                <a16:creationId xmlns:a16="http://schemas.microsoft.com/office/drawing/2014/main" id="{86D6274F-6480-454F-8981-23892D79C14E}"/>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126</a:t>
            </a:r>
          </a:p>
        </p:txBody>
      </p:sp>
      <p:sp>
        <p:nvSpPr>
          <p:cNvPr id="4" name="">
            <a:extLst xmlns:a="http://schemas.openxmlformats.org/drawingml/2006/main">
              <a:ext uri="{FF2B5EF4-FFF2-40B4-BE49-F238E27FC236}">
                <a16:creationId xmlns:a16="http://schemas.microsoft.com/office/drawing/2014/main" id="{F4A5036B-B8B5-481B-A56B-B92B56C28A92}"/>
              </a:ext>
            </a:extLst>
          </p:cNvPr>
          <p:cNvSpPr>
            <a:spLocks xmlns:a="http://schemas.openxmlformats.org/drawingml/2006/main" noGrp="1"/>
          </p:cNvSpPr>
          <p:nvPr/>
        </p:nvSpPr>
        <p:spPr>
          <a:xfrm xmlns:a="http://schemas.openxmlformats.org/drawingml/2006/main">
            <a:off x="609600" y="1952625"/>
            <a:ext cx="10810875"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The riskiest parts of this brief as written:</a:t>
            </a:r>
          </a:p>
        </p:txBody>
      </p:sp>
      <p:sp>
        <p:nvSpPr>
          <p:cNvPr id="5" name="">
            <a:extLst xmlns:a="http://schemas.openxmlformats.org/drawingml/2006/main">
              <a:ext uri="{FF2B5EF4-FFF2-40B4-BE49-F238E27FC236}">
                <a16:creationId xmlns:a16="http://schemas.microsoft.com/office/drawing/2014/main" id="{8EAD3E33-E8CC-4F32-92F1-53EED6A140B3}"/>
              </a:ext>
            </a:extLst>
          </p:cNvPr>
          <p:cNvSpPr>
            <a:spLocks xmlns:a="http://schemas.openxmlformats.org/drawingml/2006/main" noGrp="1"/>
          </p:cNvSpPr>
          <p:nvPr/>
        </p:nvSpPr>
        <p:spPr>
          <a:xfrm xmlns:a="http://schemas.openxmlformats.org/drawingml/2006/main">
            <a:off x="609600" y="247840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Platform API access and approval timelines — Getting production-level API access (especially LinkedIn Marketing API) can take weeks. This is outside our control and could delay Phase 2 if not started immediately.</a:t>
            </a:r>
          </a:p>
        </p:txBody>
      </p:sp>
      <p:sp>
        <p:nvSpPr>
          <p:cNvPr id="6" name="">
            <a:extLst xmlns:a="http://schemas.openxmlformats.org/drawingml/2006/main">
              <a:ext uri="{FF2B5EF4-FFF2-40B4-BE49-F238E27FC236}">
                <a16:creationId xmlns:a16="http://schemas.microsoft.com/office/drawing/2014/main" id="{C0AFF8CA-20F4-4276-B06A-8A8E037988B8}"/>
              </a:ext>
            </a:extLst>
          </p:cNvPr>
          <p:cNvSpPr>
            <a:spLocks xmlns:a="http://schemas.openxmlformats.org/drawingml/2006/main" noGrp="1"/>
          </p:cNvSpPr>
          <p:nvPr/>
        </p:nvSpPr>
        <p:spPr>
          <a:xfrm xmlns:a="http://schemas.openxmlformats.org/drawingml/2006/main">
            <a:off x="609600" y="359854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Natural-language insights accuracy expectations — LLMs are probabilistic. While we can achieve high accuracy for common questions (“Which channel had the most engagement?”), edge cases and complex multi-step questions will sometimes produce incorrect results. Setting appropriate user expectations and building robust fallbacks is critical.</a:t>
            </a:r>
          </a:p>
        </p:txBody>
      </p:sp>
    </p:spTree>
    <p:extLst>
      <p:ext uri="{BB962C8B-B14F-4D97-AF65-F5344CB8AC3E}">
        <p14:creationId xmlns:p14="http://schemas.microsoft.com/office/powerpoint/2010/main" val="1458732353"/>
      </p:ext>
    </p:extLst>
  </p:cSld>
</p:sld>
</file>

<file path=ppt/slides/slide12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DE9C5F-937E-46BA-81E9-E7BF59508DD5}"/>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2C1B5343-67A4-43E8-8CF3-53942A9716A8}"/>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Q12: Risks</a:t>
            </a:r>
          </a:p>
        </p:txBody>
      </p:sp>
      <p:sp>
        <p:nvSpPr>
          <p:cNvPr id="3" name="">
            <a:extLst xmlns:a="http://schemas.openxmlformats.org/drawingml/2006/main">
              <a:ext uri="{FF2B5EF4-FFF2-40B4-BE49-F238E27FC236}">
                <a16:creationId xmlns:a16="http://schemas.microsoft.com/office/drawing/2014/main" id="{7A3DDDC4-B380-466F-8411-8F5026E2EC31}"/>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127</a:t>
            </a:r>
          </a:p>
        </p:txBody>
      </p:sp>
      <p:sp>
        <p:nvSpPr>
          <p:cNvPr id="4" name="">
            <a:extLst xmlns:a="http://schemas.openxmlformats.org/drawingml/2006/main">
              <a:ext uri="{FF2B5EF4-FFF2-40B4-BE49-F238E27FC236}">
                <a16:creationId xmlns:a16="http://schemas.microsoft.com/office/drawing/2014/main" id="{2A3002E9-9039-4ECF-8E15-4A30EDA78C36}"/>
              </a:ext>
            </a:extLst>
          </p:cNvPr>
          <p:cNvSpPr>
            <a:spLocks xmlns:a="http://schemas.openxmlformats.org/drawingml/2006/main" noGrp="1"/>
          </p:cNvSpPr>
          <p:nvPr/>
        </p:nvSpPr>
        <p:spPr>
          <a:xfrm xmlns:a="http://schemas.openxmlformats.org/drawingml/2006/main">
            <a:off x="609600" y="1952625"/>
            <a:ext cx="10810875" cy="1264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The “eventually actionable” aspiration — Moving from Q&amp;A insights to proactive recommendations (“You should post more on Tuesdays because…”) is a significant leap in AI complexity. The brief correctly sequences this later, but it should be treated as a separate project with its own evaluation criteria.</a:t>
            </a:r>
          </a:p>
        </p:txBody>
      </p:sp>
      <p:sp>
        <p:nvSpPr>
          <p:cNvPr id="5" name="">
            <a:extLst xmlns:a="http://schemas.openxmlformats.org/drawingml/2006/main">
              <a:ext uri="{FF2B5EF4-FFF2-40B4-BE49-F238E27FC236}">
                <a16:creationId xmlns:a16="http://schemas.microsoft.com/office/drawing/2014/main" id="{8602EE37-4D92-479A-918C-3B0587298C75}"/>
              </a:ext>
            </a:extLst>
          </p:cNvPr>
          <p:cNvSpPr>
            <a:spLocks xmlns:a="http://schemas.openxmlformats.org/drawingml/2006/main" noGrp="1"/>
          </p:cNvSpPr>
          <p:nvPr/>
        </p:nvSpPr>
        <p:spPr>
          <a:xfrm xmlns:a="http://schemas.openxmlformats.org/drawingml/2006/main">
            <a:off x="609600" y="336994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Least-defined parts: - Exact historical data retention expectations (how far back to pull on initial sync?) - Agency multi-client management specifics (billing model, client onboarding flow) - Target tenant count for infrastructure sizing</a:t>
            </a:r>
          </a:p>
        </p:txBody>
      </p:sp>
      <p:sp>
        <p:nvSpPr>
          <p:cNvPr id="6" name="">
            <a:extLst xmlns:a="http://schemas.openxmlformats.org/drawingml/2006/main">
              <a:ext uri="{FF2B5EF4-FFF2-40B4-BE49-F238E27FC236}">
                <a16:creationId xmlns:a16="http://schemas.microsoft.com/office/drawing/2014/main" id="{7198087A-47BC-4719-B0B6-9B5DF811EDB1}"/>
              </a:ext>
            </a:extLst>
          </p:cNvPr>
          <p:cNvSpPr>
            <a:spLocks xmlns:a="http://schemas.openxmlformats.org/drawingml/2006/main" noGrp="1"/>
          </p:cNvSpPr>
          <p:nvPr/>
        </p:nvSpPr>
        <p:spPr>
          <a:xfrm xmlns:a="http://schemas.openxmlformats.org/drawingml/2006/main">
            <a:off x="609600" y="4490085"/>
            <a:ext cx="1081087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These are normal gaps at the proposal stage. We’d clarify them in a kickoff workshop before Phase 1 begins.</a:t>
            </a:r>
          </a:p>
        </p:txBody>
      </p:sp>
    </p:spTree>
    <p:extLst>
      <p:ext uri="{BB962C8B-B14F-4D97-AF65-F5344CB8AC3E}">
        <p14:creationId xmlns:p14="http://schemas.microsoft.com/office/powerpoint/2010/main" val="1227040759"/>
      </p:ext>
    </p:extLst>
  </p:cSld>
</p:sld>
</file>

<file path=ppt/slides/slide12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65631C-1AA6-4D60-B790-84D61AE8E724}"/>
              </a:ext>
            </a:extLst>
          </p:cNvPr>
          <p:cNvSpPr>
            <a:spLocks xmlns:a="http://schemas.openxmlformats.org/drawingml/2006/main" noGrp="1"/>
          </p:cNvSpPr>
          <p:nvPr/>
        </p:nvSpPr>
        <p:spPr>
          <a:xfrm xmlns:a="http://schemas.openxmlformats.org/drawingml/2006/main">
            <a:off x="609600" y="2857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087F83"/>
                </a:solidFill>
                <a:latin typeface="Aptos"/>
                <a:ea typeface="Aptos"/>
                <a:cs typeface="Aptos"/>
              </a:defRPr>
            </a:pPr>
            <a:r>
              <a:rPr sz="1200" b="1">
                <a:solidFill>
                  <a:srgbClr val="087F83"/>
                </a:solidFill>
                <a:latin typeface="Aptos"/>
                <a:ea typeface="Aptos"/>
                <a:cs typeface="Aptos"/>
              </a:rPr>
              <a:t>22. Answers to Proposal Questions</a:t>
            </a:r>
          </a:p>
        </p:txBody>
      </p:sp>
      <p:sp>
        <p:nvSpPr>
          <p:cNvPr id="2" name="">
            <a:extLst xmlns:a="http://schemas.openxmlformats.org/drawingml/2006/main">
              <a:ext uri="{FF2B5EF4-FFF2-40B4-BE49-F238E27FC236}">
                <a16:creationId xmlns:a16="http://schemas.microsoft.com/office/drawing/2014/main" id="{6A56F13E-BCAB-483E-AAE4-B9E85DE1324D}"/>
              </a:ext>
            </a:extLst>
          </p:cNvPr>
          <p:cNvSpPr>
            <a:spLocks xmlns:a="http://schemas.openxmlformats.org/drawingml/2006/main" noGrp="1"/>
          </p:cNvSpPr>
          <p:nvPr/>
        </p:nvSpPr>
        <p:spPr>
          <a:xfrm xmlns:a="http://schemas.openxmlformats.org/drawingml/2006/main">
            <a:off x="609600" y="7620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42C43"/>
                </a:solidFill>
                <a:latin typeface="Aptos"/>
                <a:ea typeface="Aptos"/>
                <a:cs typeface="Aptos"/>
              </a:defRPr>
            </a:pPr>
            <a:r>
              <a:rPr sz="3450" b="1">
                <a:solidFill>
                  <a:srgbClr val="142C43"/>
                </a:solidFill>
                <a:latin typeface="Aptos"/>
                <a:ea typeface="Aptos"/>
                <a:cs typeface="Aptos"/>
              </a:rPr>
              <a:t>Q12: Risks</a:t>
            </a:r>
          </a:p>
        </p:txBody>
      </p:sp>
      <p:sp>
        <p:nvSpPr>
          <p:cNvPr id="3" name="">
            <a:extLst xmlns:a="http://schemas.openxmlformats.org/drawingml/2006/main">
              <a:ext uri="{FF2B5EF4-FFF2-40B4-BE49-F238E27FC236}">
                <a16:creationId xmlns:a16="http://schemas.microsoft.com/office/drawing/2014/main" id="{83DDF6F2-D75B-4527-B6AD-D925B264A45D}"/>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87080"/>
                </a:solidFill>
                <a:latin typeface="Aptos"/>
                <a:ea typeface="Aptos"/>
                <a:cs typeface="Aptos"/>
              </a:defRPr>
            </a:pPr>
            <a:r>
              <a:rPr sz="1125" b="0">
                <a:solidFill>
                  <a:srgbClr val="587080"/>
                </a:solidFill>
                <a:latin typeface="Aptos"/>
                <a:ea typeface="Aptos"/>
                <a:cs typeface="Aptos"/>
              </a:rPr>
              <a:t>128</a:t>
            </a:r>
          </a:p>
        </p:txBody>
      </p:sp>
      <p:sp>
        <p:nvSpPr>
          <p:cNvPr id="4" name="">
            <a:extLst xmlns:a="http://schemas.openxmlformats.org/drawingml/2006/main">
              <a:ext uri="{FF2B5EF4-FFF2-40B4-BE49-F238E27FC236}">
                <a16:creationId xmlns:a16="http://schemas.microsoft.com/office/drawing/2014/main" id="{ABC20D0F-4C9B-4694-AC31-2B352823A351}"/>
              </a:ext>
            </a:extLst>
          </p:cNvPr>
          <p:cNvSpPr>
            <a:spLocks xmlns:a="http://schemas.openxmlformats.org/drawingml/2006/main" noGrp="1"/>
          </p:cNvSpPr>
          <p:nvPr/>
        </p:nvSpPr>
        <p:spPr>
          <a:xfrm xmlns:a="http://schemas.openxmlformats.org/drawingml/2006/main">
            <a:off x="609600" y="1952625"/>
            <a:ext cx="10810875"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263D50"/>
                </a:solidFill>
                <a:latin typeface="Aptos"/>
                <a:ea typeface="Aptos"/>
                <a:cs typeface="Aptos"/>
              </a:defRPr>
            </a:pPr>
            <a:r>
              <a:rPr sz="1800" b="0">
                <a:solidFill>
                  <a:srgbClr val="263D50"/>
                </a:solidFill>
                <a:latin typeface="Aptos"/>
                <a:ea typeface="Aptos"/>
                <a:cs typeface="Aptos"/>
              </a:rPr>
              <a:t>[!IMPORTANT] This implementation plan is based on the requirements as stated in the client’s RFP. Assumptions are clearly marked in Section 21. We recommend a 2-hour kickoff workshop to align on clarification points before development begins.</a:t>
            </a:r>
          </a:p>
        </p:txBody>
      </p:sp>
    </p:spTree>
    <p:extLst>
      <p:ext uri="{BB962C8B-B14F-4D97-AF65-F5344CB8AC3E}">
        <p14:creationId xmlns:p14="http://schemas.microsoft.com/office/powerpoint/2010/main" val="2132819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2026-09-26T11:04:30.0000000Z</dcterms:created>
  <dcterms:modified xsi:type="dcterms:W3CDTF">2026-09-26T11:04:30.0000000Z</dcterms:modified>
</coreProperties>
</file>